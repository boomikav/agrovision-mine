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48784BA-7B9E-06E5-4CCF-344A2382D4BF}">
          <p14:sldIdLst>
            <p14:sldId id="256"/>
          </p14:sldIdLst>
        </p14:section>
        <p14:section name="Dataset" id="{D79C840E-7269-8AC5-760E-9549C956F552}">
          <p14:sldIdLst>
            <p14:sldId id="257"/>
            <p14:sldId id="258"/>
          </p14:sldIdLst>
        </p14:section>
        <p14:section name="Warehouse" id="{75777074-7AA5-E516-5AE2-16BB8DF60707}">
          <p14:sldIdLst>
            <p14:sldId id="259"/>
            <p14:sldId id="260"/>
          </p14:sldIdLst>
        </p14:section>
        <p14:section name="OLAP" id="{667E24A1-C8BB-2EE4-BD18-DA14152A87F5}">
          <p14:sldIdLst>
            <p14:sldId id="261"/>
          </p14:sldIdLst>
        </p14:section>
        <p14:section name="Code" id="{01E6FDEA-CB28-48CA-68DF-EDB7E400CD34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45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37160" cy="146304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" cy="6858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CSI3010 · Data Mining &amp; Warehousing · Lab Project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37160" cy="155448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97280" y="1737360"/>
            <a:ext cx="9875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97280" y="2880360"/>
            <a:ext cx="9875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2103120"/>
          </a:xfrm>
          <a:prstGeom prst="rect">
            <a:avLst/>
          </a:prstGeom>
          <a:solidFill>
            <a:srgbClr val="74C69D"/>
          </a:solidFill>
          <a:ln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24128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4C69D"/>
                </a:solidFill>
                <a:latin typeface="Calibri"/>
              </a:defRPr>
            </a:pPr>
            <a:endParaRPr dirty="0">
              <a:latin typeface="Bookman Old Style" panose="02050604050505020204" pitchFamily="18" charset="0"/>
            </a:endParaRPr>
          </a:p>
          <a:p>
            <a:pPr algn="ctr">
              <a:lnSpc>
                <a:spcPct val="150000"/>
              </a:lnSpc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dirty="0" err="1">
                <a:latin typeface="Bookman Old Style" panose="02050604050505020204" pitchFamily="18" charset="0"/>
              </a:rPr>
              <a:t>AgroVision</a:t>
            </a:r>
            <a:r>
              <a:rPr dirty="0">
                <a:latin typeface="Bookman Old Style" panose="02050604050505020204" pitchFamily="18" charset="0"/>
              </a:rPr>
              <a:t>-Mine</a:t>
            </a:r>
          </a:p>
          <a:p>
            <a:pPr>
              <a:defRPr sz="1600">
                <a:solidFill>
                  <a:srgbClr val="C8DCD2"/>
                </a:solidFill>
                <a:latin typeface="Georgia"/>
              </a:defRPr>
            </a:pPr>
            <a:r>
              <a:rPr dirty="0">
                <a:latin typeface="Bookman Old Style" panose="02050604050505020204" pitchFamily="18" charset="0"/>
              </a:rPr>
              <a:t>A Multimodal Data Warehouse and Visual Pattern Mining Framework</a:t>
            </a:r>
            <a:br>
              <a:rPr dirty="0">
                <a:latin typeface="Bookman Old Style" panose="02050604050505020204" pitchFamily="18" charset="0"/>
              </a:rPr>
            </a:br>
            <a:r>
              <a:rPr dirty="0">
                <a:latin typeface="Bookman Old Style" panose="02050604050505020204" pitchFamily="18" charset="0"/>
              </a:rPr>
              <a:t>for Crop Disease and Pest Intelligence</a:t>
            </a:r>
            <a:endParaRPr lang="en-US" dirty="0">
              <a:latin typeface="Bookman Old Style" panose="02050604050505020204" pitchFamily="18" charset="0"/>
            </a:endParaRPr>
          </a:p>
          <a:p>
            <a:pPr>
              <a:defRPr sz="1600">
                <a:solidFill>
                  <a:srgbClr val="C8DCD2"/>
                </a:solidFill>
                <a:latin typeface="Georgia"/>
              </a:defRPr>
            </a:pPr>
            <a:endParaRPr lang="en-IN" dirty="0">
              <a:latin typeface="Bookman Old Style" panose="02050604050505020204" pitchFamily="18" charset="0"/>
            </a:endParaRPr>
          </a:p>
          <a:p>
            <a:pPr>
              <a:defRPr sz="1600">
                <a:solidFill>
                  <a:srgbClr val="C8DCD2"/>
                </a:solidFill>
                <a:latin typeface="Georgia"/>
              </a:defRPr>
            </a:pPr>
            <a:endParaRPr lang="en-IN" dirty="0">
              <a:latin typeface="Bookman Old Style" panose="02050604050505020204" pitchFamily="18" charset="0"/>
            </a:endParaRPr>
          </a:p>
          <a:p>
            <a:pPr>
              <a:defRPr sz="1600">
                <a:solidFill>
                  <a:srgbClr val="C8DCD2"/>
                </a:solidFill>
                <a:latin typeface="Georgia"/>
              </a:defRPr>
            </a:pPr>
            <a:r>
              <a:rPr lang="en-US" dirty="0">
                <a:latin typeface="Bookman Old Style" panose="02050604050505020204" pitchFamily="18" charset="0"/>
              </a:rPr>
              <a:t>DATA WAREHOUSING &amp; DATA MINING (CSI3010) - LAB PROJECT REVIEW 1</a:t>
            </a:r>
          </a:p>
          <a:p>
            <a:pPr>
              <a:defRPr sz="1600">
                <a:solidFill>
                  <a:srgbClr val="C8DCD2"/>
                </a:solidFill>
                <a:latin typeface="Georgia"/>
              </a:defRPr>
            </a:pPr>
            <a:endParaRPr dirty="0">
              <a:latin typeface="Bookman Old Style" panose="0205060405050502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159957"/>
            <a:ext cx="1005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4C69D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PROJECT TEAM DETAILS</a:t>
            </a:r>
            <a:endParaRPr lang="en-US" sz="1400" dirty="0">
              <a:latin typeface="Bookman Old Style" panose="02050604050505020204" pitchFamily="18" charset="0"/>
            </a:endParaRPr>
          </a:p>
          <a:p>
            <a:pPr>
              <a:defRPr sz="950" b="1">
                <a:solidFill>
                  <a:srgbClr val="74C69D"/>
                </a:solidFill>
                <a:latin typeface="Calibri"/>
              </a:defRPr>
            </a:pPr>
            <a:endParaRPr sz="1400" dirty="0">
              <a:latin typeface="Bookman Old Style" panose="02050604050505020204" pitchFamily="18" charset="0"/>
            </a:endParaRPr>
          </a:p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Team Members: [</a:t>
            </a:r>
            <a:r>
              <a:rPr lang="en-US" sz="1400" dirty="0">
                <a:latin typeface="Bookman Old Style" panose="02050604050505020204" pitchFamily="18" charset="0"/>
              </a:rPr>
              <a:t>Boomika V </a:t>
            </a:r>
            <a:r>
              <a:rPr lang="en-IN" sz="1400" dirty="0">
                <a:latin typeface="Bookman Old Style" panose="02050604050505020204" pitchFamily="18" charset="0"/>
              </a:rPr>
              <a:t>–</a:t>
            </a:r>
            <a:r>
              <a:rPr sz="1400" dirty="0">
                <a:latin typeface="Bookman Old Style" panose="02050604050505020204" pitchFamily="18" charset="0"/>
              </a:rPr>
              <a:t> </a:t>
            </a:r>
            <a:r>
              <a:rPr lang="en-US" sz="1400" dirty="0">
                <a:latin typeface="Bookman Old Style" panose="02050604050505020204" pitchFamily="18" charset="0"/>
              </a:rPr>
              <a:t>23MID0326</a:t>
            </a:r>
            <a:r>
              <a:rPr sz="1400" dirty="0">
                <a:latin typeface="Bookman Old Style" panose="02050604050505020204" pitchFamily="18" charset="0"/>
              </a:rPr>
              <a:t>]  |  [</a:t>
            </a:r>
            <a:r>
              <a:rPr lang="en-US" sz="1400" dirty="0">
                <a:latin typeface="Bookman Old Style" panose="02050604050505020204" pitchFamily="18" charset="0"/>
              </a:rPr>
              <a:t>Ajay M</a:t>
            </a:r>
            <a:r>
              <a:rPr sz="1400" dirty="0">
                <a:latin typeface="Bookman Old Style" panose="02050604050505020204" pitchFamily="18" charset="0"/>
              </a:rPr>
              <a:t>- </a:t>
            </a:r>
            <a:r>
              <a:rPr lang="en-US" sz="1400" dirty="0">
                <a:latin typeface="Bookman Old Style" panose="02050604050505020204" pitchFamily="18" charset="0"/>
              </a:rPr>
              <a:t>23MID0020</a:t>
            </a:r>
            <a:r>
              <a:rPr sz="1400" dirty="0">
                <a:latin typeface="Bookman Old Style" panose="02050604050505020204" pitchFamily="18" charset="0"/>
              </a:rPr>
              <a:t>]</a:t>
            </a:r>
          </a:p>
          <a:p>
            <a:pPr>
              <a:defRPr sz="950">
                <a:solidFill>
                  <a:srgbClr val="AAAAAA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Faculty Guide: [</a:t>
            </a:r>
            <a:r>
              <a:rPr lang="en-US" sz="1400" dirty="0">
                <a:latin typeface="Bookman Old Style" panose="02050604050505020204" pitchFamily="18" charset="0"/>
              </a:rPr>
              <a:t>Dr. Devipriya A</a:t>
            </a:r>
            <a:r>
              <a:rPr sz="1400" dirty="0">
                <a:latin typeface="Bookman Old Style" panose="02050604050505020204" pitchFamily="18" charset="0"/>
              </a:rPr>
              <a:t>]   |   Lab Slot: [</a:t>
            </a:r>
            <a:r>
              <a:rPr lang="en-IN" sz="1400" dirty="0">
                <a:solidFill>
                  <a:srgbClr val="AAAAAA"/>
                </a:solidFill>
                <a:latin typeface="Bookman Old Style" panose="02050604050505020204" pitchFamily="18" charset="0"/>
              </a:rPr>
              <a:t>L41+L42</a:t>
            </a:r>
            <a:r>
              <a:rPr sz="1400" dirty="0">
                <a:latin typeface="Bookman Old Style" panose="02050604050505020204" pitchFamily="18" charset="0"/>
              </a:rPr>
              <a:t>]   |   Academic Term: 2026</a:t>
            </a:r>
            <a:r>
              <a:rPr lang="en-US" sz="1400" dirty="0">
                <a:latin typeface="Bookman Old Style" panose="02050604050505020204" pitchFamily="18" charset="0"/>
              </a:rPr>
              <a:t>-27</a:t>
            </a:r>
            <a:endParaRPr sz="14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>
          <a:xfrm>
            <a:off x="548640" y="594360"/>
            <a:ext cx="10789920" cy="777240"/>
          </a:xfrm>
        </p:spPr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 dirty="0">
                <a:latin typeface="Bookman Old Style" panose="02050604050505020204" pitchFamily="18" charset="0"/>
              </a:rPr>
              <a:t>Research Motivation: The Agricultural Data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3840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31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b="1">
                <a:solidFill>
                  <a:srgbClr val="B42828"/>
                </a:solidFill>
                <a:latin typeface="Calibri"/>
              </a:defRPr>
            </a:pPr>
            <a:r>
              <a:rPr sz="1600" dirty="0">
                <a:latin typeface="Bookman Old Style" panose="02050604050505020204" pitchFamily="18" charset="0"/>
              </a:rPr>
              <a:t>LIMITATIONS OF CURRENT APPROACHES</a:t>
            </a:r>
          </a:p>
          <a:p>
            <a:pPr algn="just">
              <a:lnSpc>
                <a:spcPct val="150000"/>
              </a:lnSpc>
              <a:defRPr sz="85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• Isolated Point Classifiers: Standard deep learning (CNNs/YOLO) treats foliar disease identification as an isolated inference task without data warehousing.</a:t>
            </a:r>
          </a:p>
          <a:p>
            <a:pPr algn="just">
              <a:lnSpc>
                <a:spcPct val="150000"/>
              </a:lnSpc>
              <a:defRPr sz="85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• Absence of Relational Rigor: Images reside in flat, disconnected directories. No referential integrity linking images to botanical taxonomy, cryptographic digests, or extracted features.</a:t>
            </a:r>
          </a:p>
          <a:p>
            <a:pPr algn="just">
              <a:lnSpc>
                <a:spcPct val="150000"/>
              </a:lnSpc>
              <a:defRPr sz="85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• Inability to Perform OLAP Exploration: Researchers cannot run aggregate queries across agronomic hierarchies (e.g. comparing lesion texture of bacterial vs fungal pathogens).</a:t>
            </a:r>
          </a:p>
          <a:p>
            <a:pPr algn="just">
              <a:lnSpc>
                <a:spcPct val="150000"/>
              </a:lnSpc>
              <a:defRPr sz="85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• Lack of Explainable Lineage: Black-box neural embeddings cannot explain why an image exhibits specific texture or foliar discoloration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39776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3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b="1">
                <a:solidFill>
                  <a:srgbClr val="2D6A4F"/>
                </a:solidFill>
                <a:latin typeface="Calibri"/>
              </a:defRPr>
            </a:pPr>
            <a:r>
              <a:rPr sz="1600" dirty="0">
                <a:latin typeface="Bookman Old Style" panose="02050604050505020204" pitchFamily="18" charset="0"/>
              </a:rPr>
              <a:t>THE AGROVISION-MINE SOLUTION</a:t>
            </a:r>
          </a:p>
          <a:p>
            <a:pPr algn="just">
              <a:lnSpc>
                <a:spcPct val="150000"/>
              </a:lnSpc>
              <a:defRPr sz="85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✓ Multimodal Data Warehouse: First-of-its-kind architecture applying Ralph Kimball's Star Schema methodology to agricultural imagery and classical visual features.</a:t>
            </a:r>
          </a:p>
          <a:p>
            <a:pPr algn="just">
              <a:lnSpc>
                <a:spcPct val="150000"/>
              </a:lnSpc>
              <a:defRPr sz="85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✓ Explainable Feature Store: 34 classical descriptors (RGB/HSV color moments, </a:t>
            </a:r>
            <a:r>
              <a:rPr sz="1200" dirty="0" err="1">
                <a:latin typeface="Bookman Old Style" panose="02050604050505020204" pitchFamily="18" charset="0"/>
              </a:rPr>
              <a:t>Haralick</a:t>
            </a:r>
            <a:r>
              <a:rPr sz="1200" dirty="0">
                <a:latin typeface="Bookman Old Style" panose="02050604050505020204" pitchFamily="18" charset="0"/>
              </a:rPr>
              <a:t> GLCM textures, morphometric shape contours) in a 44-column analytical dataset.</a:t>
            </a:r>
          </a:p>
          <a:p>
            <a:pPr algn="just">
              <a:lnSpc>
                <a:spcPct val="150000"/>
              </a:lnSpc>
              <a:defRPr sz="85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✓ SQL-Backed OLAP Analytics: Executes real SQL queries across dimensions: Roll-up to crop categories, True Drill-down to diseases, Slicing by crops, Dicing, and Pivoting.</a:t>
            </a:r>
          </a:p>
          <a:p>
            <a:pPr algn="just">
              <a:lnSpc>
                <a:spcPct val="150000"/>
              </a:lnSpc>
              <a:defRPr sz="85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✓ Enterprise Data Integrity: Surrogate keys, native SQLite foreign key enforcement (PRAGMA </a:t>
            </a:r>
            <a:r>
              <a:rPr sz="1200" dirty="0" err="1">
                <a:latin typeface="Bookman Old Style" panose="02050604050505020204" pitchFamily="18" charset="0"/>
              </a:rPr>
              <a:t>foreign_keys</a:t>
            </a:r>
            <a:r>
              <a:rPr sz="1200" dirty="0">
                <a:latin typeface="Bookman Old Style" panose="02050604050505020204" pitchFamily="18" charset="0"/>
              </a:rPr>
              <a:t> = 1), and idempotent ETL guarantee 100% database consistency.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64240" cy="50292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5459" y="5532121"/>
            <a:ext cx="1096742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50" b="1">
                <a:solidFill>
                  <a:srgbClr val="1B4332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Core Research Question: How can image-based crop disease observations be transformed into a multimodal analytical warehouse for explainable multidimensional decision support?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 dirty="0">
                <a:latin typeface="Bookman Old Style" panose="02050604050505020204" pitchFamily="18" charset="0"/>
              </a:rPr>
              <a:t>Project Objectives &amp; Multimodal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1143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549792"/>
            <a:ext cx="330098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50" b="1">
                <a:solidFill>
                  <a:srgbClr val="1B4332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1. Ingestion &amp; Anti-Fabrication</a:t>
            </a:r>
          </a:p>
          <a:p>
            <a:pPr algn="just">
              <a:defRPr sz="80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Ingest authentic ICAR Indian agricultural imagery; derive botanical metadata dynamically without synthetic fabrication.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463040"/>
            <a:ext cx="3520440" cy="1143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25696" y="1554480"/>
            <a:ext cx="330098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50" b="1">
                <a:solidFill>
                  <a:srgbClr val="1B4332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2. Quality Gate Auditing</a:t>
            </a:r>
          </a:p>
          <a:p>
            <a:pPr algn="just">
              <a:defRPr sz="80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Enforce automated validation: detect corrupted headers, exact MD5 duplicates, and sub-threshold images without silent deletion.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463040"/>
            <a:ext cx="3520440" cy="1143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93024" y="1554480"/>
            <a:ext cx="330098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50" b="1">
                <a:solidFill>
                  <a:srgbClr val="1B4332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3. Classical Feature Store</a:t>
            </a:r>
          </a:p>
          <a:p>
            <a:pPr algn="just">
              <a:defRPr sz="80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Extract 34 explainable visual descriptors (Color moments, </a:t>
            </a:r>
            <a:r>
              <a:rPr sz="1200" dirty="0" err="1">
                <a:latin typeface="Bookman Old Style" panose="02050604050505020204" pitchFamily="18" charset="0"/>
              </a:rPr>
              <a:t>Haralick</a:t>
            </a:r>
            <a:r>
              <a:rPr sz="1200" dirty="0">
                <a:latin typeface="Bookman Old Style" panose="02050604050505020204" pitchFamily="18" charset="0"/>
              </a:rPr>
              <a:t> GLCM, morphometric contours) with full </a:t>
            </a:r>
            <a:r>
              <a:rPr sz="1200" dirty="0" err="1">
                <a:latin typeface="Bookman Old Style" panose="02050604050505020204" pitchFamily="18" charset="0"/>
              </a:rPr>
              <a:t>Image_ID</a:t>
            </a:r>
            <a:r>
              <a:rPr sz="1200" dirty="0">
                <a:latin typeface="Bookman Old Style" panose="02050604050505020204" pitchFamily="18" charset="0"/>
              </a:rPr>
              <a:t> lineage.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70632"/>
            <a:ext cx="3520440" cy="1143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2862072"/>
            <a:ext cx="330098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50" b="1">
                <a:solidFill>
                  <a:srgbClr val="1B4332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4. Kimball Star Schema</a:t>
            </a:r>
          </a:p>
          <a:p>
            <a:pPr algn="just">
              <a:defRPr sz="80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Deploy ANSI SQL relational schema centered on individual image observations surrounded by 4 empirically-supported dimensions.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770632"/>
            <a:ext cx="3520440" cy="1143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25696" y="2862072"/>
            <a:ext cx="330098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50" b="1">
                <a:solidFill>
                  <a:srgbClr val="1B4332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5. Production Idempotent ETL</a:t>
            </a:r>
          </a:p>
          <a:p>
            <a:pPr algn="just">
              <a:defRPr sz="80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Build dimension-first ETL pipeline enforcing native SQLite foreign keys (PRAGMA </a:t>
            </a:r>
            <a:r>
              <a:rPr sz="1200" dirty="0" err="1">
                <a:latin typeface="Bookman Old Style" panose="02050604050505020204" pitchFamily="18" charset="0"/>
              </a:rPr>
              <a:t>foreign_keys</a:t>
            </a:r>
            <a:r>
              <a:rPr sz="1200" dirty="0">
                <a:latin typeface="Bookman Old Style" panose="02050604050505020204" pitchFamily="18" charset="0"/>
              </a:rPr>
              <a:t> = 1) with 0 duplicate fact re-runs.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770632"/>
            <a:ext cx="3520440" cy="1143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3024" y="2862072"/>
            <a:ext cx="330098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50" b="1">
                <a:solidFill>
                  <a:srgbClr val="1B4332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6. Real SQL-Backed OLAP</a:t>
            </a:r>
          </a:p>
          <a:p>
            <a:pPr algn="just">
              <a:defRPr sz="800">
                <a:solidFill>
                  <a:srgbClr val="212121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Implement and evaluate genuine SQL analytical queries: Roll-up, True Drill-down, Slice, Dice, and Pivot over physical facts.</a:t>
            </a:r>
          </a:p>
        </p:txBody>
      </p:sp>
      <p:pic>
        <p:nvPicPr>
          <p:cNvPr id="15" name="Picture 14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0"/>
            <a:ext cx="1106424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>
          <a:xfrm>
            <a:off x="548640" y="617220"/>
            <a:ext cx="10789920" cy="777240"/>
          </a:xfrm>
        </p:spPr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 dirty="0">
                <a:latin typeface="Bookman Old Style" panose="02050604050505020204" pitchFamily="18" charset="0"/>
              </a:rPr>
              <a:t>Dataset Description &amp; Agronomic Taxonomy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503938"/>
              </p:ext>
            </p:extLst>
          </p:nvPr>
        </p:nvGraphicFramePr>
        <p:xfrm>
          <a:off x="548640" y="1463040"/>
          <a:ext cx="5943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 dirty="0">
                          <a:latin typeface="Bookman Old Style" panose="02050604050505020204" pitchFamily="18" charset="0"/>
                        </a:rPr>
                        <a:t>Dataset 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Verified Project Specification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Dataset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Official Govt. of India / ICAR Working Pathology Subset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 dirty="0">
                          <a:latin typeface="Bookman Old Style" panose="02050604050505020204" pitchFamily="18" charset="0"/>
                        </a:rPr>
                        <a:t>Primary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data.gov.in / ICAR Research Institutes (ICAR-CRIDA, ICAR-IIRR)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Verified Working Subset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36 authentic field photographs across 3 foliar rice pathologies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Pathology Breakdown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 dirty="0">
                          <a:latin typeface="Bookman Old Style" panose="02050604050505020204" pitchFamily="18" charset="0"/>
                        </a:rPr>
                        <a:t>Bacterial Leaf Blight: 12  |  Brown Spot: 12  |  Leaf Smut: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Host Plant Taxonomy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Rice (Oryza sativa)  |  Category: Cereal (National Staple Food)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Format &amp; Standardization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Standardized 256x256x3 RGB (Lanczos anti-aliased interpolation)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>
                          <a:latin typeface="Bookman Old Style" panose="02050604050505020204" pitchFamily="18" charset="0"/>
                        </a:rPr>
                        <a:t>Storage &amp;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200" dirty="0">
                          <a:latin typeface="Bookman Old Style" panose="02050604050505020204" pitchFamily="18" charset="0"/>
                        </a:rPr>
                        <a:t>Unique </a:t>
                      </a:r>
                      <a:r>
                        <a:rPr sz="1200" dirty="0" err="1">
                          <a:latin typeface="Bookman Old Style" panose="02050604050505020204" pitchFamily="18" charset="0"/>
                        </a:rPr>
                        <a:t>Image_ID</a:t>
                      </a:r>
                      <a:r>
                        <a:rPr sz="1200" dirty="0">
                          <a:latin typeface="Bookman Old Style" panose="02050604050505020204" pitchFamily="18" charset="0"/>
                        </a:rPr>
                        <a:t>, MD5 cryptographic hash, Laplacian blur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766560" y="1463040"/>
            <a:ext cx="4846320" cy="4389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0" y="1645920"/>
            <a:ext cx="4480560" cy="4087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 b="1">
                <a:solidFill>
                  <a:srgbClr val="2D6A4F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AGRONOMIC SIGNIFICANCE &amp; DATA GOVERNANCE</a:t>
            </a:r>
            <a:endParaRPr lang="en-US" sz="1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Aft>
                <a:spcPts val="12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• Critical Staple Crop: Rice feeds &gt;60% of India's population. Microbial infections (Xanthomonas oryzae, </a:t>
            </a:r>
            <a:r>
              <a:rPr sz="1100" dirty="0" err="1">
                <a:latin typeface="Bookman Old Style" panose="02050604050505020204" pitchFamily="18" charset="0"/>
              </a:rPr>
              <a:t>Bipolaris</a:t>
            </a:r>
            <a:r>
              <a:rPr sz="1100" dirty="0">
                <a:latin typeface="Bookman Old Style" panose="02050604050505020204" pitchFamily="18" charset="0"/>
              </a:rPr>
              <a:t> oryzae) cause devastating seasonal yield losses of up to 40%.</a:t>
            </a:r>
          </a:p>
          <a:p>
            <a:pPr algn="just">
              <a:lnSpc>
                <a:spcPct val="150000"/>
              </a:lnSpc>
              <a:spcAft>
                <a:spcPts val="12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• Authentic Working Subset: The 36 authentic observations represent the verified project subset from official Indian repositories, ensuring full reproducible auditability.</a:t>
            </a:r>
          </a:p>
          <a:p>
            <a:pPr algn="just">
              <a:lnSpc>
                <a:spcPct val="150000"/>
              </a:lnSpc>
              <a:spcAft>
                <a:spcPts val="12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• Control Baseline Policy (HEALTHY): HEALTHY is maintained in </a:t>
            </a:r>
            <a:r>
              <a:rPr sz="1100" dirty="0" err="1">
                <a:latin typeface="Bookman Old Style" panose="02050604050505020204" pitchFamily="18" charset="0"/>
              </a:rPr>
              <a:t>dim_disease</a:t>
            </a:r>
            <a:r>
              <a:rPr sz="1100" dirty="0">
                <a:latin typeface="Bookman Old Style" panose="02050604050505020204" pitchFamily="18" charset="0"/>
              </a:rPr>
              <a:t> as an unpopulated control reference value (0 facts). The working subset contains pathological foliar specimens exclusively; no synthetic healthy observations were fabricated.</a:t>
            </a:r>
          </a:p>
          <a:p>
            <a:pPr algn="just">
              <a:lnSpc>
                <a:spcPct val="150000"/>
              </a:lnSpc>
              <a:spcAft>
                <a:spcPts val="120"/>
              </a:spcAft>
              <a:defRPr sz="85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• Anti-Fabrication Mandate: Unsupported dimensions (Pest, Time, Geography) were strictly excluded because source images lack verified empirical field tags.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>
          <a:xfrm>
            <a:off x="822960" y="553492"/>
            <a:ext cx="10789920" cy="777240"/>
          </a:xfrm>
        </p:spPr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 dirty="0">
                <a:latin typeface="Bookman Old Style" panose="02050604050505020204" pitchFamily="18" charset="0"/>
              </a:rPr>
              <a:t>Image Preprocessing &amp; Quality Gate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39"/>
            <a:ext cx="5394960" cy="2169319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1873" y="1519408"/>
            <a:ext cx="5029200" cy="211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50" b="1">
                <a:solidFill>
                  <a:srgbClr val="B42828"/>
                </a:solidFill>
                <a:latin typeface="Calibri"/>
              </a:defRPr>
            </a:pPr>
            <a:r>
              <a:rPr sz="1300" dirty="0">
                <a:latin typeface="Bookman Old Style" panose="02050604050505020204" pitchFamily="18" charset="0"/>
              </a:rPr>
              <a:t>CONTROLLED DIAGNOSTIC EDGE HARNESS (data/</a:t>
            </a:r>
            <a:r>
              <a:rPr sz="1300" dirty="0" err="1">
                <a:latin typeface="Bookman Old Style" panose="02050604050505020204" pitchFamily="18" charset="0"/>
              </a:rPr>
              <a:t>diagnostic_tests</a:t>
            </a:r>
            <a:r>
              <a:rPr sz="1300" dirty="0">
                <a:latin typeface="Bookman Old Style" panose="02050604050505020204" pitchFamily="18" charset="0"/>
              </a:rPr>
              <a:t>/)</a:t>
            </a:r>
          </a:p>
          <a:p>
            <a:pPr algn="just"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corrupted_header_test.jpg -&gt; Truncated byte stream -&gt; REJECTED (CORRUPTED)</a:t>
            </a:r>
          </a:p>
          <a:p>
            <a:pPr algn="just"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invalid_dim_tiny.jpg -&gt; Dimensions 16x16px &lt; 32px -&gt; REJECTED (INVALID_DIM)</a:t>
            </a:r>
          </a:p>
          <a:p>
            <a:pPr algn="just"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duplicate_exact_test.jpg -&gt; Exact MD5 match -&gt; REJECTED (EXACT_HASH)</a:t>
            </a:r>
          </a:p>
          <a:p>
            <a:pPr algn="just"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unsupported_extension.txt -&gt; Non-image MIME -&gt; REJECTED (UNSUPPORTED_FORMAT)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19202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5029200" cy="1650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50" b="1">
                <a:solidFill>
                  <a:srgbClr val="2D6A4F"/>
                </a:solidFill>
                <a:latin typeface="Calibri"/>
              </a:defRPr>
            </a:pPr>
            <a:r>
              <a:rPr sz="1300" dirty="0">
                <a:latin typeface="Bookman Old Style" panose="02050604050505020204" pitchFamily="18" charset="0"/>
              </a:rPr>
              <a:t>AUTHENTIC RESEARCH DATASET STANDARDIZATION</a:t>
            </a:r>
          </a:p>
          <a:p>
            <a:pPr algn="just"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✓ 36 Authentic Field Images Discovered: 36 Successfully Standardized</a:t>
            </a:r>
          </a:p>
          <a:p>
            <a:pPr algn="just"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✓ Quality Pass Rate: 100% (Zero authentic research observations rejected)</a:t>
            </a:r>
          </a:p>
          <a:p>
            <a:pPr algn="just"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✓ Standardization: 256 x 256 </a:t>
            </a:r>
            <a:r>
              <a:rPr sz="1000" dirty="0" err="1">
                <a:latin typeface="Bookman Old Style" panose="02050604050505020204" pitchFamily="18" charset="0"/>
              </a:rPr>
              <a:t>px</a:t>
            </a:r>
            <a:r>
              <a:rPr sz="1000" dirty="0">
                <a:latin typeface="Bookman Old Style" panose="02050604050505020204" pitchFamily="18" charset="0"/>
              </a:rPr>
              <a:t> RGB, Lanczos anti-aliased resampling</a:t>
            </a:r>
          </a:p>
          <a:p>
            <a:pPr algn="just"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✓ Non-Destructive Storage: Raw originals preserved; cleaned copies in data/processed/</a:t>
            </a:r>
          </a:p>
          <a:p>
            <a:pPr algn="just"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✓ Laplacian Variance Blur Scoring: Mean score = 185.34 (Threshold = 100.0)</a:t>
            </a:r>
          </a:p>
        </p:txBody>
      </p:sp>
      <p:pic>
        <p:nvPicPr>
          <p:cNvPr id="7" name="Picture 6" descr="preprocess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60607"/>
            <a:ext cx="110642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>
          <a:xfrm>
            <a:off x="2158702" y="571866"/>
            <a:ext cx="10789920" cy="777240"/>
          </a:xfrm>
        </p:spPr>
        <p:txBody>
          <a:bodyPr/>
          <a:lstStyle/>
          <a:p>
            <a:pPr algn="just">
              <a:defRPr sz="2400" b="1">
                <a:solidFill>
                  <a:srgbClr val="1B4332"/>
                </a:solidFill>
                <a:latin typeface="Georgia"/>
              </a:defRPr>
            </a:pPr>
            <a:r>
              <a:rPr dirty="0">
                <a:latin typeface="Bookman Old Style" panose="02050604050505020204" pitchFamily="18" charset="0"/>
              </a:rPr>
              <a:t>Visual Feature Extraction &amp; Attribute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246642"/>
              </p:ext>
            </p:extLst>
          </p:nvPr>
        </p:nvGraphicFramePr>
        <p:xfrm>
          <a:off x="548640" y="1463040"/>
          <a:ext cx="7315200" cy="383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559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Attribute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Physical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 dirty="0">
                          <a:latin typeface="Bookman Old Style" panose="02050604050505020204" pitchFamily="18" charset="0"/>
                        </a:rPr>
                        <a:t>Agronomic / Visual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Role in DW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observation_key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Surrogate primary key for fact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Fact PK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crop_key, disease_key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Surrogate foreign keys to botanical &amp; pathology dims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Fact FKs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rgb_r/g/b_mean,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FLOAT [0-255]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First and second order color moments across RGB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Feature Dim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hsv_h/s/v_mean,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Hue, Saturation, Value moments for illumination invariance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Feature Dim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exg_index_mean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Excess Green Vegetative Index: 2G - R - B (chlorophyll intensity)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Feature Dim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dominant_color_tone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Macroscopic foliar tone (Brown_Blight, Yellowish_Lesion)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Feature Dim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glcm_contrast, homogeneity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Haralick GLCM texture disruption &amp; local smoothness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Feature Dim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67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lesion_severity_score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FLOAT [0-10]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Continuous composite foliar lesion severity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 dirty="0">
                          <a:latin typeface="Bookman Old Style" panose="02050604050505020204" pitchFamily="18" charset="0"/>
                        </a:rPr>
                        <a:t>Fact Measure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138160" y="1463040"/>
            <a:ext cx="3474720" cy="3749039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320" y="1600200"/>
            <a:ext cx="3200400" cy="349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50" b="1">
                <a:solidFill>
                  <a:srgbClr val="2D6A4F"/>
                </a:solidFill>
                <a:latin typeface="Calibri"/>
              </a:defRPr>
            </a:pPr>
            <a:r>
              <a:rPr sz="1300" dirty="0">
                <a:latin typeface="Bookman Old Style" panose="02050604050505020204" pitchFamily="18" charset="0"/>
              </a:rPr>
              <a:t>44-COLUMN FEATURE DATASET</a:t>
            </a:r>
          </a:p>
          <a:p>
            <a:pPr algn="just">
              <a:lnSpc>
                <a:spcPct val="150000"/>
              </a:lnSpc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34 Explainable Visual Descriptors</a:t>
            </a:r>
          </a:p>
          <a:p>
            <a:pPr algn="just"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17 Color Descriptors (RGB/HSV moments &amp; </a:t>
            </a:r>
            <a:r>
              <a:rPr sz="1000" dirty="0" err="1">
                <a:latin typeface="Bookman Old Style" panose="02050604050505020204" pitchFamily="18" charset="0"/>
              </a:rPr>
              <a:t>ExG</a:t>
            </a:r>
            <a:r>
              <a:rPr sz="1000" dirty="0">
                <a:latin typeface="Bookman Old Style" panose="02050604050505020204" pitchFamily="18" charset="0"/>
              </a:rPr>
              <a:t> index)</a:t>
            </a:r>
          </a:p>
          <a:p>
            <a:pPr algn="just"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7 </a:t>
            </a:r>
            <a:r>
              <a:rPr sz="1000" dirty="0" err="1">
                <a:latin typeface="Bookman Old Style" panose="02050604050505020204" pitchFamily="18" charset="0"/>
              </a:rPr>
              <a:t>Haralick</a:t>
            </a:r>
            <a:r>
              <a:rPr sz="1000" dirty="0">
                <a:latin typeface="Bookman Old Style" panose="02050604050505020204" pitchFamily="18" charset="0"/>
              </a:rPr>
              <a:t> GLCM Textures (Contrast, Energy, ASM, Homogeneity, Correlation, Dissimilarity)</a:t>
            </a:r>
          </a:p>
          <a:p>
            <a:pPr algn="just"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7 Morphometric Shape Contours (Area, Perimeter, Aspect Ratio, Solidity, Coverage)</a:t>
            </a:r>
          </a:p>
          <a:p>
            <a:pPr algn="just">
              <a:lnSpc>
                <a:spcPct val="150000"/>
              </a:lnSpc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10 Lineage / Metadata Fields</a:t>
            </a:r>
          </a:p>
          <a:p>
            <a:pPr algn="just"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</a:t>
            </a:r>
            <a:r>
              <a:rPr sz="1000" dirty="0" err="1">
                <a:latin typeface="Bookman Old Style" panose="02050604050505020204" pitchFamily="18" charset="0"/>
              </a:rPr>
              <a:t>image_id</a:t>
            </a:r>
            <a:r>
              <a:rPr sz="1000" dirty="0">
                <a:latin typeface="Bookman Old Style" panose="02050604050505020204" pitchFamily="18" charset="0"/>
              </a:rPr>
              <a:t>, filename, </a:t>
            </a:r>
            <a:r>
              <a:rPr sz="1000" dirty="0" err="1">
                <a:latin typeface="Bookman Old Style" panose="02050604050505020204" pitchFamily="18" charset="0"/>
              </a:rPr>
              <a:t>raw_path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processed_path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crop_label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condition_label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disease_label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pest_label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is_pest</a:t>
            </a:r>
            <a:r>
              <a:rPr sz="1000" dirty="0">
                <a:latin typeface="Bookman Old Style" panose="02050604050505020204" pitchFamily="18" charset="0"/>
              </a:rPr>
              <a:t>, md5_hash</a:t>
            </a:r>
          </a:p>
          <a:p>
            <a:pPr algn="just">
              <a:lnSpc>
                <a:spcPct val="150000"/>
              </a:lnSpc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100% Traceability</a:t>
            </a:r>
          </a:p>
          <a:p>
            <a:pPr algn="just"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Every row maps 1:1 to an authenticated image via </a:t>
            </a:r>
            <a:r>
              <a:rPr sz="1000" dirty="0" err="1">
                <a:latin typeface="Bookman Old Style" panose="02050604050505020204" pitchFamily="18" charset="0"/>
              </a:rPr>
              <a:t>image_id</a:t>
            </a:r>
            <a:r>
              <a:rPr sz="1000" dirty="0">
                <a:latin typeface="Bookman Old Style" panose="02050604050505020204" pitchFamily="18" charset="0"/>
              </a:rPr>
              <a:t> and MD5 cryptographic hash.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64240" cy="50292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>
              <a:latin typeface="Bookman Old Style" panose="0205060405050502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924" y="5481935"/>
            <a:ext cx="105281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900" b="1">
                <a:solidFill>
                  <a:srgbClr val="1B4332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Standard Terminology Verification: 34 explainable visual descriptors stored in a 44-column analytical feature dataset (data/features/image_features.csv).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>
                <a:latin typeface="Bookman Old Style" panose="02050604050505020204" pitchFamily="18" charset="0"/>
              </a:rPr>
              <a:t>Multimodal Data Warehouse - Star Schema Topology</a:t>
            </a:r>
          </a:p>
        </p:txBody>
      </p:sp>
      <p:pic>
        <p:nvPicPr>
          <p:cNvPr id="3" name="Picture 2" descr="star_schema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949440" cy="4526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417319"/>
            <a:ext cx="3931920" cy="4660751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18120" y="1554480"/>
            <a:ext cx="3657600" cy="443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6A4F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PHYSICAL WAREHOUSE INVENTORY</a:t>
            </a:r>
          </a:p>
          <a:p>
            <a:pPr>
              <a:lnSpc>
                <a:spcPct val="150000"/>
              </a:lnSpc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</a:t>
            </a:r>
            <a:r>
              <a:rPr sz="1000" dirty="0" err="1">
                <a:latin typeface="Bookman Old Style" panose="02050604050505020204" pitchFamily="18" charset="0"/>
              </a:rPr>
              <a:t>disease_observation_fact</a:t>
            </a:r>
            <a:r>
              <a:rPr sz="1000" dirty="0">
                <a:latin typeface="Bookman Old Style" panose="02050604050505020204" pitchFamily="18" charset="0"/>
              </a:rPr>
              <a:t> (36 Rows)</a:t>
            </a:r>
          </a:p>
          <a:p>
            <a:pPr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PK: </a:t>
            </a:r>
            <a:r>
              <a:rPr sz="1000" dirty="0" err="1">
                <a:latin typeface="Bookman Old Style" panose="02050604050505020204" pitchFamily="18" charset="0"/>
              </a:rPr>
              <a:t>observation_key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• FKs: </a:t>
            </a:r>
            <a:r>
              <a:rPr sz="1000" dirty="0" err="1">
                <a:latin typeface="Bookman Old Style" panose="02050604050505020204" pitchFamily="18" charset="0"/>
              </a:rPr>
              <a:t>crop_key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disease_key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image_key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feature_key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• Measures: count (1), severity [2.13-4.98], sharpness [5.9-789.8], coverage [0.21-0.50], GLCM contrast</a:t>
            </a:r>
          </a:p>
          <a:p>
            <a:pPr>
              <a:lnSpc>
                <a:spcPct val="150000"/>
              </a:lnSpc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</a:t>
            </a:r>
            <a:r>
              <a:rPr sz="1000" dirty="0" err="1">
                <a:latin typeface="Bookman Old Style" panose="02050604050505020204" pitchFamily="18" charset="0"/>
              </a:rPr>
              <a:t>dim_crop</a:t>
            </a:r>
            <a:r>
              <a:rPr sz="1000" dirty="0">
                <a:latin typeface="Bookman Old Style" panose="02050604050505020204" pitchFamily="18" charset="0"/>
              </a:rPr>
              <a:t> (1 Row)</a:t>
            </a:r>
          </a:p>
          <a:p>
            <a:pPr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Host taxonomy: RICE (Oryza sativa), Cereal</a:t>
            </a:r>
          </a:p>
          <a:p>
            <a:pPr>
              <a:lnSpc>
                <a:spcPct val="150000"/>
              </a:lnSpc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</a:t>
            </a:r>
            <a:r>
              <a:rPr sz="1000" dirty="0" err="1">
                <a:latin typeface="Bookman Old Style" panose="02050604050505020204" pitchFamily="18" charset="0"/>
              </a:rPr>
              <a:t>dim_disease</a:t>
            </a:r>
            <a:r>
              <a:rPr sz="1000" dirty="0">
                <a:latin typeface="Bookman Old Style" panose="02050604050505020204" pitchFamily="18" charset="0"/>
              </a:rPr>
              <a:t> (4 Rows)</a:t>
            </a:r>
          </a:p>
          <a:p>
            <a:pPr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Bacterial Leaf Blight, Brown Spot, Leaf Smut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• HEALTHY (Unpopulated Control Baseline)</a:t>
            </a:r>
          </a:p>
          <a:p>
            <a:pPr>
              <a:lnSpc>
                <a:spcPct val="150000"/>
              </a:lnSpc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</a:t>
            </a:r>
            <a:r>
              <a:rPr sz="1000" dirty="0" err="1">
                <a:latin typeface="Bookman Old Style" panose="02050604050505020204" pitchFamily="18" charset="0"/>
              </a:rPr>
              <a:t>dim_image</a:t>
            </a:r>
            <a:r>
              <a:rPr sz="1000" dirty="0">
                <a:latin typeface="Bookman Old Style" panose="02050604050505020204" pitchFamily="18" charset="0"/>
              </a:rPr>
              <a:t> (36 Rows)</a:t>
            </a:r>
          </a:p>
          <a:p>
            <a:pPr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Optical geometry, MD5 hash, blur score, paths</a:t>
            </a:r>
          </a:p>
          <a:p>
            <a:pPr>
              <a:lnSpc>
                <a:spcPct val="150000"/>
              </a:lnSpc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</a:t>
            </a:r>
            <a:r>
              <a:rPr sz="1000" dirty="0" err="1">
                <a:latin typeface="Bookman Old Style" panose="02050604050505020204" pitchFamily="18" charset="0"/>
              </a:rPr>
              <a:t>dim_visual_feature</a:t>
            </a:r>
            <a:r>
              <a:rPr sz="1000" dirty="0">
                <a:latin typeface="Bookman Old Style" panose="02050604050505020204" pitchFamily="18" charset="0"/>
              </a:rPr>
              <a:t> (36 Rows)</a:t>
            </a:r>
          </a:p>
          <a:p>
            <a:pPr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34 color, </a:t>
            </a:r>
            <a:r>
              <a:rPr sz="1000" dirty="0" err="1">
                <a:latin typeface="Bookman Old Style" panose="02050604050505020204" pitchFamily="18" charset="0"/>
              </a:rPr>
              <a:t>Haralick</a:t>
            </a:r>
            <a:r>
              <a:rPr sz="1000" dirty="0">
                <a:latin typeface="Bookman Old Style" panose="02050604050505020204" pitchFamily="18" charset="0"/>
              </a:rPr>
              <a:t> texture, shape contour descriptors</a:t>
            </a:r>
          </a:p>
          <a:p>
            <a:pPr>
              <a:lnSpc>
                <a:spcPct val="150000"/>
              </a:lnSpc>
              <a:defRPr sz="8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Data Governance Mandate</a:t>
            </a:r>
          </a:p>
          <a:p>
            <a:pPr>
              <a:lnSpc>
                <a:spcPct val="150000"/>
              </a:lnSpc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Schema strictly follows observed source attributes. Unsupported dimensions (</a:t>
            </a:r>
            <a:r>
              <a:rPr sz="1000" dirty="0" err="1">
                <a:latin typeface="Bookman Old Style" panose="02050604050505020204" pitchFamily="18" charset="0"/>
              </a:rPr>
              <a:t>Dim_Pest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Dim_Time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Dim_Geography</a:t>
            </a:r>
            <a:r>
              <a:rPr sz="1000" dirty="0">
                <a:latin typeface="Bookman Old Style" panose="02050604050505020204" pitchFamily="18" charset="0"/>
              </a:rPr>
              <a:t>) are not fabricated.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>
                <a:latin typeface="Bookman Old Style" panose="02050604050505020204" pitchFamily="18" charset="0"/>
              </a:rPr>
              <a:t>Warehouse Design &amp; Production ETL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4434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Bookman Old Style" panose="020506040505050202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3246120" cy="3282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4332"/>
                </a:solidFill>
                <a:latin typeface="Georgia"/>
              </a:defRPr>
            </a:pPr>
            <a:r>
              <a:rPr sz="1400" dirty="0">
                <a:latin typeface="Bookman Old Style" panose="02050604050505020204" pitchFamily="18" charset="0"/>
              </a:rPr>
              <a:t>Fact Table &amp; Measures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Grain: Exactly ONE row per validated, preprocessed multimodal image observation.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Additive Measure: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• </a:t>
            </a:r>
            <a:r>
              <a:rPr sz="1000" dirty="0" err="1">
                <a:latin typeface="Bookman Old Style" panose="02050604050505020204" pitchFamily="18" charset="0"/>
              </a:rPr>
              <a:t>observation_count</a:t>
            </a:r>
            <a:r>
              <a:rPr sz="1000" dirty="0">
                <a:latin typeface="Bookman Old Style" panose="02050604050505020204" pitchFamily="18" charset="0"/>
              </a:rPr>
              <a:t> (Constant 1 per record)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Semi-Additive Measures: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• </a:t>
            </a:r>
            <a:r>
              <a:rPr sz="1000" dirty="0" err="1">
                <a:latin typeface="Bookman Old Style" panose="02050604050505020204" pitchFamily="18" charset="0"/>
              </a:rPr>
              <a:t>lesion_severity_score</a:t>
            </a:r>
            <a:r>
              <a:rPr sz="1000" dirty="0">
                <a:latin typeface="Bookman Old Style" panose="02050604050505020204" pitchFamily="18" charset="0"/>
              </a:rPr>
              <a:t> [0.0 - 10.0]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• </a:t>
            </a:r>
            <a:r>
              <a:rPr sz="1000" dirty="0" err="1">
                <a:latin typeface="Bookman Old Style" panose="02050604050505020204" pitchFamily="18" charset="0"/>
              </a:rPr>
              <a:t>image_sharpness_score</a:t>
            </a:r>
            <a:r>
              <a:rPr sz="1000" dirty="0">
                <a:latin typeface="Bookman Old Style" panose="02050604050505020204" pitchFamily="18" charset="0"/>
              </a:rPr>
              <a:t> (Laplacian Var)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• </a:t>
            </a:r>
            <a:r>
              <a:rPr sz="1000" dirty="0" err="1">
                <a:latin typeface="Bookman Old Style" panose="02050604050505020204" pitchFamily="18" charset="0"/>
              </a:rPr>
              <a:t>lesion_coverage_ratio</a:t>
            </a:r>
            <a:r>
              <a:rPr sz="1000" dirty="0">
                <a:latin typeface="Bookman Old Style" panose="02050604050505020204" pitchFamily="18" charset="0"/>
              </a:rPr>
              <a:t> [0.0 - 1.0]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• </a:t>
            </a:r>
            <a:r>
              <a:rPr sz="1000" dirty="0" err="1">
                <a:latin typeface="Bookman Old Style" panose="02050604050505020204" pitchFamily="18" charset="0"/>
              </a:rPr>
              <a:t>texture_contrast_norm</a:t>
            </a:r>
            <a:r>
              <a:rPr sz="1000" dirty="0">
                <a:latin typeface="Bookman Old Style" panose="02050604050505020204" pitchFamily="18" charset="0"/>
              </a:rPr>
              <a:t> [0.0 - 1.0]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• </a:t>
            </a:r>
            <a:r>
              <a:rPr sz="1000" dirty="0" err="1">
                <a:latin typeface="Bookman Old Style" panose="02050604050505020204" pitchFamily="18" charset="0"/>
              </a:rPr>
              <a:t>processing_latency_ms</a:t>
            </a:r>
            <a:endParaRPr sz="10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Referential Integrity: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• 4 Foreign Keys with ON DELETE RESTRICT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• Zero orphan keys, zero null measure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463040"/>
            <a:ext cx="3520440" cy="4434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53128" y="1600200"/>
            <a:ext cx="3246120" cy="305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4332"/>
                </a:solidFill>
                <a:latin typeface="Georgia"/>
              </a:defRPr>
            </a:pPr>
            <a:r>
              <a:rPr sz="1400" dirty="0">
                <a:latin typeface="Bookman Old Style" panose="02050604050505020204" pitchFamily="18" charset="0"/>
              </a:rPr>
              <a:t>Dimensions &amp; Hierarchies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Botanical Host Hierarchy: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Observation -&gt; Crop Name -&gt; Crop Category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(e.g., DSC_0365 -&gt; Rice -&gt; Cereal)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Microbial Pathology Hierarchy: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Pathogen Type -&gt; Disease Diagnosis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(Bacterial -&gt; Bacterial Leaf Blight)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(Fungal -&gt; Brown Spot | Leaf Smut)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Visual Feature Dimension (1:1):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34 Color moments, </a:t>
            </a:r>
            <a:r>
              <a:rPr sz="1000" dirty="0" err="1">
                <a:latin typeface="Bookman Old Style" panose="02050604050505020204" pitchFamily="18" charset="0"/>
              </a:rPr>
              <a:t>Haralick</a:t>
            </a:r>
            <a:r>
              <a:rPr sz="1000" dirty="0">
                <a:latin typeface="Bookman Old Style" panose="02050604050505020204" pitchFamily="18" charset="0"/>
              </a:rPr>
              <a:t> GLCM textures, morphometric shape descriptors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Physical Image Dimension (1:1):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Cryptographic MD5 hash, blur score, file paths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463040"/>
            <a:ext cx="3520440" cy="4434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Bookman Old Style" panose="0205060405050502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0456" y="1600200"/>
            <a:ext cx="3246120" cy="3282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6A4F"/>
                </a:solidFill>
                <a:latin typeface="Georgia"/>
              </a:defRPr>
            </a:pPr>
            <a:r>
              <a:rPr sz="1400" dirty="0">
                <a:latin typeface="Bookman Old Style" panose="02050604050505020204" pitchFamily="18" charset="0"/>
              </a:rPr>
              <a:t>Production ETL &amp; Idempotency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EXTRACT Phase: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- Ingests raw images, cleaned metadata, and extracted visual feature store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TRANSFORM Phase: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- Quality validation, surrogate key mapping, botanical taxonomy normalization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LOAD Phase (Dimension-First):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- Loads </a:t>
            </a:r>
            <a:r>
              <a:rPr sz="1000" dirty="0" err="1">
                <a:latin typeface="Bookman Old Style" panose="02050604050505020204" pitchFamily="18" charset="0"/>
              </a:rPr>
              <a:t>dim_crop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dim_disease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dim_image</a:t>
            </a:r>
            <a:r>
              <a:rPr sz="1000" dirty="0">
                <a:latin typeface="Bookman Old Style" panose="02050604050505020204" pitchFamily="18" charset="0"/>
              </a:rPr>
              <a:t>, </a:t>
            </a:r>
            <a:r>
              <a:rPr sz="1000" dirty="0" err="1">
                <a:latin typeface="Bookman Old Style" panose="02050604050505020204" pitchFamily="18" charset="0"/>
              </a:rPr>
              <a:t>dim_visual_feature</a:t>
            </a:r>
            <a:r>
              <a:rPr sz="1000" dirty="0">
                <a:latin typeface="Bookman Old Style" panose="02050604050505020204" pitchFamily="18" charset="0"/>
              </a:rPr>
              <a:t>, then fact table</a:t>
            </a:r>
          </a:p>
          <a:p>
            <a:pPr>
              <a:lnSpc>
                <a:spcPct val="150000"/>
              </a:lnSpc>
              <a:defRPr sz="80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• VERIFIED IDEMPOTENCY AUDIT: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- 1st Run: 36 facts inserted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- 2nd Run: 0 inserted, 36 duplicates skipped</a:t>
            </a:r>
            <a:br>
              <a:rPr sz="1000" dirty="0">
                <a:latin typeface="Bookman Old Style" panose="02050604050505020204" pitchFamily="18" charset="0"/>
              </a:rPr>
            </a:br>
            <a:r>
              <a:rPr sz="1000" dirty="0">
                <a:latin typeface="Bookman Old Style" panose="02050604050505020204" pitchFamily="18" charset="0"/>
              </a:rPr>
              <a:t>  - Native SQLite PRAGMA </a:t>
            </a:r>
            <a:r>
              <a:rPr sz="1000" dirty="0" err="1">
                <a:latin typeface="Bookman Old Style" panose="02050604050505020204" pitchFamily="18" charset="0"/>
              </a:rPr>
              <a:t>foreign_keys</a:t>
            </a:r>
            <a:r>
              <a:rPr sz="1000" dirty="0">
                <a:latin typeface="Bookman Old Style" panose="02050604050505020204" pitchFamily="18" charset="0"/>
              </a:rPr>
              <a:t> 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 dirty="0"/>
              <a:t>Code: Creating the Warehouse (ANSI SQL DDL)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3879" y="1437564"/>
            <a:ext cx="8266922" cy="4165386"/>
          </a:xfrm>
          <a:prstGeom prst="roundRect">
            <a:avLst>
              <a:gd name="adj" fmla="val 7644"/>
            </a:avLst>
          </a:prstGeom>
          <a:solidFill>
            <a:srgbClr val="1C1C1C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2679" y="1437564"/>
            <a:ext cx="10789920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78C878"/>
                </a:solidFill>
                <a:latin typeface="Consolas"/>
              </a:defRPr>
            </a:pPr>
            <a:r>
              <a:rPr sz="1050" dirty="0"/>
              <a:t>-- 1. Dimension Tables: Botanical Crop &amp; Pathology Diagnosis</a:t>
            </a:r>
          </a:p>
          <a:p>
            <a:pPr>
              <a:defRPr sz="800">
                <a:solidFill>
                  <a:srgbClr val="82BEFF"/>
                </a:solidFill>
                <a:latin typeface="Consolas"/>
              </a:defRPr>
            </a:pPr>
            <a:r>
              <a:rPr sz="1050" dirty="0"/>
              <a:t>CREATE TABLE </a:t>
            </a:r>
            <a:r>
              <a:rPr sz="1050" dirty="0" err="1"/>
              <a:t>dim_crop</a:t>
            </a:r>
            <a:r>
              <a:rPr sz="1050" dirty="0"/>
              <a:t> (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crop_key</a:t>
            </a:r>
            <a:r>
              <a:rPr sz="1050" dirty="0"/>
              <a:t> INTEGER PRIMARY KEY AUTOINCREMENT,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crop_code</a:t>
            </a:r>
            <a:r>
              <a:rPr sz="1050" dirty="0"/>
              <a:t> VARCHAR(50) NOT NULL UNIQUE, </a:t>
            </a:r>
            <a:r>
              <a:rPr sz="1050" dirty="0" err="1"/>
              <a:t>crop_name</a:t>
            </a:r>
            <a:r>
              <a:rPr sz="1050" dirty="0"/>
              <a:t> VARCHAR(100) NOT NULL,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botanical_name</a:t>
            </a:r>
            <a:r>
              <a:rPr sz="1050" dirty="0"/>
              <a:t> VARCHAR(150), </a:t>
            </a:r>
            <a:r>
              <a:rPr sz="1050" dirty="0" err="1"/>
              <a:t>crop_category</a:t>
            </a:r>
            <a:r>
              <a:rPr sz="1050" dirty="0"/>
              <a:t> VARCHAR(50) NOT NULL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);</a:t>
            </a:r>
          </a:p>
          <a:p>
            <a:pPr>
              <a:defRPr sz="800">
                <a:solidFill>
                  <a:srgbClr val="82BEFF"/>
                </a:solidFill>
                <a:latin typeface="Consolas"/>
              </a:defRPr>
            </a:pPr>
            <a:r>
              <a:rPr sz="1050" dirty="0"/>
              <a:t>CREATE TABLE </a:t>
            </a:r>
            <a:r>
              <a:rPr sz="1050" dirty="0" err="1"/>
              <a:t>dim_disease</a:t>
            </a:r>
            <a:r>
              <a:rPr sz="1050" dirty="0"/>
              <a:t> (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disease_key</a:t>
            </a:r>
            <a:r>
              <a:rPr sz="1050" dirty="0"/>
              <a:t> INTEGER PRIMARY KEY AUTOINCREMENT,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disease_code</a:t>
            </a:r>
            <a:r>
              <a:rPr sz="1050" dirty="0"/>
              <a:t> VARCHAR(50) NOT NULL UNIQUE, </a:t>
            </a:r>
            <a:r>
              <a:rPr sz="1050" dirty="0" err="1"/>
              <a:t>disease_name</a:t>
            </a:r>
            <a:r>
              <a:rPr sz="1050" dirty="0"/>
              <a:t> VARCHAR(150) NOT NULL,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pathogen_type</a:t>
            </a:r>
            <a:r>
              <a:rPr sz="1050" dirty="0"/>
              <a:t> VARCHAR(50) NOT NULL, -- Bacterial, Fungal, None (HEALTHY Control)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causal_agent</a:t>
            </a:r>
            <a:r>
              <a:rPr sz="1050" dirty="0"/>
              <a:t> VARCHAR(150), </a:t>
            </a:r>
            <a:r>
              <a:rPr sz="1050" dirty="0" err="1"/>
              <a:t>primary_symptom</a:t>
            </a:r>
            <a:r>
              <a:rPr sz="1050" dirty="0"/>
              <a:t> VARCHAR(200)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);</a:t>
            </a:r>
          </a:p>
          <a:p>
            <a:pPr>
              <a:defRPr sz="800">
                <a:solidFill>
                  <a:srgbClr val="78C878"/>
                </a:solidFill>
                <a:latin typeface="Consolas"/>
              </a:defRPr>
            </a:pPr>
            <a:r>
              <a:rPr sz="1050" dirty="0"/>
              <a:t>-- </a:t>
            </a:r>
            <a:r>
              <a:rPr sz="1050" dirty="0" err="1"/>
              <a:t>dim_image</a:t>
            </a:r>
            <a:r>
              <a:rPr sz="1050" dirty="0"/>
              <a:t> &amp; </a:t>
            </a:r>
            <a:r>
              <a:rPr sz="1050" dirty="0" err="1"/>
              <a:t>dim_visual_feature</a:t>
            </a:r>
            <a:r>
              <a:rPr sz="1050" dirty="0"/>
              <a:t>: Store optical parameters &amp; 34 explainable visual descriptors</a:t>
            </a:r>
          </a:p>
          <a:p>
            <a:pPr>
              <a:defRPr sz="800">
                <a:solidFill>
                  <a:srgbClr val="78C878"/>
                </a:solidFill>
                <a:latin typeface="Consolas"/>
              </a:defRPr>
            </a:pPr>
            <a:r>
              <a:rPr sz="1050" dirty="0"/>
              <a:t>-- 2. Central Fact Table: Granular Grain (1 Row per Preprocessed Observation)</a:t>
            </a:r>
          </a:p>
          <a:p>
            <a:pPr>
              <a:defRPr sz="800">
                <a:solidFill>
                  <a:srgbClr val="82BEFF"/>
                </a:solidFill>
                <a:latin typeface="Consolas"/>
              </a:defRPr>
            </a:pPr>
            <a:r>
              <a:rPr sz="1050" dirty="0"/>
              <a:t>CREATE TABLE </a:t>
            </a:r>
            <a:r>
              <a:rPr sz="1050" dirty="0" err="1"/>
              <a:t>disease_observation_fact</a:t>
            </a:r>
            <a:r>
              <a:rPr sz="1050" dirty="0"/>
              <a:t> (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observation_key</a:t>
            </a:r>
            <a:r>
              <a:rPr sz="1050" dirty="0"/>
              <a:t> INTEGER PRIMARY KEY AUTOINCREMENT,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crop_key</a:t>
            </a:r>
            <a:r>
              <a:rPr sz="1050" dirty="0"/>
              <a:t> INTEGER NOT NULL REFERENCES </a:t>
            </a:r>
            <a:r>
              <a:rPr sz="1050" dirty="0" err="1"/>
              <a:t>dim_crop</a:t>
            </a:r>
            <a:r>
              <a:rPr sz="1050" dirty="0"/>
              <a:t>(</a:t>
            </a:r>
            <a:r>
              <a:rPr sz="1050" dirty="0" err="1"/>
              <a:t>crop_key</a:t>
            </a:r>
            <a:r>
              <a:rPr sz="1050" dirty="0"/>
              <a:t>),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disease_key</a:t>
            </a:r>
            <a:r>
              <a:rPr sz="1050" dirty="0"/>
              <a:t> INTEGER NOT NULL REFERENCES </a:t>
            </a:r>
            <a:r>
              <a:rPr sz="1050" dirty="0" err="1"/>
              <a:t>dim_disease</a:t>
            </a:r>
            <a:r>
              <a:rPr sz="1050" dirty="0"/>
              <a:t>(</a:t>
            </a:r>
            <a:r>
              <a:rPr sz="1050" dirty="0" err="1"/>
              <a:t>disease_key</a:t>
            </a:r>
            <a:r>
              <a:rPr sz="1050" dirty="0"/>
              <a:t>),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image_key</a:t>
            </a:r>
            <a:r>
              <a:rPr sz="1050" dirty="0"/>
              <a:t> INTEGER NOT NULL UNIQUE REFERENCES </a:t>
            </a:r>
            <a:r>
              <a:rPr sz="1050" dirty="0" err="1"/>
              <a:t>dim_image</a:t>
            </a:r>
            <a:r>
              <a:rPr sz="1050" dirty="0"/>
              <a:t>(</a:t>
            </a:r>
            <a:r>
              <a:rPr sz="1050" dirty="0" err="1"/>
              <a:t>image_key</a:t>
            </a:r>
            <a:r>
              <a:rPr sz="1050" dirty="0"/>
              <a:t>),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feature_key</a:t>
            </a:r>
            <a:r>
              <a:rPr sz="1050" dirty="0"/>
              <a:t> INTEGER NOT NULL UNIQUE REFERENCES </a:t>
            </a:r>
            <a:r>
              <a:rPr sz="1050" dirty="0" err="1"/>
              <a:t>dim_visual_feature</a:t>
            </a:r>
            <a:r>
              <a:rPr sz="1050" dirty="0"/>
              <a:t>(</a:t>
            </a:r>
            <a:r>
              <a:rPr sz="1050" dirty="0" err="1"/>
              <a:t>feature_key</a:t>
            </a:r>
            <a:r>
              <a:rPr sz="1050" dirty="0"/>
              <a:t>),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observation_count</a:t>
            </a:r>
            <a:r>
              <a:rPr sz="1050" dirty="0"/>
              <a:t> INTEGER NOT NULL DEFAULT 1,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lesion_severity_score</a:t>
            </a:r>
            <a:r>
              <a:rPr sz="1050" dirty="0"/>
              <a:t> FLOAT, </a:t>
            </a:r>
            <a:r>
              <a:rPr sz="1050" dirty="0" err="1"/>
              <a:t>image_sharpness_score</a:t>
            </a:r>
            <a:r>
              <a:rPr sz="1050" dirty="0"/>
              <a:t> FLOAT,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    </a:t>
            </a:r>
            <a:r>
              <a:rPr sz="1050" dirty="0" err="1"/>
              <a:t>lesion_coverage_ratio</a:t>
            </a:r>
            <a:r>
              <a:rPr sz="1050" dirty="0"/>
              <a:t> FLOAT, </a:t>
            </a:r>
            <a:r>
              <a:rPr sz="1050" dirty="0" err="1"/>
              <a:t>texture_contrast_norm</a:t>
            </a:r>
            <a:r>
              <a:rPr sz="1050" dirty="0"/>
              <a:t> FLOAT, </a:t>
            </a:r>
            <a:r>
              <a:rPr sz="1050" dirty="0" err="1"/>
              <a:t>etl_batch_id</a:t>
            </a:r>
            <a:r>
              <a:rPr sz="1050" dirty="0"/>
              <a:t> VARCHAR(50)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);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1050" dirty="0"/>
              <a:t>CREATE INDEX </a:t>
            </a:r>
            <a:r>
              <a:rPr sz="1050" dirty="0" err="1"/>
              <a:t>idx_fact_crop_disease</a:t>
            </a:r>
            <a:r>
              <a:rPr sz="1050" dirty="0"/>
              <a:t> ON </a:t>
            </a:r>
            <a:r>
              <a:rPr sz="1050" dirty="0" err="1"/>
              <a:t>disease_observation_fact</a:t>
            </a:r>
            <a:r>
              <a:rPr sz="1050" dirty="0"/>
              <a:t>(</a:t>
            </a:r>
            <a:r>
              <a:rPr sz="1050" dirty="0" err="1"/>
              <a:t>crop_key</a:t>
            </a:r>
            <a:r>
              <a:rPr sz="1050" dirty="0"/>
              <a:t>, </a:t>
            </a:r>
            <a:r>
              <a:rPr sz="1050" dirty="0" err="1"/>
              <a:t>disease_key</a:t>
            </a:r>
            <a:r>
              <a:rPr sz="1050" dirty="0"/>
              <a:t>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879" y="5828362"/>
            <a:ext cx="11064240" cy="45720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4126" y="5791973"/>
            <a:ext cx="114037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B4332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DATABASE INTEGRITY VERIFICATION: SQLite PRAGMA </a:t>
            </a:r>
            <a:r>
              <a:rPr sz="1200" dirty="0" err="1">
                <a:latin typeface="Bookman Old Style" panose="02050604050505020204" pitchFamily="18" charset="0"/>
              </a:rPr>
              <a:t>foreign_keys</a:t>
            </a:r>
            <a:r>
              <a:rPr sz="1200" dirty="0">
                <a:latin typeface="Bookman Old Style" panose="02050604050505020204" pitchFamily="18" charset="0"/>
              </a:rPr>
              <a:t> = 1 natively enforced via </a:t>
            </a:r>
            <a:r>
              <a:rPr sz="1200" dirty="0" err="1">
                <a:latin typeface="Bookman Old Style" panose="02050604050505020204" pitchFamily="18" charset="0"/>
              </a:rPr>
              <a:t>SQLAlchemy</a:t>
            </a:r>
            <a:r>
              <a:rPr sz="1200" dirty="0">
                <a:latin typeface="Bookman Old Style" panose="02050604050505020204" pitchFamily="18" charset="0"/>
              </a:rPr>
              <a:t> listener. Invalid foreign key insertion attempt natively raises </a:t>
            </a:r>
            <a:r>
              <a:rPr sz="1200" dirty="0" err="1">
                <a:latin typeface="Bookman Old Style" panose="02050604050505020204" pitchFamily="18" charset="0"/>
              </a:rPr>
              <a:t>sqlalchemy.exc.IntegrityError</a:t>
            </a:r>
            <a:r>
              <a:rPr sz="1200" dirty="0">
                <a:latin typeface="Bookman Old Style" panose="0205060405050502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t>Code: Production ETL Pipeline (Python &amp; SQLAlchemy)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39"/>
            <a:ext cx="7358231" cy="4187767"/>
          </a:xfrm>
          <a:prstGeom prst="roundRect">
            <a:avLst/>
          </a:prstGeom>
          <a:solidFill>
            <a:srgbClr val="1C1C1C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78992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78C878"/>
                </a:solidFill>
                <a:latin typeface="Consolas"/>
              </a:defRPr>
            </a:pPr>
            <a:r>
              <a:rPr sz="900" dirty="0"/>
              <a:t># Production ETL Pipeline (Extract -&gt; Transform -&gt; Dimension-First Load -&gt; Idempotency Check)</a:t>
            </a:r>
          </a:p>
          <a:p>
            <a:pPr>
              <a:defRPr sz="800">
                <a:solidFill>
                  <a:srgbClr val="FFB464"/>
                </a:solidFill>
                <a:latin typeface="Consolas"/>
              </a:defRPr>
            </a:pPr>
            <a:r>
              <a:rPr sz="900" dirty="0"/>
              <a:t>from </a:t>
            </a:r>
            <a:r>
              <a:rPr sz="900" dirty="0" err="1"/>
              <a:t>sqlalchemy</a:t>
            </a:r>
            <a:r>
              <a:rPr sz="900" dirty="0"/>
              <a:t> import event, Engine</a:t>
            </a:r>
          </a:p>
          <a:p>
            <a:pPr>
              <a:defRPr sz="800">
                <a:solidFill>
                  <a:srgbClr val="FFB464"/>
                </a:solidFill>
                <a:latin typeface="Consolas"/>
              </a:defRPr>
            </a:pPr>
            <a:r>
              <a:rPr sz="900" dirty="0"/>
              <a:t>from </a:t>
            </a:r>
            <a:r>
              <a:rPr sz="900" dirty="0" err="1"/>
              <a:t>src.warehouse.connection</a:t>
            </a:r>
            <a:r>
              <a:rPr sz="900" dirty="0"/>
              <a:t> import </a:t>
            </a:r>
            <a:r>
              <a:rPr sz="900" dirty="0" err="1"/>
              <a:t>get_db_session</a:t>
            </a:r>
            <a:endParaRPr sz="900" dirty="0"/>
          </a:p>
          <a:p>
            <a:pPr>
              <a:defRPr sz="800">
                <a:solidFill>
                  <a:srgbClr val="FFB464"/>
                </a:solidFill>
                <a:latin typeface="Consolas"/>
              </a:defRPr>
            </a:pPr>
            <a:r>
              <a:rPr sz="900" dirty="0"/>
              <a:t>from </a:t>
            </a:r>
            <a:r>
              <a:rPr sz="900" dirty="0" err="1"/>
              <a:t>src.warehouse.models</a:t>
            </a:r>
            <a:r>
              <a:rPr sz="900" dirty="0"/>
              <a:t> import </a:t>
            </a:r>
            <a:r>
              <a:rPr sz="900" dirty="0" err="1"/>
              <a:t>DimCrop</a:t>
            </a:r>
            <a:r>
              <a:rPr sz="900" dirty="0"/>
              <a:t>, </a:t>
            </a:r>
            <a:r>
              <a:rPr sz="900" dirty="0" err="1"/>
              <a:t>DimDisease</a:t>
            </a:r>
            <a:r>
              <a:rPr sz="900" dirty="0"/>
              <a:t>, </a:t>
            </a:r>
            <a:r>
              <a:rPr sz="900" dirty="0" err="1"/>
              <a:t>DimImage</a:t>
            </a:r>
            <a:r>
              <a:rPr sz="900" dirty="0"/>
              <a:t>, </a:t>
            </a:r>
            <a:r>
              <a:rPr sz="900" dirty="0" err="1"/>
              <a:t>DimVisualFeature</a:t>
            </a:r>
            <a:r>
              <a:rPr sz="900" dirty="0"/>
              <a:t>, </a:t>
            </a:r>
            <a:r>
              <a:rPr sz="900" dirty="0" err="1"/>
              <a:t>DiseaseObservationFact</a:t>
            </a:r>
            <a:endParaRPr sz="900" dirty="0"/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endParaRPr sz="900" dirty="0"/>
          </a:p>
          <a:p>
            <a:pPr>
              <a:defRPr sz="800">
                <a:solidFill>
                  <a:srgbClr val="78C878"/>
                </a:solidFill>
                <a:latin typeface="Consolas"/>
              </a:defRPr>
            </a:pPr>
            <a:r>
              <a:rPr sz="900" dirty="0"/>
              <a:t># 1. Enforce Native SQLite Foreign Keys Connection Listener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@event.listens_for(Engine, 'connect')</a:t>
            </a:r>
          </a:p>
          <a:p>
            <a:pPr>
              <a:defRPr sz="800">
                <a:solidFill>
                  <a:srgbClr val="FFB464"/>
                </a:solidFill>
                <a:latin typeface="Consolas"/>
              </a:defRPr>
            </a:pPr>
            <a:r>
              <a:rPr sz="900" dirty="0"/>
              <a:t>def </a:t>
            </a:r>
            <a:r>
              <a:rPr sz="900" dirty="0" err="1"/>
              <a:t>set_sqlite_pragma</a:t>
            </a:r>
            <a:r>
              <a:rPr sz="900" dirty="0"/>
              <a:t>(</a:t>
            </a:r>
            <a:r>
              <a:rPr sz="900" dirty="0" err="1"/>
              <a:t>dbapi_conn</a:t>
            </a:r>
            <a:r>
              <a:rPr sz="900" dirty="0"/>
              <a:t>, </a:t>
            </a:r>
            <a:r>
              <a:rPr sz="900" dirty="0" err="1"/>
              <a:t>conn_record</a:t>
            </a:r>
            <a:r>
              <a:rPr sz="900" dirty="0"/>
              <a:t>):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if type(</a:t>
            </a:r>
            <a:r>
              <a:rPr sz="900" dirty="0" err="1"/>
              <a:t>dbapi_conn</a:t>
            </a:r>
            <a:r>
              <a:rPr sz="900" dirty="0"/>
              <a:t>).__module__.</a:t>
            </a:r>
            <a:r>
              <a:rPr sz="900" dirty="0" err="1"/>
              <a:t>startswith</a:t>
            </a:r>
            <a:r>
              <a:rPr sz="900" dirty="0"/>
              <a:t>('sqlite3'):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cursor = </a:t>
            </a:r>
            <a:r>
              <a:rPr sz="900" dirty="0" err="1"/>
              <a:t>dbapi_conn.cursor</a:t>
            </a:r>
            <a:r>
              <a:rPr sz="900" dirty="0"/>
              <a:t>()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</a:t>
            </a:r>
            <a:r>
              <a:rPr sz="900" dirty="0" err="1"/>
              <a:t>cursor.execute</a:t>
            </a:r>
            <a:r>
              <a:rPr sz="900" dirty="0"/>
              <a:t>('PRAGMA </a:t>
            </a:r>
            <a:r>
              <a:rPr sz="900" dirty="0" err="1"/>
              <a:t>foreign_keys</a:t>
            </a:r>
            <a:r>
              <a:rPr sz="900" dirty="0"/>
              <a:t>=ON')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</a:t>
            </a:r>
            <a:r>
              <a:rPr sz="900" dirty="0" err="1"/>
              <a:t>cursor.close</a:t>
            </a:r>
            <a:r>
              <a:rPr sz="900" dirty="0"/>
              <a:t>()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endParaRPr sz="900" dirty="0"/>
          </a:p>
          <a:p>
            <a:pPr>
              <a:defRPr sz="800">
                <a:solidFill>
                  <a:srgbClr val="78C878"/>
                </a:solidFill>
                <a:latin typeface="Consolas"/>
              </a:defRPr>
            </a:pPr>
            <a:r>
              <a:rPr sz="900" dirty="0"/>
              <a:t># 2. Dimension-First Loading &amp; Idempotent Fact Insertion</a:t>
            </a:r>
          </a:p>
          <a:p>
            <a:pPr>
              <a:defRPr sz="800">
                <a:solidFill>
                  <a:srgbClr val="FFB464"/>
                </a:solidFill>
                <a:latin typeface="Consolas"/>
              </a:defRPr>
            </a:pPr>
            <a:r>
              <a:rPr sz="900" dirty="0"/>
              <a:t>def </a:t>
            </a:r>
            <a:r>
              <a:rPr sz="900" dirty="0" err="1"/>
              <a:t>load_observation_facts</a:t>
            </a:r>
            <a:r>
              <a:rPr sz="900" dirty="0"/>
              <a:t>(session, </a:t>
            </a:r>
            <a:r>
              <a:rPr sz="900" dirty="0" err="1"/>
              <a:t>staged_data</a:t>
            </a:r>
            <a:r>
              <a:rPr sz="900" dirty="0"/>
              <a:t>, </a:t>
            </a:r>
            <a:r>
              <a:rPr sz="900" dirty="0" err="1"/>
              <a:t>batch_id</a:t>
            </a:r>
            <a:r>
              <a:rPr sz="900" dirty="0"/>
              <a:t>):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for item in </a:t>
            </a:r>
            <a:r>
              <a:rPr sz="900" dirty="0" err="1"/>
              <a:t>staged_data</a:t>
            </a:r>
            <a:r>
              <a:rPr sz="900" dirty="0"/>
              <a:t>['</a:t>
            </a:r>
            <a:r>
              <a:rPr sz="900" dirty="0" err="1"/>
              <a:t>fact_records</a:t>
            </a:r>
            <a:r>
              <a:rPr sz="900" dirty="0"/>
              <a:t>']:</a:t>
            </a:r>
          </a:p>
          <a:p>
            <a:pPr>
              <a:defRPr sz="800">
                <a:solidFill>
                  <a:srgbClr val="78C878"/>
                </a:solidFill>
                <a:latin typeface="Consolas"/>
              </a:defRPr>
            </a:pPr>
            <a:r>
              <a:rPr sz="900" dirty="0"/>
              <a:t>        # Verify uniqueness to prevent duplicate insertion on repeated ETL runs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existing = </a:t>
            </a:r>
            <a:r>
              <a:rPr sz="900" dirty="0" err="1"/>
              <a:t>session.query</a:t>
            </a:r>
            <a:r>
              <a:rPr sz="900" dirty="0"/>
              <a:t>(</a:t>
            </a:r>
            <a:r>
              <a:rPr sz="900" dirty="0" err="1"/>
              <a:t>DiseaseObservationFact</a:t>
            </a:r>
            <a:r>
              <a:rPr sz="900" dirty="0"/>
              <a:t>).</a:t>
            </a:r>
            <a:r>
              <a:rPr sz="900" dirty="0" err="1"/>
              <a:t>filter_by</a:t>
            </a:r>
            <a:r>
              <a:rPr sz="900" dirty="0"/>
              <a:t>(</a:t>
            </a:r>
            <a:r>
              <a:rPr sz="900" dirty="0" err="1"/>
              <a:t>image_key</a:t>
            </a:r>
            <a:r>
              <a:rPr sz="900" dirty="0"/>
              <a:t>=item['</a:t>
            </a:r>
            <a:r>
              <a:rPr sz="900" dirty="0" err="1"/>
              <a:t>image_key</a:t>
            </a:r>
            <a:r>
              <a:rPr sz="900" dirty="0"/>
              <a:t>']).first()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if existing: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    </a:t>
            </a:r>
            <a:r>
              <a:rPr sz="900" dirty="0" err="1"/>
              <a:t>load_stats</a:t>
            </a:r>
            <a:r>
              <a:rPr sz="900" dirty="0"/>
              <a:t>['</a:t>
            </a:r>
            <a:r>
              <a:rPr sz="900" dirty="0" err="1"/>
              <a:t>duplicates_skipped</a:t>
            </a:r>
            <a:r>
              <a:rPr sz="900" dirty="0"/>
              <a:t>'] += 1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    continue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fact = </a:t>
            </a:r>
            <a:r>
              <a:rPr sz="900" dirty="0" err="1"/>
              <a:t>DiseaseObservationFact</a:t>
            </a:r>
            <a:r>
              <a:rPr sz="900" dirty="0"/>
              <a:t>(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    </a:t>
            </a:r>
            <a:r>
              <a:rPr sz="900" dirty="0" err="1"/>
              <a:t>crop_key</a:t>
            </a:r>
            <a:r>
              <a:rPr sz="900" dirty="0"/>
              <a:t>=item['</a:t>
            </a:r>
            <a:r>
              <a:rPr sz="900" dirty="0" err="1"/>
              <a:t>crop_key</a:t>
            </a:r>
            <a:r>
              <a:rPr sz="900" dirty="0"/>
              <a:t>'], </a:t>
            </a:r>
            <a:r>
              <a:rPr sz="900" dirty="0" err="1"/>
              <a:t>disease_key</a:t>
            </a:r>
            <a:r>
              <a:rPr sz="900" dirty="0"/>
              <a:t>=item['</a:t>
            </a:r>
            <a:r>
              <a:rPr sz="900" dirty="0" err="1"/>
              <a:t>disease_key</a:t>
            </a:r>
            <a:r>
              <a:rPr sz="900" dirty="0"/>
              <a:t>'],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    </a:t>
            </a:r>
            <a:r>
              <a:rPr sz="900" dirty="0" err="1"/>
              <a:t>image_key</a:t>
            </a:r>
            <a:r>
              <a:rPr sz="900" dirty="0"/>
              <a:t>=item['</a:t>
            </a:r>
            <a:r>
              <a:rPr sz="900" dirty="0" err="1"/>
              <a:t>image_key</a:t>
            </a:r>
            <a:r>
              <a:rPr sz="900" dirty="0"/>
              <a:t>'], </a:t>
            </a:r>
            <a:r>
              <a:rPr sz="900" dirty="0" err="1"/>
              <a:t>feature_key</a:t>
            </a:r>
            <a:r>
              <a:rPr sz="900" dirty="0"/>
              <a:t>=item['</a:t>
            </a:r>
            <a:r>
              <a:rPr sz="900" dirty="0" err="1"/>
              <a:t>feature_key</a:t>
            </a:r>
            <a:r>
              <a:rPr sz="900" dirty="0"/>
              <a:t>'],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    </a:t>
            </a:r>
            <a:r>
              <a:rPr sz="900" dirty="0" err="1"/>
              <a:t>observation_count</a:t>
            </a:r>
            <a:r>
              <a:rPr sz="900" dirty="0"/>
              <a:t>=1, </a:t>
            </a:r>
            <a:r>
              <a:rPr sz="900" dirty="0" err="1"/>
              <a:t>lesion_severity_score</a:t>
            </a:r>
            <a:r>
              <a:rPr sz="900" dirty="0"/>
              <a:t>=item['</a:t>
            </a:r>
            <a:r>
              <a:rPr sz="900" dirty="0" err="1"/>
              <a:t>lesion_severity_score</a:t>
            </a:r>
            <a:r>
              <a:rPr sz="900" dirty="0"/>
              <a:t>'],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    </a:t>
            </a:r>
            <a:r>
              <a:rPr sz="900" dirty="0" err="1"/>
              <a:t>image_sharpness_score</a:t>
            </a:r>
            <a:r>
              <a:rPr sz="900" dirty="0"/>
              <a:t>=item['</a:t>
            </a:r>
            <a:r>
              <a:rPr sz="900" dirty="0" err="1"/>
              <a:t>sharpness_score</a:t>
            </a:r>
            <a:r>
              <a:rPr sz="900" dirty="0"/>
              <a:t>'], </a:t>
            </a:r>
            <a:r>
              <a:rPr sz="900" dirty="0" err="1"/>
              <a:t>etl_batch_id</a:t>
            </a:r>
            <a:r>
              <a:rPr sz="900" dirty="0"/>
              <a:t>=</a:t>
            </a:r>
            <a:r>
              <a:rPr sz="900" dirty="0" err="1"/>
              <a:t>batch_id</a:t>
            </a:r>
            <a:endParaRPr sz="900" dirty="0"/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)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</a:t>
            </a:r>
            <a:r>
              <a:rPr sz="900" dirty="0" err="1"/>
              <a:t>session.add</a:t>
            </a:r>
            <a:r>
              <a:rPr sz="900" dirty="0"/>
              <a:t>(fact)</a:t>
            </a:r>
          </a:p>
          <a:p>
            <a:pPr>
              <a:defRPr sz="8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session.commit</a:t>
            </a:r>
            <a:r>
              <a:rPr sz="900" dirty="0"/>
              <a:t>()  # Atomic transaction 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880" y="5879592"/>
            <a:ext cx="11064240" cy="45720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 rot="10800000" flipV="1">
            <a:off x="548640" y="5866432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B4332"/>
                </a:solidFill>
                <a:latin typeface="Calibri"/>
              </a:defRPr>
            </a:pPr>
            <a:r>
              <a:rPr sz="1200" dirty="0">
                <a:latin typeface="Bookman Old Style" panose="02050604050505020204" pitchFamily="18" charset="0"/>
              </a:rPr>
              <a:t>ETL VERIFICATION RESULT: 1st Run: 36 facts loaded  |  2nd Run: 0 inserted, 36 duplicates skipped (100% Idempotent). Referential Audit: 0 orphan foreign keys, 0 nulls, atomic rollback on exception.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>
                <a:latin typeface="Bookman Old Style" panose="02050604050505020204" pitchFamily="18" charset="0"/>
              </a:rPr>
              <a:t>SQL-Backed OLAP Operations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084831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084831" cy="502920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Bookman Old Style" panose="02050604050505020204" pitchFamily="18" charset="0"/>
              </a:rPr>
              <a:t>Roll-up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11680"/>
            <a:ext cx="1938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2D6A4F"/>
                </a:solidFill>
                <a:latin typeface="Calibri"/>
              </a:defRPr>
            </a:pPr>
            <a:r>
              <a:rPr sz="1000">
                <a:latin typeface="Bookman Old Style" panose="02050604050505020204" pitchFamily="18" charset="0"/>
              </a:rPr>
              <a:t>Observation -&gt; Crop -&gt; Crop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514600"/>
            <a:ext cx="19751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SELECT c.crop_category,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COUNT(f.observation_key) AS obs,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ROUND(AVG(f.lesion_severity_score),2)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AS avg_sev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FROM disease_observation_fact f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JOIN dim_crop c ON f.crop_key = c.crop_key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GROUP BY c.crop_category;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120640"/>
            <a:ext cx="1938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1A"/>
                </a:solidFill>
                <a:latin typeface="Calibri"/>
              </a:defRPr>
            </a:pPr>
            <a:r>
              <a:rPr sz="1000">
                <a:latin typeface="Bookman Old Style" panose="02050604050505020204" pitchFamily="18" charset="0"/>
              </a:rPr>
              <a:t>Result: Cereal -&gt; 36 Obs (Avg Sev: 3.57)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3" y="1463040"/>
            <a:ext cx="2084831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98063" y="1463040"/>
            <a:ext cx="2084831" cy="502920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Bookman Old Style" panose="02050604050505020204" pitchFamily="18" charset="0"/>
              </a:rPr>
              <a:t>True Drill-down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5" y="2011680"/>
            <a:ext cx="1938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2D6A4F"/>
                </a:solidFill>
                <a:latin typeface="Calibri"/>
              </a:defRPr>
            </a:pPr>
            <a:r>
              <a:rPr sz="1000">
                <a:latin typeface="Bookman Old Style" panose="02050604050505020204" pitchFamily="18" charset="0"/>
              </a:rPr>
              <a:t>Pathogen Type -&gt; Disease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7" y="2514600"/>
            <a:ext cx="19751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SELECT d.pathogen_type,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d.disease_name,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COUNT(f.observation_key) AS obs,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ROUND(AVG(f.lesion_severity_score),2)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AS avg_sev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FROM disease_observation_fact f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JOIN dim_disease d ON f.disease_key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= d.disease_key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GROUP BY d.pathogen_type,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d.disease_name;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5" y="5120640"/>
            <a:ext cx="19385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1A"/>
                </a:solidFill>
                <a:latin typeface="Calibri"/>
              </a:defRPr>
            </a:pPr>
            <a:r>
              <a:rPr sz="1000">
                <a:latin typeface="Bookman Old Style" panose="02050604050505020204" pitchFamily="18" charset="0"/>
              </a:rPr>
              <a:t>Result: Bacterial: 12 | Fungal: 24 (Brown Spot: 12, Leaf Smut: 12)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6" y="1463040"/>
            <a:ext cx="2084831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47486" y="1463040"/>
            <a:ext cx="2084831" cy="502920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Bookman Old Style" panose="02050604050505020204" pitchFamily="18" charset="0"/>
              </a:rPr>
              <a:t>Slice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38" y="2011680"/>
            <a:ext cx="19385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2D6A4F"/>
                </a:solidFill>
                <a:latin typeface="Calibri"/>
              </a:defRPr>
            </a:pPr>
            <a:r>
              <a:rPr sz="1000">
                <a:latin typeface="Bookman Old Style" panose="02050604050505020204" pitchFamily="18" charset="0"/>
              </a:rPr>
              <a:t>Crop = 'Rice'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0" y="2514600"/>
            <a:ext cx="19751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SELECT d.disease_name,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COUNT(f.observation_key)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FROM disease_observation_fact f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JOIN dim_crop c ON f.crop_key = c.crop_key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JOIN dim_disease d ON f.disease_key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= d.disease_key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WHERE LOWER(c.crop_name) = 'rice'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GROUP BY d.disease_name;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38" y="5120640"/>
            <a:ext cx="19385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1A"/>
                </a:solidFill>
                <a:latin typeface="Calibri"/>
              </a:defRPr>
            </a:pPr>
            <a:r>
              <a:rPr sz="1000">
                <a:latin typeface="Bookman Old Style" panose="02050604050505020204" pitchFamily="18" charset="0"/>
              </a:rPr>
              <a:t>Result: 2D Sub-Plane on Rice (36 Obs: 12 BLB, 12 BS, 12 LS)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09" y="1463040"/>
            <a:ext cx="2084831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296909" y="1463040"/>
            <a:ext cx="2084831" cy="502920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Bookman Old Style" panose="02050604050505020204" pitchFamily="18" charset="0"/>
              </a:rPr>
              <a:t>Dice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1" y="2011680"/>
            <a:ext cx="1938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2D6A4F"/>
                </a:solidFill>
                <a:latin typeface="Calibri"/>
              </a:defRPr>
            </a:pPr>
            <a:r>
              <a:rPr sz="1000">
                <a:latin typeface="Bookman Old Style" panose="02050604050505020204" pitchFamily="18" charset="0"/>
              </a:rPr>
              <a:t>Multi-Dimensional Sub-Cube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3" y="2514600"/>
            <a:ext cx="1975103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SELECT c.crop_name, d.disease_name,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COUNT(*)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FROM disease_observation_fact f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JOIN dim_crop c ON f.crop_key = c.crop_key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JOIN dim_disease d ON f.disease_key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= d.disease_key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JOIN dim_visual_feature vf ON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f.feature_key = vf.feature_key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WHERE c.crop_name = 'Rice' AND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  vf.glcm_contrast &gt;= 0.1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>
                <a:latin typeface="Bookman Old Style" panose="02050604050505020204" pitchFamily="18" charset="0"/>
              </a:rPr>
              <a:t>GROUP BY c.crop_name, d.disease_name;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1" y="5412462"/>
            <a:ext cx="19385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1A"/>
                </a:solidFill>
                <a:latin typeface="Calibri"/>
              </a:defRPr>
            </a:pPr>
            <a:r>
              <a:rPr sz="1000">
                <a:latin typeface="Bookman Old Style" panose="02050604050505020204" pitchFamily="18" charset="0"/>
              </a:rPr>
              <a:t>Result: 36 Obs meeting criteria (GLCM Contrast &gt;= 0.10)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46332" y="1463040"/>
            <a:ext cx="2084831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546332" y="1463040"/>
            <a:ext cx="2084831" cy="502920"/>
          </a:xfrm>
          <a:prstGeom prst="rect">
            <a:avLst/>
          </a:prstGeom>
          <a:solidFill>
            <a:srgbClr val="1B4332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Bookman Old Style" panose="02050604050505020204" pitchFamily="18" charset="0"/>
              </a:rPr>
              <a:t>Pivot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4" y="2011680"/>
            <a:ext cx="1938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2D6A4F"/>
                </a:solidFill>
                <a:latin typeface="Calibri"/>
              </a:defRPr>
            </a:pPr>
            <a:r>
              <a:rPr sz="1000">
                <a:latin typeface="Bookman Old Style" panose="02050604050505020204" pitchFamily="18" charset="0"/>
              </a:rPr>
              <a:t>Rows: Crop x Cols: Pathogen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6" y="2514600"/>
            <a:ext cx="1975103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SELECT </a:t>
            </a:r>
            <a:r>
              <a:rPr sz="1000" dirty="0" err="1">
                <a:latin typeface="Bookman Old Style" panose="02050604050505020204" pitchFamily="18" charset="0"/>
              </a:rPr>
              <a:t>c.crop_name</a:t>
            </a:r>
            <a:r>
              <a:rPr sz="1000" dirty="0">
                <a:latin typeface="Bookman Old Style" panose="02050604050505020204" pitchFamily="18" charset="0"/>
              </a:rPr>
              <a:t>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  SUM(CASE WHEN </a:t>
            </a:r>
            <a:r>
              <a:rPr sz="1000" dirty="0" err="1">
                <a:latin typeface="Bookman Old Style" panose="02050604050505020204" pitchFamily="18" charset="0"/>
              </a:rPr>
              <a:t>d.pathogen_type</a:t>
            </a:r>
            <a:endParaRPr sz="1000" dirty="0">
              <a:latin typeface="Bookman Old Style" panose="02050604050505020204" pitchFamily="18" charset="0"/>
            </a:endParaRP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    = 'Fungal' THEN 1 ELSE 0 END)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    AS Fungal,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  SUM(CASE WHEN </a:t>
            </a:r>
            <a:r>
              <a:rPr sz="1000" dirty="0" err="1">
                <a:latin typeface="Bookman Old Style" panose="02050604050505020204" pitchFamily="18" charset="0"/>
              </a:rPr>
              <a:t>d.pathogen_type</a:t>
            </a:r>
            <a:endParaRPr sz="1000" dirty="0">
              <a:latin typeface="Bookman Old Style" panose="02050604050505020204" pitchFamily="18" charset="0"/>
            </a:endParaRP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    = 'Bacterial' THEN 1 ELSE 0 END)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    AS Bacterial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FROM </a:t>
            </a:r>
            <a:r>
              <a:rPr sz="1000" dirty="0" err="1">
                <a:latin typeface="Bookman Old Style" panose="02050604050505020204" pitchFamily="18" charset="0"/>
              </a:rPr>
              <a:t>disease_observation_fact</a:t>
            </a:r>
            <a:r>
              <a:rPr sz="1000" dirty="0">
                <a:latin typeface="Bookman Old Style" panose="02050604050505020204" pitchFamily="18" charset="0"/>
              </a:rPr>
              <a:t> f</a:t>
            </a: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JOIN </a:t>
            </a:r>
            <a:r>
              <a:rPr sz="1000" dirty="0" err="1">
                <a:latin typeface="Bookman Old Style" panose="02050604050505020204" pitchFamily="18" charset="0"/>
              </a:rPr>
              <a:t>dim_crop</a:t>
            </a:r>
            <a:r>
              <a:rPr sz="1000" dirty="0">
                <a:latin typeface="Bookman Old Style" panose="02050604050505020204" pitchFamily="18" charset="0"/>
              </a:rPr>
              <a:t> c ON </a:t>
            </a:r>
            <a:r>
              <a:rPr sz="1000" dirty="0" err="1">
                <a:latin typeface="Bookman Old Style" panose="02050604050505020204" pitchFamily="18" charset="0"/>
              </a:rPr>
              <a:t>f.crop_key</a:t>
            </a:r>
            <a:r>
              <a:rPr sz="1000" dirty="0">
                <a:latin typeface="Bookman Old Style" panose="02050604050505020204" pitchFamily="18" charset="0"/>
              </a:rPr>
              <a:t> = </a:t>
            </a:r>
            <a:r>
              <a:rPr sz="1000" dirty="0" err="1">
                <a:latin typeface="Bookman Old Style" panose="02050604050505020204" pitchFamily="18" charset="0"/>
              </a:rPr>
              <a:t>c.crop_key</a:t>
            </a:r>
            <a:endParaRPr sz="1000" dirty="0">
              <a:latin typeface="Bookman Old Style" panose="02050604050505020204" pitchFamily="18" charset="0"/>
            </a:endParaRP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JOIN </a:t>
            </a:r>
            <a:r>
              <a:rPr sz="1000" dirty="0" err="1">
                <a:latin typeface="Bookman Old Style" panose="02050604050505020204" pitchFamily="18" charset="0"/>
              </a:rPr>
              <a:t>dim_disease</a:t>
            </a:r>
            <a:r>
              <a:rPr sz="1000" dirty="0">
                <a:latin typeface="Bookman Old Style" panose="02050604050505020204" pitchFamily="18" charset="0"/>
              </a:rPr>
              <a:t> d ON </a:t>
            </a:r>
            <a:r>
              <a:rPr sz="1000" dirty="0" err="1">
                <a:latin typeface="Bookman Old Style" panose="02050604050505020204" pitchFamily="18" charset="0"/>
              </a:rPr>
              <a:t>f.disease_key</a:t>
            </a:r>
            <a:endParaRPr sz="1000" dirty="0">
              <a:latin typeface="Bookman Old Style" panose="02050604050505020204" pitchFamily="18" charset="0"/>
            </a:endParaRP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  = </a:t>
            </a:r>
            <a:r>
              <a:rPr sz="1000" dirty="0" err="1">
                <a:latin typeface="Bookman Old Style" panose="02050604050505020204" pitchFamily="18" charset="0"/>
              </a:rPr>
              <a:t>d.disease_key</a:t>
            </a:r>
            <a:endParaRPr sz="1000" dirty="0">
              <a:latin typeface="Bookman Old Style" panose="02050604050505020204" pitchFamily="18" charset="0"/>
            </a:endParaRPr>
          </a:p>
          <a:p>
            <a:pPr>
              <a:defRPr sz="680">
                <a:solidFill>
                  <a:srgbClr val="212121"/>
                </a:solidFill>
                <a:latin typeface="Consolas"/>
              </a:defRPr>
            </a:pPr>
            <a:r>
              <a:rPr sz="1000" dirty="0">
                <a:latin typeface="Bookman Old Style" panose="02050604050505020204" pitchFamily="18" charset="0"/>
              </a:rPr>
              <a:t>GROUP BY </a:t>
            </a:r>
            <a:r>
              <a:rPr sz="1000" dirty="0" err="1">
                <a:latin typeface="Bookman Old Style" panose="02050604050505020204" pitchFamily="18" charset="0"/>
              </a:rPr>
              <a:t>c.crop_name</a:t>
            </a:r>
            <a:r>
              <a:rPr sz="1000" dirty="0">
                <a:latin typeface="Bookman Old Style" panose="02050604050505020204" pitchFamily="18" charset="0"/>
              </a:rPr>
              <a:t>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1681" y="5433565"/>
            <a:ext cx="19385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1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Result: Rice -&gt; Fungal: 24, Bacterial: 12, Total: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>
                <a:latin typeface="Bookman Old Style" panose="02050604050505020204" pitchFamily="18" charset="0"/>
              </a:rPr>
              <a:t>Actual OLAP Query Results from Physical Warehouse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761233"/>
              </p:ext>
            </p:extLst>
          </p:nvPr>
        </p:nvGraphicFramePr>
        <p:xfrm>
          <a:off x="548640" y="1463040"/>
          <a:ext cx="530352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Crop Category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 dirty="0">
                          <a:latin typeface="Bookman Old Style" panose="02050604050505020204" pitchFamily="18" charset="0"/>
                        </a:rPr>
                        <a:t>Total </a:t>
                      </a:r>
                      <a:r>
                        <a:rPr sz="1100" dirty="0" err="1">
                          <a:latin typeface="Bookman Old Style" panose="02050604050505020204" pitchFamily="18" charset="0"/>
                        </a:rPr>
                        <a:t>Obs</a:t>
                      </a:r>
                      <a:endParaRPr sz="11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Crops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Diseases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Avg Severity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Avg Contrast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Cereal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36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3.57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 dirty="0">
                          <a:latin typeface="Bookman Old Style" panose="02050604050505020204" pitchFamily="18" charset="0"/>
                        </a:rPr>
                        <a:t>0.3178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61220"/>
              </p:ext>
            </p:extLst>
          </p:nvPr>
        </p:nvGraphicFramePr>
        <p:xfrm>
          <a:off x="548640" y="2468880"/>
          <a:ext cx="5303520" cy="153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 dirty="0">
                          <a:latin typeface="Bookman Old Style" panose="02050604050505020204" pitchFamily="18" charset="0"/>
                        </a:rPr>
                        <a:t>Pathogen Type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Disease Diagnosis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Obs Count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Avg Severity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Avg Contrast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Bacterial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Bacterial Leaf Blight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3.67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0.2131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Fungal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Brown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3.94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0.5599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Fungal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Leaf Smut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3.11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 dirty="0">
                          <a:latin typeface="Bookman Old Style" panose="02050604050505020204" pitchFamily="18" charset="0"/>
                        </a:rPr>
                        <a:t>0.1804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72659"/>
              </p:ext>
            </p:extLst>
          </p:nvPr>
        </p:nvGraphicFramePr>
        <p:xfrm>
          <a:off x="548640" y="4128467"/>
          <a:ext cx="530352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 dirty="0">
                          <a:latin typeface="Bookman Old Style" panose="02050604050505020204" pitchFamily="18" charset="0"/>
                        </a:rPr>
                        <a:t>Crop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Category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Fungal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Bacterial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Viral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Healthy*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100" dirty="0">
                          <a:latin typeface="Bookman Old Style" panose="02050604050505020204" pitchFamily="18" charset="0"/>
                        </a:rPr>
                        <a:t>Total </a:t>
                      </a:r>
                      <a:r>
                        <a:rPr sz="1100" dirty="0" err="1">
                          <a:latin typeface="Bookman Old Style" panose="02050604050505020204" pitchFamily="18" charset="0"/>
                        </a:rPr>
                        <a:t>Obs</a:t>
                      </a:r>
                      <a:endParaRPr sz="1100" dirty="0">
                        <a:latin typeface="Bookman Old Style" panose="02050604050505020204" pitchFamily="18" charset="0"/>
                      </a:endParaRP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Rice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Cereal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>
                          <a:latin typeface="Bookman Old Style" panose="02050604050505020204" pitchFamily="18" charset="0"/>
                        </a:rPr>
                        <a:t>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1100" dirty="0">
                          <a:latin typeface="Bookman Old Style" panose="02050604050505020204" pitchFamily="18" charset="0"/>
                        </a:rPr>
                        <a:t>36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 rot="10800000" flipV="1">
            <a:off x="247650" y="5047268"/>
            <a:ext cx="59055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5A5A5A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*Healthy = 0 is intentional: the authentic ICAR research dataset comprises pathological specimens exclusively. HEALTHY is maintained in </a:t>
            </a:r>
            <a:r>
              <a:rPr sz="1000" dirty="0" err="1">
                <a:latin typeface="Bookman Old Style" panose="02050604050505020204" pitchFamily="18" charset="0"/>
              </a:rPr>
              <a:t>dim_disease</a:t>
            </a:r>
            <a:r>
              <a:rPr sz="1000" dirty="0">
                <a:latin typeface="Bookman Old Style" panose="02050604050505020204" pitchFamily="18" charset="0"/>
              </a:rPr>
              <a:t> as an unpopulated control baseline.</a:t>
            </a:r>
          </a:p>
        </p:txBody>
      </p:sp>
      <p:pic>
        <p:nvPicPr>
          <p:cNvPr id="7" name="Picture 6" descr="olap_vis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4709160"/>
            <a:ext cx="5577840" cy="133838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ookman Old Style" panose="0205060405050502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0" y="4754880"/>
            <a:ext cx="52120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D6A4F"/>
                </a:solidFill>
                <a:latin typeface="Calibri"/>
              </a:defRPr>
            </a:pPr>
            <a:r>
              <a:rPr sz="1400" dirty="0">
                <a:latin typeface="Bookman Old Style" panose="02050604050505020204" pitchFamily="18" charset="0"/>
              </a:rPr>
              <a:t>DIAGNOSTIC MULTI-DIMENSIONAL BREAKDOWN (DRILL-ACROSS)</a:t>
            </a:r>
          </a:p>
          <a:p>
            <a:pPr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Crosses dimensional boundaries: Crop Category -&gt; Crop -&gt; Disease -&gt; Dominant Visual Tone.</a:t>
            </a:r>
          </a:p>
          <a:p>
            <a:pPr>
              <a:defRPr sz="750">
                <a:solidFill>
                  <a:srgbClr val="212121"/>
                </a:solidFill>
                <a:latin typeface="Calibri"/>
              </a:defRPr>
            </a:pPr>
            <a:r>
              <a:rPr sz="1000" dirty="0">
                <a:latin typeface="Bookman Old Style" panose="02050604050505020204" pitchFamily="18" charset="0"/>
              </a:rPr>
              <a:t>Result: Brown Spot (11 Yellowish, 1 Brown) | Bacterial Blight (8 Yellowish, 4 Brown) | Leaf Smut (7 Brown, 5 Yellowish). Correlates foliar tone with pathogen kingdom.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>
              <a:defRPr sz="2400" b="1">
                <a:solidFill>
                  <a:srgbClr val="1B4332"/>
                </a:solidFill>
                <a:latin typeface="Georgia"/>
              </a:defRPr>
            </a:pPr>
            <a:r>
              <a:rPr dirty="0"/>
              <a:t>Dashboard Demonstration, Quality Audit</a:t>
            </a:r>
          </a:p>
        </p:txBody>
      </p:sp>
      <p:pic>
        <p:nvPicPr>
          <p:cNvPr id="3" name="Picture 2" descr="dashboard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852160" cy="4434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0" y="1463040"/>
            <a:ext cx="5029200" cy="4434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74C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0" y="1600200"/>
            <a:ext cx="46634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78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✓ Dataset Integrity: 36 authentic rice images verified</a:t>
            </a:r>
          </a:p>
          <a:p>
            <a:pPr>
              <a:lnSpc>
                <a:spcPct val="150000"/>
              </a:lnSpc>
              <a:defRPr sz="78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✓ Quality Gates: Corrupted, duplicate, tiny checks verified</a:t>
            </a:r>
          </a:p>
          <a:p>
            <a:pPr>
              <a:lnSpc>
                <a:spcPct val="150000"/>
              </a:lnSpc>
              <a:defRPr sz="78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✓ Feature Extraction: 34 descriptors in 44-column store</a:t>
            </a:r>
          </a:p>
          <a:p>
            <a:pPr>
              <a:lnSpc>
                <a:spcPct val="150000"/>
              </a:lnSpc>
              <a:defRPr sz="78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✓ Kimball Star Schema: 4 dimensions, 1 fact table deployed</a:t>
            </a:r>
          </a:p>
          <a:p>
            <a:pPr>
              <a:lnSpc>
                <a:spcPct val="150000"/>
              </a:lnSpc>
              <a:defRPr sz="78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✓ Database Integrity: Native SQLite PRAGMA </a:t>
            </a:r>
            <a:r>
              <a:rPr sz="1100" dirty="0" err="1">
                <a:latin typeface="Bookman Old Style" panose="02050604050505020204" pitchFamily="18" charset="0"/>
              </a:rPr>
              <a:t>foreign_keys</a:t>
            </a:r>
            <a:r>
              <a:rPr sz="1100" dirty="0">
                <a:latin typeface="Bookman Old Style" panose="02050604050505020204" pitchFamily="18" charset="0"/>
              </a:rPr>
              <a:t> = 1</a:t>
            </a:r>
          </a:p>
          <a:p>
            <a:pPr>
              <a:lnSpc>
                <a:spcPct val="150000"/>
              </a:lnSpc>
              <a:defRPr sz="78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✓ ETL Idempotency: 36 loaded Run 1, 0 inserted Run 2</a:t>
            </a:r>
          </a:p>
          <a:p>
            <a:pPr>
              <a:lnSpc>
                <a:spcPct val="150000"/>
              </a:lnSpc>
              <a:defRPr sz="78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✓ SQL OLAP Engine: Roll-up, Drill-down, Slice, Dice, Pivot</a:t>
            </a:r>
          </a:p>
          <a:p>
            <a:pPr>
              <a:lnSpc>
                <a:spcPct val="150000"/>
              </a:lnSpc>
              <a:defRPr sz="780">
                <a:solidFill>
                  <a:srgbClr val="212121"/>
                </a:solidFill>
                <a:latin typeface="Calibri"/>
              </a:defRPr>
            </a:pPr>
            <a:r>
              <a:rPr sz="1100" dirty="0">
                <a:latin typeface="Bookman Old Style" panose="02050604050505020204" pitchFamily="18" charset="0"/>
              </a:rPr>
              <a:t>✓ Interactive Dashboard: </a:t>
            </a:r>
            <a:r>
              <a:rPr sz="1100" dirty="0" err="1">
                <a:latin typeface="Bookman Old Style" panose="02050604050505020204" pitchFamily="18" charset="0"/>
              </a:rPr>
              <a:t>Streamlit</a:t>
            </a:r>
            <a:r>
              <a:rPr sz="1100" dirty="0">
                <a:latin typeface="Bookman Old Style" panose="02050604050505020204" pitchFamily="18" charset="0"/>
              </a:rPr>
              <a:t> HTTP 200 OK verified</a:t>
            </a:r>
          </a:p>
          <a:p>
            <a:br>
              <a:rPr dirty="0">
                <a:latin typeface="Bookman Old Style" panose="02050604050505020204" pitchFamily="18" charset="0"/>
              </a:rPr>
            </a:br>
            <a:r>
              <a:rPr dirty="0">
                <a:latin typeface="Bookman Old Style" panose="02050604050505020204" pitchFamily="18" charset="0"/>
              </a:rPr>
              <a:t>"</a:t>
            </a:r>
            <a:r>
              <a:rPr dirty="0" err="1">
                <a:latin typeface="Bookman Old Style" panose="02050604050505020204" pitchFamily="18" charset="0"/>
              </a:rPr>
              <a:t>AgroVision</a:t>
            </a:r>
            <a:r>
              <a:rPr dirty="0">
                <a:latin typeface="Bookman Old Style" panose="02050604050505020204" pitchFamily="18" charset="0"/>
              </a:rPr>
              <a:t>-Mine transforms agricultural image observations from classification inputs into multidimensional analytical knowledge."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WDM Lab BW">
  <a:themeElements>
    <a:clrScheme name="DWDM Lab BW">
      <a:dk1>
        <a:srgbClr val="000000"/>
      </a:dk1>
      <a:lt1>
        <a:srgbClr val="FFFFFF"/>
      </a:lt1>
      <a:dk2>
        <a:srgbClr val="111111"/>
      </a:dk2>
      <a:lt2>
        <a:srgbClr val="F2F2F2"/>
      </a:lt2>
      <a:accent1>
        <a:srgbClr val="1A1A1A"/>
      </a:accent1>
      <a:accent2>
        <a:srgbClr val="4D4D4D"/>
      </a:accent2>
      <a:accent3>
        <a:srgbClr val="333333"/>
      </a:accent3>
      <a:accent4>
        <a:srgbClr val="666666"/>
      </a:accent4>
      <a:accent5>
        <a:srgbClr val="737373"/>
      </a:accent5>
      <a:accent6>
        <a:srgbClr val="595959"/>
      </a:accent6>
      <a:hlink>
        <a:srgbClr val="000000"/>
      </a:hlink>
      <a:folHlink>
        <a:srgbClr val="595959"/>
      </a:folHlink>
    </a:clrScheme>
    <a:fontScheme name="DWDM Lab BW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3284</Words>
  <Application>Microsoft Office PowerPoint</Application>
  <PresentationFormat>Widescreen</PresentationFormat>
  <Paragraphs>329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Bookman Old Style</vt:lpstr>
      <vt:lpstr>Calibri</vt:lpstr>
      <vt:lpstr>DWDM Lab BW</vt:lpstr>
      <vt:lpstr>PowerPoint Presentation</vt:lpstr>
      <vt:lpstr>Research Motivation: The Agricultural Data Gap</vt:lpstr>
      <vt:lpstr>Project Objectives &amp; Multimodal Pipeline Flow</vt:lpstr>
      <vt:lpstr>Dataset Description &amp; Agronomic Taxonomy</vt:lpstr>
      <vt:lpstr>Image Preprocessing &amp; Quality Gate Verification</vt:lpstr>
      <vt:lpstr>Visual Feature Extraction &amp; Attribute Summary</vt:lpstr>
      <vt:lpstr>Multimodal Data Warehouse - Star Schema Topology</vt:lpstr>
      <vt:lpstr>Warehouse Design &amp; Production ETL Architecture</vt:lpstr>
      <vt:lpstr>Code: Creating the Warehouse (ANSI SQL DDL)</vt:lpstr>
      <vt:lpstr>Code: Production ETL Pipeline (Python &amp; SQLAlchemy)</vt:lpstr>
      <vt:lpstr>SQL-Backed OLAP Operations Engine</vt:lpstr>
      <vt:lpstr>Actual OLAP Query Results from Physical Warehouse</vt:lpstr>
      <vt:lpstr>Dashboard Demonstration, Quality Audit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DWDM Lab Project Template</dc:title>
  <dc:subject>PptxGenJS Presentation</dc:subject>
  <dc:creator>PptxGenJS</dc:creator>
  <cp:lastModifiedBy>AJAY M</cp:lastModifiedBy>
  <cp:revision>3</cp:revision>
  <dcterms:created xsi:type="dcterms:W3CDTF">2026-10-05T17:32:32Z</dcterms:created>
  <dcterms:modified xsi:type="dcterms:W3CDTF">2026-10-06T05:02:21Z</dcterms:modified>
</cp:coreProperties>
</file>