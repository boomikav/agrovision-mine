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5B5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2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914400"/>
            <a:ext cx="9997135" cy="50292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463040" y="1371600"/>
            <a:ext cx="137160" cy="201168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37360" y="1280160"/>
            <a:ext cx="8961120" cy="2103120"/>
          </a:xfrm>
          <a:prstGeom prst="rect">
            <a:avLst/>
          </a:prstGeom>
          <a:noFill/>
        </p:spPr>
        <p:txBody>
          <a:bodyPr wrap="square">
            <a:spAutoFit/>
          </a:bodyPr>
          <a:lstStyle/>
          <a:p>
            <a:pPr>
              <a:spcAft>
                <a:spcPts val="800"/>
              </a:spcAft>
              <a:defRPr sz="3600" b="1">
                <a:solidFill>
                  <a:srgbClr val="1B4332"/>
                </a:solidFill>
                <a:latin typeface="Bookman Old Style"/>
              </a:defRPr>
            </a:pPr>
            <a:r>
              <a:t>AgroVision-Mine</a:t>
            </a:r>
          </a:p>
          <a:p>
            <a:pPr>
              <a:spcAft>
                <a:spcPts val="1200"/>
              </a:spcAft>
              <a:defRPr sz="1700">
                <a:solidFill>
                  <a:srgbClr val="2D6A4F"/>
                </a:solidFill>
                <a:latin typeface="Bookman Old Style"/>
              </a:defRPr>
            </a:pPr>
            <a:r>
              <a:t>A Multimodal Data Warehouse and Visual Pattern Mining Framework</a:t>
            </a:r>
            <a:br/>
            <a:r>
              <a:t>for Crop Disease and Pest Intelligence</a:t>
            </a:r>
          </a:p>
          <a:p>
            <a:pPr>
              <a:defRPr sz="1200" b="1">
                <a:solidFill>
                  <a:srgbClr val="B45309"/>
                </a:solidFill>
                <a:latin typeface="Bookman Old Style"/>
              </a:defRPr>
            </a:pPr>
            <a:r>
              <a:t>DATA WAREHOUSING &amp; DATA MINING (CSI3010) — FINAL LAB PROJECT REVIEW</a:t>
            </a:r>
          </a:p>
        </p:txBody>
      </p:sp>
      <p:sp>
        <p:nvSpPr>
          <p:cNvPr id="6" name="Rounded Rectangle 5"/>
          <p:cNvSpPr/>
          <p:nvPr/>
        </p:nvSpPr>
        <p:spPr>
          <a:xfrm>
            <a:off x="1463040" y="3566160"/>
            <a:ext cx="9265615" cy="20116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37360" y="3703320"/>
            <a:ext cx="8686800" cy="1737360"/>
          </a:xfrm>
          <a:prstGeom prst="rect">
            <a:avLst/>
          </a:prstGeom>
          <a:noFill/>
        </p:spPr>
        <p:txBody>
          <a:bodyPr wrap="square">
            <a:spAutoFit/>
          </a:bodyPr>
          <a:lstStyle/>
          <a:p>
            <a:pPr>
              <a:spcAft>
                <a:spcPts val="800"/>
              </a:spcAft>
              <a:defRPr sz="1300" b="1">
                <a:solidFill>
                  <a:srgbClr val="1B4332"/>
                </a:solidFill>
                <a:latin typeface="Bookman Old Style"/>
              </a:defRPr>
            </a:pPr>
            <a:r>
              <a:t>PROJECT TEAM DETAILS &amp; ACADEMIC SUPERVISION</a:t>
            </a:r>
          </a:p>
          <a:p>
            <a:pPr>
              <a:spcAft>
                <a:spcPts val="600"/>
              </a:spcAft>
              <a:defRPr sz="1350" b="1">
                <a:solidFill>
                  <a:srgbClr val="1A1A1A"/>
                </a:solidFill>
                <a:latin typeface="Bookman Old Style"/>
              </a:defRPr>
            </a:pPr>
            <a:r>
              <a:t>• Team Members:  Boomika V (23MID0326)   |   Ajay M (23MID0020)</a:t>
            </a:r>
          </a:p>
          <a:p>
            <a:pPr>
              <a:spcAft>
                <a:spcPts val="600"/>
              </a:spcAft>
              <a:defRPr sz="1250">
                <a:solidFill>
                  <a:srgbClr val="2D6A4F"/>
                </a:solidFill>
                <a:latin typeface="Bookman Old Style"/>
              </a:defRPr>
            </a:pPr>
            <a:r>
              <a:t>• Faculty Guide:  Dr. Devipriya A      • Lab Slot:  L41 + L42      • Academic Term:  Fall 2026-27</a:t>
            </a:r>
          </a:p>
          <a:p>
            <a:pPr>
              <a:defRPr sz="1150">
                <a:solidFill>
                  <a:srgbClr val="5A646E"/>
                </a:solidFill>
                <a:latin typeface="Bookman Old Style"/>
              </a:defRPr>
            </a:pPr>
            <a:r>
              <a:t>• Department:  School of Computer Science and Engineering (SCOPE), VIT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69277"/>
          </a:xfrm>
          <a:prstGeom prst="rect">
            <a:avLst/>
          </a:prstGeom>
          <a:noFill/>
        </p:spPr>
        <p:txBody>
          <a:bodyPr wrap="square" lIns="0" tIns="0" rIns="0" bIns="0">
            <a:spAutoFit/>
          </a:bodyPr>
          <a:lstStyle/>
          <a:p>
            <a:pPr>
              <a:defRPr sz="1100" b="1">
                <a:solidFill>
                  <a:srgbClr val="2D6A4F"/>
                </a:solidFill>
                <a:latin typeface="Bookman Old Style"/>
              </a:defRPr>
            </a:pPr>
            <a:r>
              <a:rPr>
                <a:latin typeface="Bookman Old Style" panose="02050604050505020204" pitchFamily="18" charset="0"/>
              </a:rPr>
              <a:t>CSI3010: DATA WAREHOUSING &amp; DATA MINING</a:t>
            </a:r>
          </a:p>
        </p:txBody>
      </p:sp>
      <p:sp>
        <p:nvSpPr>
          <p:cNvPr id="3" name="TextBox 2"/>
          <p:cNvSpPr txBox="1"/>
          <p:nvPr/>
        </p:nvSpPr>
        <p:spPr>
          <a:xfrm>
            <a:off x="731520" y="658368"/>
            <a:ext cx="10728655" cy="338554"/>
          </a:xfrm>
          <a:prstGeom prst="rect">
            <a:avLst/>
          </a:prstGeom>
          <a:noFill/>
        </p:spPr>
        <p:txBody>
          <a:bodyPr wrap="square" lIns="0" tIns="0" rIns="0" bIns="0">
            <a:spAutoFit/>
          </a:bodyPr>
          <a:lstStyle/>
          <a:p>
            <a:pPr>
              <a:defRPr sz="2200" b="1">
                <a:solidFill>
                  <a:srgbClr val="1B4332"/>
                </a:solidFill>
                <a:latin typeface="Bookman Old Style"/>
              </a:defRPr>
            </a:pPr>
            <a:r>
              <a:rPr>
                <a:latin typeface="Bookman Old Style" panose="02050604050505020204" pitchFamily="18" charset="0"/>
              </a:rPr>
              <a:t>Executive Summary: The Multimodal Analytical Bridge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5" name="TextBox 4"/>
          <p:cNvSpPr txBox="1"/>
          <p:nvPr/>
        </p:nvSpPr>
        <p:spPr>
          <a:xfrm>
            <a:off x="731520" y="6446520"/>
            <a:ext cx="8229600" cy="146194"/>
          </a:xfrm>
          <a:prstGeom prst="rect">
            <a:avLst/>
          </a:prstGeom>
          <a:noFill/>
        </p:spPr>
        <p:txBody>
          <a:bodyPr wrap="square" lIns="0" tIns="0" rIns="0" bIns="0">
            <a:spAutoFit/>
          </a:bodyPr>
          <a:lstStyle/>
          <a:p>
            <a:pPr>
              <a:defRPr sz="950">
                <a:solidFill>
                  <a:srgbClr val="5A646E"/>
                </a:solidFill>
                <a:latin typeface="Bookman Old Style"/>
              </a:defRPr>
            </a:pPr>
            <a:r>
              <a:rPr>
                <a:latin typeface="Bookman Old Style" panose="02050604050505020204" pitchFamily="18" charset="0"/>
              </a:rPr>
              <a:t>AgroVision-Mine: Multimodal Data Warehouse &amp; Visual Pattern Mining Framework</a:t>
            </a:r>
          </a:p>
        </p:txBody>
      </p:sp>
      <p:sp>
        <p:nvSpPr>
          <p:cNvPr id="6" name="TextBox 5"/>
          <p:cNvSpPr txBox="1"/>
          <p:nvPr/>
        </p:nvSpPr>
        <p:spPr>
          <a:xfrm>
            <a:off x="9601200" y="6446520"/>
            <a:ext cx="1858975" cy="146194"/>
          </a:xfrm>
          <a:prstGeom prst="rect">
            <a:avLst/>
          </a:prstGeom>
          <a:noFill/>
        </p:spPr>
        <p:txBody>
          <a:bodyPr wrap="square" lIns="0" tIns="0" rIns="0" bIns="0">
            <a:spAutoFit/>
          </a:bodyPr>
          <a:lstStyle/>
          <a:p>
            <a:pPr algn="r">
              <a:defRPr sz="950" b="1">
                <a:solidFill>
                  <a:srgbClr val="2D6A4F"/>
                </a:solidFill>
                <a:latin typeface="Bookman Old Style"/>
              </a:defRPr>
            </a:pPr>
            <a:r>
              <a:rPr>
                <a:latin typeface="Bookman Old Style" panose="02050604050505020204" pitchFamily="18" charset="0"/>
              </a:rPr>
              <a:t>2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8" name="TextBox 7"/>
          <p:cNvSpPr txBox="1"/>
          <p:nvPr/>
        </p:nvSpPr>
        <p:spPr>
          <a:xfrm>
            <a:off x="914400" y="1554480"/>
            <a:ext cx="4846320" cy="4052391"/>
          </a:xfrm>
          <a:prstGeom prst="rect">
            <a:avLst/>
          </a:prstGeom>
          <a:noFill/>
        </p:spPr>
        <p:txBody>
          <a:bodyPr wrap="square">
            <a:spAutoFit/>
          </a:bodyPr>
          <a:lstStyle/>
          <a:p>
            <a:pPr>
              <a:spcAft>
                <a:spcPts val="1000"/>
              </a:spcAft>
              <a:defRPr sz="1300" b="1">
                <a:solidFill>
                  <a:srgbClr val="1B4332"/>
                </a:solidFill>
                <a:latin typeface="Bookman Old Style"/>
              </a:defRPr>
            </a:pPr>
            <a:r>
              <a:rPr dirty="0">
                <a:latin typeface="Bookman Old Style" panose="02050604050505020204" pitchFamily="18" charset="0"/>
              </a:rPr>
              <a:t>CORE CHALLENGE &amp; IMPLEMENTED WORK</a:t>
            </a:r>
          </a:p>
          <a:p>
            <a:pPr>
              <a:spcAft>
                <a:spcPts val="600"/>
              </a:spcAft>
            </a:pPr>
            <a:r>
              <a:rPr sz="1200" b="1" dirty="0">
                <a:solidFill>
                  <a:srgbClr val="1B4332"/>
                </a:solidFill>
                <a:latin typeface="Bookman Old Style" panose="02050604050505020204" pitchFamily="18" charset="0"/>
              </a:rPr>
              <a:t>• Agricultural Data Fragmentation: </a:t>
            </a:r>
            <a:r>
              <a:rPr sz="1200" dirty="0">
                <a:solidFill>
                  <a:srgbClr val="1A1A1A"/>
                </a:solidFill>
                <a:latin typeface="Bookman Old Style" panose="02050604050505020204" pitchFamily="18" charset="0"/>
              </a:rPr>
              <a:t>Standard foliar image datasets reside in disconnected flat folders, lacking multidimensional taxonomy, referential integrity, and verifiable quality controls.</a:t>
            </a:r>
          </a:p>
          <a:p>
            <a:pPr>
              <a:spcAft>
                <a:spcPts val="600"/>
              </a:spcAft>
            </a:pPr>
            <a:r>
              <a:rPr sz="1200" b="1" dirty="0">
                <a:solidFill>
                  <a:srgbClr val="1B4332"/>
                </a:solidFill>
                <a:latin typeface="Bookman Old Style" panose="02050604050505020204" pitchFamily="18" charset="0"/>
              </a:rPr>
              <a:t>• Multimodal Data Warehousing: </a:t>
            </a:r>
            <a:r>
              <a:rPr sz="1200" dirty="0">
                <a:solidFill>
                  <a:srgbClr val="1A1A1A"/>
                </a:solidFill>
                <a:latin typeface="Bookman Old Style" panose="02050604050505020204" pitchFamily="18" charset="0"/>
              </a:rPr>
              <a:t>Engineered Ralph Kimball's Star Schema in SQLite with 1 Fact table and 4 Dimensions, enabling SQL-backed OLAP aggregation across 2,596 authentic specimens.</a:t>
            </a:r>
          </a:p>
          <a:p>
            <a:pPr>
              <a:spcAft>
                <a:spcPts val="600"/>
              </a:spcAft>
            </a:pPr>
            <a:r>
              <a:rPr sz="1200" b="1" dirty="0">
                <a:solidFill>
                  <a:srgbClr val="1B4332"/>
                </a:solidFill>
                <a:latin typeface="Bookman Old Style" panose="02050604050505020204" pitchFamily="18" charset="0"/>
              </a:rPr>
              <a:t>• Explainable Feature Engineering: </a:t>
            </a:r>
            <a:r>
              <a:rPr sz="1200" dirty="0">
                <a:solidFill>
                  <a:srgbClr val="1A1A1A"/>
                </a:solidFill>
                <a:latin typeface="Bookman Old Style" panose="02050604050505020204" pitchFamily="18" charset="0"/>
              </a:rPr>
              <a:t>Extracted 32 continuous morphological, textural (GLCM), and color moment descriptors into a 44-column feature store.</a:t>
            </a:r>
          </a:p>
          <a:p>
            <a:pPr>
              <a:spcAft>
                <a:spcPts val="600"/>
              </a:spcAft>
            </a:pPr>
            <a:r>
              <a:rPr sz="1200" b="1" dirty="0">
                <a:solidFill>
                  <a:srgbClr val="1B4332"/>
                </a:solidFill>
                <a:latin typeface="Bookman Old Style" panose="02050604050505020204" pitchFamily="18" charset="0"/>
              </a:rPr>
              <a:t>• Unsupervised Visual Mining: </a:t>
            </a:r>
            <a:r>
              <a:rPr sz="1200" dirty="0">
                <a:solidFill>
                  <a:srgbClr val="1A1A1A"/>
                </a:solidFill>
                <a:latin typeface="Bookman Old Style" panose="02050604050505020204" pitchFamily="18" charset="0"/>
              </a:rPr>
              <a:t>Fitted K-Means clustering (K=2 metric-supported, K=4 exploratory) and mined 880 visual association rules via </a:t>
            </a:r>
            <a:r>
              <a:rPr sz="1200" dirty="0" err="1">
                <a:solidFill>
                  <a:srgbClr val="1A1A1A"/>
                </a:solidFill>
                <a:latin typeface="Bookman Old Style" panose="02050604050505020204" pitchFamily="18" charset="0"/>
              </a:rPr>
              <a:t>Apriori</a:t>
            </a:r>
            <a:r>
              <a:rPr sz="1200" dirty="0">
                <a:solidFill>
                  <a:srgbClr val="1A1A1A"/>
                </a:solidFill>
                <a:latin typeface="Bookman Old Style" panose="02050604050505020204" pitchFamily="18" charset="0"/>
              </a:rPr>
              <a:t> and FP-Growth.</a:t>
            </a:r>
          </a:p>
          <a:p>
            <a:pPr>
              <a:spcAft>
                <a:spcPts val="600"/>
              </a:spcAft>
            </a:pPr>
            <a:r>
              <a:rPr sz="1200" b="1" dirty="0">
                <a:solidFill>
                  <a:srgbClr val="1B4332"/>
                </a:solidFill>
                <a:latin typeface="Bookman Old Style" panose="02050604050505020204" pitchFamily="18" charset="0"/>
              </a:rPr>
              <a:t>• Scientific Verification: </a:t>
            </a:r>
            <a:r>
              <a:rPr sz="1200" dirty="0">
                <a:solidFill>
                  <a:srgbClr val="1A1A1A"/>
                </a:solidFill>
                <a:latin typeface="Bookman Old Style" panose="02050604050505020204" pitchFamily="18" charset="0"/>
              </a:rPr>
              <a:t>104 automated tests (94 unit/integration + 10 Playwright browser tests across all 9 pages) pass with 100% cryptographic dataset hash invariance.</a:t>
            </a:r>
          </a:p>
        </p:txBody>
      </p:sp>
      <p:sp>
        <p:nvSpPr>
          <p:cNvPr id="9" name="Rounded Rectangle 8"/>
          <p:cNvSpPr/>
          <p:nvPr/>
        </p:nvSpPr>
        <p:spPr>
          <a:xfrm>
            <a:off x="6217920" y="1371600"/>
            <a:ext cx="5242255" cy="29260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10" name="TextBox 9"/>
          <p:cNvSpPr txBox="1"/>
          <p:nvPr/>
        </p:nvSpPr>
        <p:spPr>
          <a:xfrm>
            <a:off x="6400800" y="1554480"/>
            <a:ext cx="4876495" cy="2492990"/>
          </a:xfrm>
          <a:prstGeom prst="rect">
            <a:avLst/>
          </a:prstGeom>
          <a:noFill/>
        </p:spPr>
        <p:txBody>
          <a:bodyPr wrap="square">
            <a:spAutoFit/>
          </a:bodyPr>
          <a:lstStyle/>
          <a:p>
            <a:r>
              <a:rPr sz="1200" b="1" dirty="0">
                <a:solidFill>
                  <a:srgbClr val="475B53"/>
                </a:solidFill>
                <a:latin typeface="Bookman Old Style" panose="02050604050505020204" pitchFamily="18" charset="0"/>
              </a:rPr>
              <a:t>VERIFIED SYSTEM ARCHITECTURE OUTPUTS</a:t>
            </a:r>
            <a:endParaRPr lang="en-US" sz="1200" b="1" dirty="0">
              <a:solidFill>
                <a:srgbClr val="475B53"/>
              </a:solidFill>
              <a:latin typeface="Bookman Old Style" panose="02050604050505020204" pitchFamily="18" charset="0"/>
            </a:endParaRPr>
          </a:p>
          <a:p>
            <a:endParaRPr sz="1200" b="1" dirty="0">
              <a:solidFill>
                <a:srgbClr val="475B53"/>
              </a:solidFill>
              <a:latin typeface="Bookman Old Style" panose="02050604050505020204" pitchFamily="18" charset="0"/>
            </a:endParaRPr>
          </a:p>
          <a:p>
            <a:r>
              <a:rPr sz="1200" dirty="0">
                <a:latin typeface="Bookman Old Style" panose="02050604050505020204" pitchFamily="18" charset="0"/>
              </a:rPr>
              <a:t>• </a:t>
            </a:r>
            <a:r>
              <a:rPr sz="1200" b="1" dirty="0">
                <a:solidFill>
                  <a:srgbClr val="475B53"/>
                </a:solidFill>
                <a:latin typeface="Bookman Old Style" panose="02050604050505020204" pitchFamily="18" charset="0"/>
              </a:rPr>
              <a:t>Frozen Canonical Dataset: </a:t>
            </a:r>
            <a:r>
              <a:rPr sz="1200" dirty="0">
                <a:latin typeface="Bookman Old Style" panose="02050604050505020204" pitchFamily="18" charset="0"/>
              </a:rPr>
              <a:t>2,596 authentic images across 14 crops (1,750 diseased, 846 healthy; </a:t>
            </a:r>
            <a:r>
              <a:rPr sz="1200" dirty="0" err="1">
                <a:latin typeface="Bookman Old Style" panose="02050604050505020204" pitchFamily="18" charset="0"/>
              </a:rPr>
              <a:t>PlantDoc</a:t>
            </a:r>
            <a:r>
              <a:rPr sz="1200" dirty="0">
                <a:latin typeface="Bookman Old Style" panose="02050604050505020204" pitchFamily="18" charset="0"/>
              </a:rPr>
              <a:t>: 2,560, ICAR/OGD: 36).</a:t>
            </a:r>
            <a:endParaRPr lang="en-US" sz="1200" dirty="0">
              <a:latin typeface="Bookman Old Style" panose="02050604050505020204" pitchFamily="18" charset="0"/>
            </a:endParaRPr>
          </a:p>
          <a:p>
            <a:endParaRPr sz="1200" dirty="0">
              <a:latin typeface="Bookman Old Style" panose="02050604050505020204" pitchFamily="18" charset="0"/>
            </a:endParaRPr>
          </a:p>
          <a:p>
            <a:r>
              <a:rPr sz="1200" dirty="0">
                <a:latin typeface="Bookman Old Style" panose="02050604050505020204" pitchFamily="18" charset="0"/>
              </a:rPr>
              <a:t>• </a:t>
            </a:r>
            <a:r>
              <a:rPr sz="1200" b="1" dirty="0">
                <a:solidFill>
                  <a:srgbClr val="475B53"/>
                </a:solidFill>
                <a:latin typeface="Bookman Old Style" panose="02050604050505020204" pitchFamily="18" charset="0"/>
              </a:rPr>
              <a:t>Dimensional OLAP Engine: </a:t>
            </a:r>
            <a:r>
              <a:rPr sz="1200" dirty="0">
                <a:latin typeface="Bookman Old Style" panose="02050604050505020204" pitchFamily="18" charset="0"/>
              </a:rPr>
              <a:t>Roll-up, Drill-down, Slice, Dice, and Pivot queries executed in 1.5 </a:t>
            </a:r>
            <a:r>
              <a:rPr sz="1200" dirty="0" err="1">
                <a:latin typeface="Bookman Old Style" panose="02050604050505020204" pitchFamily="18" charset="0"/>
              </a:rPr>
              <a:t>ms</a:t>
            </a:r>
            <a:r>
              <a:rPr sz="1200" dirty="0">
                <a:latin typeface="Bookman Old Style" panose="02050604050505020204" pitchFamily="18" charset="0"/>
              </a:rPr>
              <a:t> – 14.1 </a:t>
            </a:r>
            <a:r>
              <a:rPr sz="1200" dirty="0" err="1">
                <a:latin typeface="Bookman Old Style" panose="02050604050505020204" pitchFamily="18" charset="0"/>
              </a:rPr>
              <a:t>ms</a:t>
            </a:r>
            <a:r>
              <a:rPr sz="1200" dirty="0">
                <a:latin typeface="Bookman Old Style" panose="02050604050505020204" pitchFamily="18" charset="0"/>
              </a:rPr>
              <a:t> via parameterized SQL.</a:t>
            </a:r>
            <a:endParaRPr lang="en-US" sz="1200" dirty="0">
              <a:latin typeface="Bookman Old Style" panose="02050604050505020204" pitchFamily="18" charset="0"/>
            </a:endParaRPr>
          </a:p>
          <a:p>
            <a:endParaRPr sz="1200" dirty="0">
              <a:latin typeface="Bookman Old Style" panose="02050604050505020204" pitchFamily="18" charset="0"/>
            </a:endParaRPr>
          </a:p>
          <a:p>
            <a:r>
              <a:rPr sz="1200" dirty="0">
                <a:latin typeface="Bookman Old Style" panose="02050604050505020204" pitchFamily="18" charset="0"/>
              </a:rPr>
              <a:t>• </a:t>
            </a:r>
            <a:r>
              <a:rPr sz="1200" b="1" dirty="0">
                <a:solidFill>
                  <a:srgbClr val="475B53"/>
                </a:solidFill>
                <a:latin typeface="Bookman Old Style" panose="02050604050505020204" pitchFamily="18" charset="0"/>
              </a:rPr>
              <a:t>Interactive Web Workbench: </a:t>
            </a:r>
            <a:r>
              <a:rPr sz="1200" dirty="0">
                <a:latin typeface="Bookman Old Style" panose="02050604050505020204" pitchFamily="18" charset="0"/>
              </a:rPr>
              <a:t>Production React 18 + TypeScript GUI + </a:t>
            </a:r>
            <a:r>
              <a:rPr sz="1200" dirty="0" err="1">
                <a:latin typeface="Bookman Old Style" panose="02050604050505020204" pitchFamily="18" charset="0"/>
              </a:rPr>
              <a:t>FastAPI</a:t>
            </a:r>
            <a:r>
              <a:rPr sz="1200" dirty="0">
                <a:latin typeface="Bookman Old Style" panose="02050604050505020204" pitchFamily="18" charset="0"/>
              </a:rPr>
              <a:t> asynchronous backend with live image similarity retrieval.</a:t>
            </a:r>
          </a:p>
        </p:txBody>
      </p:sp>
      <p:sp>
        <p:nvSpPr>
          <p:cNvPr id="11" name="Rounded Rectangle 10"/>
          <p:cNvSpPr/>
          <p:nvPr/>
        </p:nvSpPr>
        <p:spPr>
          <a:xfrm>
            <a:off x="6217920" y="4480560"/>
            <a:ext cx="5242255" cy="1645920"/>
          </a:xfrm>
          <a:prstGeom prst="roundRect">
            <a:avLst/>
          </a:prstGeom>
          <a:solidFill>
            <a:srgbClr val="D8F3DC"/>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12" name="TextBox 11"/>
          <p:cNvSpPr txBox="1"/>
          <p:nvPr/>
        </p:nvSpPr>
        <p:spPr>
          <a:xfrm>
            <a:off x="6400800" y="4617720"/>
            <a:ext cx="4876495" cy="1387559"/>
          </a:xfrm>
          <a:prstGeom prst="rect">
            <a:avLst/>
          </a:prstGeom>
          <a:noFill/>
        </p:spPr>
        <p:txBody>
          <a:bodyPr wrap="square">
            <a:spAutoFit/>
          </a:bodyPr>
          <a:lstStyle/>
          <a:p>
            <a:pPr>
              <a:spcAft>
                <a:spcPts val="400"/>
              </a:spcAft>
              <a:defRPr sz="1150" b="1">
                <a:solidFill>
                  <a:srgbClr val="1B4332"/>
                </a:solidFill>
                <a:latin typeface="Bookman Old Style"/>
              </a:defRPr>
            </a:pPr>
            <a:r>
              <a:rPr>
                <a:latin typeface="Bookman Old Style" panose="02050604050505020204" pitchFamily="18" charset="0"/>
              </a:rPr>
              <a:t>SCIENTIFIC POSITIONING &amp; METHODOLOGICAL BOUNDARY</a:t>
            </a:r>
          </a:p>
          <a:p>
            <a:pPr>
              <a:spcAft>
                <a:spcPts val="400"/>
              </a:spcAft>
            </a:pPr>
            <a:r>
              <a:rPr sz="1100" b="1">
                <a:solidFill>
                  <a:srgbClr val="1B4332"/>
                </a:solidFill>
                <a:latin typeface="Bookman Old Style" panose="02050604050505020204" pitchFamily="18" charset="0"/>
              </a:rPr>
              <a:t>• Exploratory Mining Only: </a:t>
            </a:r>
            <a:r>
              <a:rPr sz="1100">
                <a:solidFill>
                  <a:srgbClr val="1A1A1A"/>
                </a:solidFill>
                <a:latin typeface="Bookman Old Style" panose="02050604050505020204" pitchFamily="18" charset="0"/>
              </a:rPr>
              <a:t>The system provides visual pattern clustering and reference specimen retrieval. It does NOT claim automated biological disease diagnosis.</a:t>
            </a:r>
          </a:p>
          <a:p>
            <a:pPr>
              <a:spcAft>
                <a:spcPts val="0"/>
              </a:spcAft>
            </a:pPr>
            <a:r>
              <a:rPr sz="1100" b="1">
                <a:solidFill>
                  <a:srgbClr val="1B4332"/>
                </a:solidFill>
                <a:latin typeface="Bookman Old Style" panose="02050604050505020204" pitchFamily="18" charset="0"/>
              </a:rPr>
              <a:t>• Supervised Classification: </a:t>
            </a:r>
            <a:r>
              <a:rPr sz="1100">
                <a:solidFill>
                  <a:srgbClr val="1A1A1A"/>
                </a:solidFill>
                <a:latin typeface="Bookman Old Style" panose="02050604050505020204" pitchFamily="18" charset="0"/>
              </a:rPr>
              <a:t>Formally evaluated and rejected as unsupported due to single-condition crop confounding and class imbalance.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Research Motivation: The Agricultural Data Gap</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3 / 24</a:t>
            </a:r>
          </a:p>
        </p:txBody>
      </p:sp>
      <p:sp>
        <p:nvSpPr>
          <p:cNvPr id="7" name="Rounded Rectangle 6"/>
          <p:cNvSpPr/>
          <p:nvPr/>
        </p:nvSpPr>
        <p:spPr>
          <a:xfrm>
            <a:off x="731520" y="1371600"/>
            <a:ext cx="5212080" cy="38404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3474720"/>
          </a:xfrm>
          <a:prstGeom prst="rect">
            <a:avLst/>
          </a:prstGeom>
          <a:noFill/>
        </p:spPr>
        <p:txBody>
          <a:bodyPr wrap="square">
            <a:spAutoFit/>
          </a:bodyPr>
          <a:lstStyle/>
          <a:p>
            <a:pPr>
              <a:spcAft>
                <a:spcPts val="1000"/>
              </a:spcAft>
              <a:defRPr sz="1300" b="1">
                <a:solidFill>
                  <a:srgbClr val="1B4332"/>
                </a:solidFill>
                <a:latin typeface="Bookman Old Style"/>
              </a:defRPr>
            </a:pPr>
            <a:r>
              <a:t>LIMITATIONS OF CONVENTIONAL APPROACHES</a:t>
            </a:r>
          </a:p>
          <a:p>
            <a:pPr>
              <a:spcAft>
                <a:spcPts val="600"/>
              </a:spcAft>
            </a:pPr>
            <a:r>
              <a:rPr sz="1200" b="1">
                <a:solidFill>
                  <a:srgbClr val="1B4332"/>
                </a:solidFill>
                <a:latin typeface="Bookman Old Style"/>
              </a:rPr>
              <a:t>• Isolated Point Classifiers: </a:t>
            </a:r>
            <a:r>
              <a:rPr sz="1200">
                <a:solidFill>
                  <a:srgbClr val="1A1A1A"/>
                </a:solidFill>
                <a:latin typeface="Bookman Old Style"/>
              </a:rPr>
              <a:t>Standard deep learning (CNNs/YOLO) treats foliar images as single-image black boxes without historical lineage or multi-attribute queryability.</a:t>
            </a:r>
          </a:p>
          <a:p>
            <a:pPr>
              <a:spcAft>
                <a:spcPts val="600"/>
              </a:spcAft>
            </a:pPr>
            <a:r>
              <a:rPr sz="1200" b="1">
                <a:solidFill>
                  <a:srgbClr val="1B4332"/>
                </a:solidFill>
                <a:latin typeface="Bookman Old Style"/>
              </a:rPr>
              <a:t>• Metadata Fragmentation: </a:t>
            </a:r>
            <a:r>
              <a:rPr sz="1200">
                <a:solidFill>
                  <a:srgbClr val="1A1A1A"/>
                </a:solidFill>
                <a:latin typeface="Bookman Old Style"/>
              </a:rPr>
              <a:t>Agronomic taxonomy, host plant varieties, acquisition modalities, and disease stages are trapped in disparate CSVs or directory paths.</a:t>
            </a:r>
          </a:p>
          <a:p>
            <a:pPr>
              <a:spcAft>
                <a:spcPts val="600"/>
              </a:spcAft>
            </a:pPr>
            <a:r>
              <a:rPr sz="1200" b="1">
                <a:solidFill>
                  <a:srgbClr val="1B4332"/>
                </a:solidFill>
                <a:latin typeface="Bookman Old Style"/>
              </a:rPr>
              <a:t>• Absence of Quality Audits: </a:t>
            </a:r>
            <a:r>
              <a:rPr sz="1200">
                <a:solidFill>
                  <a:srgbClr val="1A1A1A"/>
                </a:solidFill>
                <a:latin typeface="Bookman Old Style"/>
              </a:rPr>
              <a:t>Raw web corpora contain duplicate files, corrupted image headers, and uncalibrated aspect ratios that distort feature models.</a:t>
            </a:r>
          </a:p>
          <a:p>
            <a:pPr>
              <a:spcAft>
                <a:spcPts val="600"/>
              </a:spcAft>
            </a:pPr>
            <a:r>
              <a:rPr sz="1200" b="1">
                <a:solidFill>
                  <a:srgbClr val="1B4332"/>
                </a:solidFill>
                <a:latin typeface="Bookman Old Style"/>
              </a:rPr>
              <a:t>• Lack of Dimensional Slicing: </a:t>
            </a:r>
            <a:r>
              <a:rPr sz="1200">
                <a:solidFill>
                  <a:srgbClr val="1A1A1A"/>
                </a:solidFill>
                <a:latin typeface="Bookman Old Style"/>
              </a:rPr>
              <a:t>Agronomists cannot perform multi-attribute SQL drill-downs (e.g., comparing fungal vs bacterial texture across crop types).</a:t>
            </a:r>
          </a:p>
        </p:txBody>
      </p:sp>
      <p:sp>
        <p:nvSpPr>
          <p:cNvPr id="9" name="Rounded Rectangle 8"/>
          <p:cNvSpPr/>
          <p:nvPr/>
        </p:nvSpPr>
        <p:spPr>
          <a:xfrm>
            <a:off x="6217920" y="1371600"/>
            <a:ext cx="5242255" cy="38404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3474720"/>
          </a:xfrm>
          <a:prstGeom prst="rect">
            <a:avLst/>
          </a:prstGeom>
          <a:noFill/>
        </p:spPr>
        <p:txBody>
          <a:bodyPr wrap="square">
            <a:spAutoFit/>
          </a:bodyPr>
          <a:lstStyle/>
          <a:p>
            <a:pPr>
              <a:spcAft>
                <a:spcPts val="1000"/>
              </a:spcAft>
              <a:defRPr sz="1300" b="1">
                <a:solidFill>
                  <a:srgbClr val="1B4332"/>
                </a:solidFill>
                <a:latin typeface="Bookman Old Style"/>
              </a:defRPr>
            </a:pPr>
            <a:r>
              <a:t>THE AGROVISION-MINE MULTIMODAL SOLUTION</a:t>
            </a:r>
          </a:p>
          <a:p>
            <a:pPr>
              <a:spcAft>
                <a:spcPts val="600"/>
              </a:spcAft>
            </a:pPr>
            <a:r>
              <a:rPr sz="1200" b="1">
                <a:solidFill>
                  <a:srgbClr val="1B4332"/>
                </a:solidFill>
                <a:latin typeface="Bookman Old Style"/>
              </a:rPr>
              <a:t>• Kimball Star-Schema Warehouse: </a:t>
            </a:r>
            <a:r>
              <a:rPr sz="1200">
                <a:solidFill>
                  <a:srgbClr val="1A1A1A"/>
                </a:solidFill>
                <a:latin typeface="Bookman Old Style"/>
              </a:rPr>
              <a:t>Integrates image technical metadata, botanical taxonomy, and visual metrics into a relational fact table with enforced foreign keys.</a:t>
            </a:r>
          </a:p>
          <a:p>
            <a:pPr>
              <a:spcAft>
                <a:spcPts val="600"/>
              </a:spcAft>
            </a:pPr>
            <a:r>
              <a:rPr sz="1200" b="1">
                <a:solidFill>
                  <a:srgbClr val="1B4332"/>
                </a:solidFill>
                <a:latin typeface="Bookman Old Style"/>
              </a:rPr>
              <a:t>• Automated ETL Quality Gates: </a:t>
            </a:r>
            <a:r>
              <a:rPr sz="1200">
                <a:solidFill>
                  <a:srgbClr val="1A1A1A"/>
                </a:solidFill>
                <a:latin typeface="Bookman Old Style"/>
              </a:rPr>
              <a:t>Validates byte headers, eliminates duplicate records via MD5 hashing, and enforces 256x256 RGB normalization.</a:t>
            </a:r>
          </a:p>
          <a:p>
            <a:pPr>
              <a:spcAft>
                <a:spcPts val="600"/>
              </a:spcAft>
            </a:pPr>
            <a:r>
              <a:rPr sz="1200" b="1">
                <a:solidFill>
                  <a:srgbClr val="1B4332"/>
                </a:solidFill>
                <a:latin typeface="Bookman Old Style"/>
              </a:rPr>
              <a:t>• Explainable Computer Vision Descriptors: </a:t>
            </a:r>
            <a:r>
              <a:rPr sz="1200">
                <a:solidFill>
                  <a:srgbClr val="1A1A1A"/>
                </a:solidFill>
                <a:latin typeface="Bookman Old Style"/>
              </a:rPr>
              <a:t>Color moments, Haralick GLCM textures, and morphometry provide transparent physical features instead of opaque hidden weights.</a:t>
            </a:r>
          </a:p>
          <a:p>
            <a:pPr>
              <a:spcAft>
                <a:spcPts val="600"/>
              </a:spcAft>
            </a:pPr>
            <a:r>
              <a:rPr sz="1200" b="1">
                <a:solidFill>
                  <a:srgbClr val="1B4332"/>
                </a:solidFill>
                <a:latin typeface="Bookman Old Style"/>
              </a:rPr>
              <a:t>• Multi-Angle OLAP &amp; Association Mining: </a:t>
            </a:r>
            <a:r>
              <a:rPr sz="1200">
                <a:solidFill>
                  <a:srgbClr val="1A1A1A"/>
                </a:solidFill>
                <a:latin typeface="Bookman Old Style"/>
              </a:rPr>
              <a:t>Enables agronomists to slice observation cubes by host crop, disease severity, and textural co-occurrence patterns.</a:t>
            </a:r>
          </a:p>
        </p:txBody>
      </p:sp>
      <p:sp>
        <p:nvSpPr>
          <p:cNvPr id="11" name="Rounded Rectangle 10"/>
          <p:cNvSpPr/>
          <p:nvPr/>
        </p:nvSpPr>
        <p:spPr>
          <a:xfrm>
            <a:off x="731520" y="5394960"/>
            <a:ext cx="10728655" cy="822960"/>
          </a:xfrm>
          <a:prstGeom prst="round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440680"/>
            <a:ext cx="10362895" cy="731520"/>
          </a:xfrm>
          <a:prstGeom prst="rect">
            <a:avLst/>
          </a:prstGeom>
          <a:noFill/>
        </p:spPr>
        <p:txBody>
          <a:bodyPr wrap="square">
            <a:spAutoFit/>
          </a:bodyPr>
          <a:lstStyle/>
          <a:p>
            <a:pPr>
              <a:defRPr sz="1200" b="1">
                <a:solidFill>
                  <a:srgbClr val="FFFFFF"/>
                </a:solidFill>
                <a:latin typeface="Bookman Old Style"/>
              </a:defRPr>
            </a:pPr>
            <a:r>
              <a:t>CORE RESEARCH QUESTION: How can multimodal foliar observations and explainable visual features be integrated into an audited dimensional data warehouse to enable SQL OLAP analytics and unsupervised visual pattern discovery without misleading diagnostic overclaims?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69277"/>
          </a:xfrm>
          <a:prstGeom prst="rect">
            <a:avLst/>
          </a:prstGeom>
          <a:noFill/>
        </p:spPr>
        <p:txBody>
          <a:bodyPr wrap="square" lIns="0" tIns="0" rIns="0" bIns="0">
            <a:spAutoFit/>
          </a:bodyPr>
          <a:lstStyle/>
          <a:p>
            <a:pPr>
              <a:defRPr sz="1100" b="1">
                <a:solidFill>
                  <a:srgbClr val="2D6A4F"/>
                </a:solidFill>
                <a:latin typeface="Bookman Old Style"/>
              </a:defRPr>
            </a:pPr>
            <a:r>
              <a:rPr>
                <a:latin typeface="Bookman Old Style" panose="02050604050505020204" pitchFamily="18" charset="0"/>
              </a:rPr>
              <a:t>CSI3010: DATA WAREHOUSING &amp; DATA MINING</a:t>
            </a:r>
          </a:p>
        </p:txBody>
      </p:sp>
      <p:sp>
        <p:nvSpPr>
          <p:cNvPr id="3" name="TextBox 2"/>
          <p:cNvSpPr txBox="1"/>
          <p:nvPr/>
        </p:nvSpPr>
        <p:spPr>
          <a:xfrm>
            <a:off x="731520" y="658368"/>
            <a:ext cx="10728655" cy="338554"/>
          </a:xfrm>
          <a:prstGeom prst="rect">
            <a:avLst/>
          </a:prstGeom>
          <a:noFill/>
        </p:spPr>
        <p:txBody>
          <a:bodyPr wrap="square" lIns="0" tIns="0" rIns="0" bIns="0">
            <a:spAutoFit/>
          </a:bodyPr>
          <a:lstStyle/>
          <a:p>
            <a:pPr>
              <a:defRPr sz="2200" b="1">
                <a:solidFill>
                  <a:srgbClr val="1B4332"/>
                </a:solidFill>
                <a:latin typeface="Bookman Old Style"/>
              </a:defRPr>
            </a:pPr>
            <a:r>
              <a:rPr>
                <a:latin typeface="Bookman Old Style" panose="02050604050505020204" pitchFamily="18" charset="0"/>
              </a:rPr>
              <a:t>Project Objectives &amp; Implemented Deliverables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5" name="TextBox 4"/>
          <p:cNvSpPr txBox="1"/>
          <p:nvPr/>
        </p:nvSpPr>
        <p:spPr>
          <a:xfrm>
            <a:off x="731520" y="6446520"/>
            <a:ext cx="8229600" cy="146194"/>
          </a:xfrm>
          <a:prstGeom prst="rect">
            <a:avLst/>
          </a:prstGeom>
          <a:noFill/>
        </p:spPr>
        <p:txBody>
          <a:bodyPr wrap="square" lIns="0" tIns="0" rIns="0" bIns="0">
            <a:spAutoFit/>
          </a:bodyPr>
          <a:lstStyle/>
          <a:p>
            <a:pPr>
              <a:defRPr sz="950">
                <a:solidFill>
                  <a:srgbClr val="5A646E"/>
                </a:solidFill>
                <a:latin typeface="Bookman Old Style"/>
              </a:defRPr>
            </a:pPr>
            <a:r>
              <a:rPr>
                <a:latin typeface="Bookman Old Style" panose="02050604050505020204" pitchFamily="18" charset="0"/>
              </a:rPr>
              <a:t>AgroVision-Mine: Multimodal Data Warehouse &amp; Visual Pattern Mining Framework</a:t>
            </a:r>
          </a:p>
        </p:txBody>
      </p:sp>
      <p:sp>
        <p:nvSpPr>
          <p:cNvPr id="6" name="TextBox 5"/>
          <p:cNvSpPr txBox="1"/>
          <p:nvPr/>
        </p:nvSpPr>
        <p:spPr>
          <a:xfrm>
            <a:off x="9601200" y="6446520"/>
            <a:ext cx="1858975" cy="146194"/>
          </a:xfrm>
          <a:prstGeom prst="rect">
            <a:avLst/>
          </a:prstGeom>
          <a:noFill/>
        </p:spPr>
        <p:txBody>
          <a:bodyPr wrap="square" lIns="0" tIns="0" rIns="0" bIns="0">
            <a:spAutoFit/>
          </a:bodyPr>
          <a:lstStyle/>
          <a:p>
            <a:pPr algn="r">
              <a:defRPr sz="950" b="1">
                <a:solidFill>
                  <a:srgbClr val="2D6A4F"/>
                </a:solidFill>
                <a:latin typeface="Bookman Old Style"/>
              </a:defRPr>
            </a:pPr>
            <a:r>
              <a:rPr>
                <a:latin typeface="Bookman Old Style" panose="02050604050505020204" pitchFamily="18" charset="0"/>
              </a:rPr>
              <a:t>4 / 24</a:t>
            </a:r>
          </a:p>
        </p:txBody>
      </p:sp>
      <p:graphicFrame>
        <p:nvGraphicFramePr>
          <p:cNvPr id="7" name="Table 6"/>
          <p:cNvGraphicFramePr>
            <a:graphicFrameLocks noGrp="1"/>
          </p:cNvGraphicFramePr>
          <p:nvPr>
            <p:extLst>
              <p:ext uri="{D42A27DB-BD31-4B8C-83A1-F6EECF244321}">
                <p14:modId xmlns:p14="http://schemas.microsoft.com/office/powerpoint/2010/main" val="579670813"/>
              </p:ext>
            </p:extLst>
          </p:nvPr>
        </p:nvGraphicFramePr>
        <p:xfrm>
          <a:off x="731520" y="1371600"/>
          <a:ext cx="10728655" cy="475488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48456">
                  <a:extLst>
                    <a:ext uri="{9D8B030D-6E8A-4147-A177-3AD203B41FA5}">
                      <a16:colId xmlns:a16="http://schemas.microsoft.com/office/drawing/2014/main" val="20002"/>
                    </a:ext>
                  </a:extLst>
                </a:gridCol>
                <a:gridCol w="3422599">
                  <a:extLst>
                    <a:ext uri="{9D8B030D-6E8A-4147-A177-3AD203B41FA5}">
                      <a16:colId xmlns:a16="http://schemas.microsoft.com/office/drawing/2014/main" val="20003"/>
                    </a:ext>
                  </a:extLst>
                </a:gridCol>
              </a:tblGrid>
              <a:tr h="679268">
                <a:tc>
                  <a:txBody>
                    <a:bodyPr/>
                    <a:lstStyle/>
                    <a:p>
                      <a:pPr algn="ctr">
                        <a:defRPr sz="1100" b="1">
                          <a:solidFill>
                            <a:srgbClr val="FFFFFF"/>
                          </a:solidFill>
                          <a:latin typeface="Bookman Old Style"/>
                        </a:defRPr>
                      </a:pPr>
                      <a:r>
                        <a:rPr sz="1050"/>
                        <a:t>#</a:t>
                      </a:r>
                    </a:p>
                  </a:txBody>
                  <a:tcPr anchor="ctr">
                    <a:solidFill>
                      <a:srgbClr val="1B4332"/>
                    </a:solidFill>
                  </a:tcPr>
                </a:tc>
                <a:tc>
                  <a:txBody>
                    <a:bodyPr/>
                    <a:lstStyle/>
                    <a:p>
                      <a:pPr algn="ctr">
                        <a:defRPr sz="1100" b="1">
                          <a:solidFill>
                            <a:srgbClr val="FFFFFF"/>
                          </a:solidFill>
                          <a:latin typeface="Bookman Old Style"/>
                        </a:defRPr>
                      </a:pPr>
                      <a:r>
                        <a:rPr sz="1050"/>
                        <a:t>Objective &amp; Scope</a:t>
                      </a:r>
                    </a:p>
                  </a:txBody>
                  <a:tcPr anchor="ctr">
                    <a:solidFill>
                      <a:srgbClr val="1B4332"/>
                    </a:solidFill>
                  </a:tcPr>
                </a:tc>
                <a:tc>
                  <a:txBody>
                    <a:bodyPr/>
                    <a:lstStyle/>
                    <a:p>
                      <a:pPr algn="ctr">
                        <a:defRPr sz="1100" b="1">
                          <a:solidFill>
                            <a:srgbClr val="FFFFFF"/>
                          </a:solidFill>
                          <a:latin typeface="Bookman Old Style"/>
                        </a:defRPr>
                      </a:pPr>
                      <a:r>
                        <a:rPr sz="1050"/>
                        <a:t>Implemented Component / Logic</a:t>
                      </a:r>
                    </a:p>
                  </a:txBody>
                  <a:tcPr anchor="ctr">
                    <a:solidFill>
                      <a:srgbClr val="1B4332"/>
                    </a:solidFill>
                  </a:tcPr>
                </a:tc>
                <a:tc>
                  <a:txBody>
                    <a:bodyPr/>
                    <a:lstStyle/>
                    <a:p>
                      <a:pPr algn="ctr">
                        <a:defRPr sz="1100" b="1">
                          <a:solidFill>
                            <a:srgbClr val="FFFFFF"/>
                          </a:solidFill>
                          <a:latin typeface="Bookman Old Style"/>
                        </a:defRPr>
                      </a:pPr>
                      <a:r>
                        <a:rPr sz="1050"/>
                        <a:t>Verified System Deliverable</a:t>
                      </a:r>
                    </a:p>
                  </a:txBody>
                  <a:tcPr anchor="ctr">
                    <a:solidFill>
                      <a:srgbClr val="1B4332"/>
                    </a:solidFill>
                  </a:tcPr>
                </a:tc>
                <a:extLst>
                  <a:ext uri="{0D108BD9-81ED-4DB2-BD59-A6C34878D82A}">
                    <a16:rowId xmlns:a16="http://schemas.microsoft.com/office/drawing/2014/main" val="10000"/>
                  </a:ext>
                </a:extLst>
              </a:tr>
              <a:tr h="679268">
                <a:tc>
                  <a:txBody>
                    <a:bodyPr/>
                    <a:lstStyle/>
                    <a:p>
                      <a:pPr algn="ctr">
                        <a:defRPr sz="1050">
                          <a:solidFill>
                            <a:srgbClr val="1A1A1A"/>
                          </a:solidFill>
                          <a:latin typeface="Bookman Old Style"/>
                        </a:defRPr>
                      </a:pPr>
                      <a:r>
                        <a:rPr sz="1050"/>
                        <a:t>1</a:t>
                      </a:r>
                    </a:p>
                  </a:txBody>
                  <a:tcPr anchor="ctr">
                    <a:solidFill>
                      <a:srgbClr val="FFFFFF"/>
                    </a:solidFill>
                  </a:tcPr>
                </a:tc>
                <a:tc>
                  <a:txBody>
                    <a:bodyPr/>
                    <a:lstStyle/>
                    <a:p>
                      <a:pPr algn="l">
                        <a:defRPr sz="1050">
                          <a:solidFill>
                            <a:srgbClr val="1A1A1A"/>
                          </a:solidFill>
                          <a:latin typeface="Bookman Old Style"/>
                        </a:defRPr>
                      </a:pPr>
                      <a:r>
                        <a:rPr sz="1050"/>
                        <a:t>Data Governance &amp; Ingestion</a:t>
                      </a:r>
                    </a:p>
                  </a:txBody>
                  <a:tcPr anchor="ctr">
                    <a:solidFill>
                      <a:srgbClr val="FFFFFF"/>
                    </a:solidFill>
                  </a:tcPr>
                </a:tc>
                <a:tc>
                  <a:txBody>
                    <a:bodyPr/>
                    <a:lstStyle/>
                    <a:p>
                      <a:pPr algn="l">
                        <a:defRPr sz="1050">
                          <a:solidFill>
                            <a:srgbClr val="1A1A1A"/>
                          </a:solidFill>
                          <a:latin typeface="Bookman Old Style"/>
                        </a:defRPr>
                      </a:pPr>
                      <a:r>
                        <a:rPr sz="1050" dirty="0"/>
                        <a:t>Ingest 2,596 specimens across 14 crops with SHA-256 cryptographic immutability</a:t>
                      </a:r>
                    </a:p>
                  </a:txBody>
                  <a:tcPr anchor="ctr">
                    <a:solidFill>
                      <a:srgbClr val="FFFFFF"/>
                    </a:solidFill>
                  </a:tcPr>
                </a:tc>
                <a:tc>
                  <a:txBody>
                    <a:bodyPr/>
                    <a:lstStyle/>
                    <a:p>
                      <a:pPr algn="l">
                        <a:defRPr sz="1050">
                          <a:solidFill>
                            <a:srgbClr val="1A1A1A"/>
                          </a:solidFill>
                          <a:latin typeface="Bookman Old Style"/>
                        </a:defRPr>
                      </a:pPr>
                      <a:r>
                        <a:rPr sz="1050"/>
                        <a:t>canonical_dataset_v2.csv</a:t>
                      </a:r>
                      <a:br>
                        <a:rPr sz="1050"/>
                      </a:br>
                      <a:r>
                        <a:rPr sz="1050"/>
                        <a:t>(c7fd16dc... invariant)</a:t>
                      </a:r>
                    </a:p>
                  </a:txBody>
                  <a:tcPr anchor="ctr">
                    <a:solidFill>
                      <a:srgbClr val="FFFFFF"/>
                    </a:solidFill>
                  </a:tcPr>
                </a:tc>
                <a:extLst>
                  <a:ext uri="{0D108BD9-81ED-4DB2-BD59-A6C34878D82A}">
                    <a16:rowId xmlns:a16="http://schemas.microsoft.com/office/drawing/2014/main" val="10001"/>
                  </a:ext>
                </a:extLst>
              </a:tr>
              <a:tr h="679268">
                <a:tc>
                  <a:txBody>
                    <a:bodyPr/>
                    <a:lstStyle/>
                    <a:p>
                      <a:pPr algn="ctr">
                        <a:defRPr sz="1050">
                          <a:solidFill>
                            <a:srgbClr val="1A1A1A"/>
                          </a:solidFill>
                          <a:latin typeface="Bookman Old Style"/>
                        </a:defRPr>
                      </a:pPr>
                      <a:r>
                        <a:rPr sz="1050"/>
                        <a:t>2</a:t>
                      </a:r>
                    </a:p>
                  </a:txBody>
                  <a:tcPr anchor="ctr">
                    <a:solidFill>
                      <a:srgbClr val="F8F9FA"/>
                    </a:solidFill>
                  </a:tcPr>
                </a:tc>
                <a:tc>
                  <a:txBody>
                    <a:bodyPr/>
                    <a:lstStyle/>
                    <a:p>
                      <a:pPr algn="l">
                        <a:defRPr sz="1050">
                          <a:solidFill>
                            <a:srgbClr val="1A1A1A"/>
                          </a:solidFill>
                          <a:latin typeface="Bookman Old Style"/>
                        </a:defRPr>
                      </a:pPr>
                      <a:r>
                        <a:rPr sz="1050"/>
                        <a:t>Automated Quality Gates</a:t>
                      </a:r>
                    </a:p>
                  </a:txBody>
                  <a:tcPr anchor="ctr">
                    <a:solidFill>
                      <a:srgbClr val="F8F9FA"/>
                    </a:solidFill>
                  </a:tcPr>
                </a:tc>
                <a:tc>
                  <a:txBody>
                    <a:bodyPr/>
                    <a:lstStyle/>
                    <a:p>
                      <a:pPr algn="l">
                        <a:defRPr sz="1050">
                          <a:solidFill>
                            <a:srgbClr val="1A1A1A"/>
                          </a:solidFill>
                          <a:latin typeface="Bookman Old Style"/>
                        </a:defRPr>
                      </a:pPr>
                      <a:r>
                        <a:rPr sz="1050"/>
                        <a:t>5 validation gates: byte headers, formats, dimensions, duplicates, EXIF transpose</a:t>
                      </a:r>
                    </a:p>
                  </a:txBody>
                  <a:tcPr anchor="ctr">
                    <a:solidFill>
                      <a:srgbClr val="F8F9FA"/>
                    </a:solidFill>
                  </a:tcPr>
                </a:tc>
                <a:tc>
                  <a:txBody>
                    <a:bodyPr/>
                    <a:lstStyle/>
                    <a:p>
                      <a:pPr algn="l">
                        <a:defRPr sz="1050">
                          <a:solidFill>
                            <a:srgbClr val="1A1A1A"/>
                          </a:solidFill>
                          <a:latin typeface="Bookman Old Style"/>
                        </a:defRPr>
                      </a:pPr>
                      <a:r>
                        <a:rPr sz="1050"/>
                        <a:t>5 quality gates verified;</a:t>
                      </a:r>
                      <a:br>
                        <a:rPr sz="1050"/>
                      </a:br>
                      <a:r>
                        <a:rPr sz="1050"/>
                        <a:t>Zero corrupt images ingested</a:t>
                      </a:r>
                    </a:p>
                  </a:txBody>
                  <a:tcPr anchor="ctr">
                    <a:solidFill>
                      <a:srgbClr val="F8F9FA"/>
                    </a:solidFill>
                  </a:tcPr>
                </a:tc>
                <a:extLst>
                  <a:ext uri="{0D108BD9-81ED-4DB2-BD59-A6C34878D82A}">
                    <a16:rowId xmlns:a16="http://schemas.microsoft.com/office/drawing/2014/main" val="10002"/>
                  </a:ext>
                </a:extLst>
              </a:tr>
              <a:tr h="679268">
                <a:tc>
                  <a:txBody>
                    <a:bodyPr/>
                    <a:lstStyle/>
                    <a:p>
                      <a:pPr algn="ctr">
                        <a:defRPr sz="1050">
                          <a:solidFill>
                            <a:srgbClr val="1A1A1A"/>
                          </a:solidFill>
                          <a:latin typeface="Bookman Old Style"/>
                        </a:defRPr>
                      </a:pPr>
                      <a:r>
                        <a:rPr sz="1050"/>
                        <a:t>3</a:t>
                      </a:r>
                    </a:p>
                  </a:txBody>
                  <a:tcPr anchor="ctr">
                    <a:solidFill>
                      <a:srgbClr val="FFFFFF"/>
                    </a:solidFill>
                  </a:tcPr>
                </a:tc>
                <a:tc>
                  <a:txBody>
                    <a:bodyPr/>
                    <a:lstStyle/>
                    <a:p>
                      <a:pPr algn="l">
                        <a:defRPr sz="1050">
                          <a:solidFill>
                            <a:srgbClr val="1A1A1A"/>
                          </a:solidFill>
                          <a:latin typeface="Bookman Old Style"/>
                        </a:defRPr>
                      </a:pPr>
                      <a:r>
                        <a:rPr sz="1050"/>
                        <a:t>Explainable Feature Store</a:t>
                      </a:r>
                    </a:p>
                  </a:txBody>
                  <a:tcPr anchor="ctr">
                    <a:solidFill>
                      <a:srgbClr val="FFFFFF"/>
                    </a:solidFill>
                  </a:tcPr>
                </a:tc>
                <a:tc>
                  <a:txBody>
                    <a:bodyPr/>
                    <a:lstStyle/>
                    <a:p>
                      <a:pPr algn="l">
                        <a:defRPr sz="1050">
                          <a:solidFill>
                            <a:srgbClr val="1A1A1A"/>
                          </a:solidFill>
                          <a:latin typeface="Bookman Old Style"/>
                        </a:defRPr>
                      </a:pPr>
                      <a:r>
                        <a:rPr sz="1050"/>
                        <a:t>Extract 32 continuous descriptors (19 Color, 7 GLCM Texture, 6 Morphometry)</a:t>
                      </a:r>
                    </a:p>
                  </a:txBody>
                  <a:tcPr anchor="ctr">
                    <a:solidFill>
                      <a:srgbClr val="FFFFFF"/>
                    </a:solidFill>
                  </a:tcPr>
                </a:tc>
                <a:tc>
                  <a:txBody>
                    <a:bodyPr/>
                    <a:lstStyle/>
                    <a:p>
                      <a:pPr algn="l">
                        <a:defRPr sz="1050">
                          <a:solidFill>
                            <a:srgbClr val="1A1A1A"/>
                          </a:solidFill>
                          <a:latin typeface="Bookman Old Style"/>
                        </a:defRPr>
                      </a:pPr>
                      <a:r>
                        <a:rPr sz="1050"/>
                        <a:t>image_features_v2.csv</a:t>
                      </a:r>
                      <a:br>
                        <a:rPr sz="1050"/>
                      </a:br>
                      <a:r>
                        <a:rPr sz="1050"/>
                        <a:t>(44 columns, 2,596 rows)</a:t>
                      </a:r>
                    </a:p>
                  </a:txBody>
                  <a:tcPr anchor="ctr">
                    <a:solidFill>
                      <a:srgbClr val="FFFFFF"/>
                    </a:solidFill>
                  </a:tcPr>
                </a:tc>
                <a:extLst>
                  <a:ext uri="{0D108BD9-81ED-4DB2-BD59-A6C34878D82A}">
                    <a16:rowId xmlns:a16="http://schemas.microsoft.com/office/drawing/2014/main" val="10003"/>
                  </a:ext>
                </a:extLst>
              </a:tr>
              <a:tr h="679268">
                <a:tc>
                  <a:txBody>
                    <a:bodyPr/>
                    <a:lstStyle/>
                    <a:p>
                      <a:pPr algn="ctr">
                        <a:defRPr sz="1050">
                          <a:solidFill>
                            <a:srgbClr val="1A1A1A"/>
                          </a:solidFill>
                          <a:latin typeface="Bookman Old Style"/>
                        </a:defRPr>
                      </a:pPr>
                      <a:r>
                        <a:rPr sz="1050"/>
                        <a:t>4</a:t>
                      </a:r>
                    </a:p>
                  </a:txBody>
                  <a:tcPr anchor="ctr">
                    <a:solidFill>
                      <a:srgbClr val="F8F9FA"/>
                    </a:solidFill>
                  </a:tcPr>
                </a:tc>
                <a:tc>
                  <a:txBody>
                    <a:bodyPr/>
                    <a:lstStyle/>
                    <a:p>
                      <a:pPr algn="l">
                        <a:defRPr sz="1050">
                          <a:solidFill>
                            <a:srgbClr val="1A1A1A"/>
                          </a:solidFill>
                          <a:latin typeface="Bookman Old Style"/>
                        </a:defRPr>
                      </a:pPr>
                      <a:r>
                        <a:rPr sz="1050"/>
                        <a:t>Dimensional Data Warehouse</a:t>
                      </a:r>
                    </a:p>
                  </a:txBody>
                  <a:tcPr anchor="ctr">
                    <a:solidFill>
                      <a:srgbClr val="F8F9FA"/>
                    </a:solidFill>
                  </a:tcPr>
                </a:tc>
                <a:tc>
                  <a:txBody>
                    <a:bodyPr/>
                    <a:lstStyle/>
                    <a:p>
                      <a:pPr algn="l">
                        <a:defRPr sz="1050">
                          <a:solidFill>
                            <a:srgbClr val="1A1A1A"/>
                          </a:solidFill>
                          <a:latin typeface="Bookman Old Style"/>
                        </a:defRPr>
                      </a:pPr>
                      <a:r>
                        <a:rPr sz="1050"/>
                        <a:t>Kimball Star Schema with SQLite PRAGMA foreign_keys = 1 enforced via SQLAlchemy</a:t>
                      </a:r>
                    </a:p>
                  </a:txBody>
                  <a:tcPr anchor="ctr">
                    <a:solidFill>
                      <a:srgbClr val="F8F9FA"/>
                    </a:solidFill>
                  </a:tcPr>
                </a:tc>
                <a:tc>
                  <a:txBody>
                    <a:bodyPr/>
                    <a:lstStyle/>
                    <a:p>
                      <a:r>
                        <a:rPr sz="1050" dirty="0" err="1">
                          <a:latin typeface="Bookman Old Style" panose="02050604050505020204" pitchFamily="18" charset="0"/>
                        </a:rPr>
                        <a:t>agrovision_warehouse.db</a:t>
                      </a:r>
                      <a:r>
                        <a:rPr sz="1050" dirty="0">
                          <a:latin typeface="Bookman Old Style" panose="02050604050505020204" pitchFamily="18" charset="0"/>
                        </a:rPr>
                        <a:t> (2,596 fact rows; 14 crops, 19 diseases, 2,596 images/features)</a:t>
                      </a:r>
                    </a:p>
                  </a:txBody>
                  <a:tcPr anchor="ctr">
                    <a:solidFill>
                      <a:srgbClr val="F8F9FA"/>
                    </a:solidFill>
                  </a:tcPr>
                </a:tc>
                <a:extLst>
                  <a:ext uri="{0D108BD9-81ED-4DB2-BD59-A6C34878D82A}">
                    <a16:rowId xmlns:a16="http://schemas.microsoft.com/office/drawing/2014/main" val="10004"/>
                  </a:ext>
                </a:extLst>
              </a:tr>
              <a:tr h="679268">
                <a:tc>
                  <a:txBody>
                    <a:bodyPr/>
                    <a:lstStyle/>
                    <a:p>
                      <a:pPr algn="ctr">
                        <a:defRPr sz="1050">
                          <a:solidFill>
                            <a:srgbClr val="1A1A1A"/>
                          </a:solidFill>
                          <a:latin typeface="Bookman Old Style"/>
                        </a:defRPr>
                      </a:pPr>
                      <a:r>
                        <a:rPr sz="1050"/>
                        <a:t>5</a:t>
                      </a:r>
                    </a:p>
                  </a:txBody>
                  <a:tcPr anchor="ctr">
                    <a:solidFill>
                      <a:srgbClr val="FFFFFF"/>
                    </a:solidFill>
                  </a:tcPr>
                </a:tc>
                <a:tc>
                  <a:txBody>
                    <a:bodyPr/>
                    <a:lstStyle/>
                    <a:p>
                      <a:pPr algn="l">
                        <a:defRPr sz="1050">
                          <a:solidFill>
                            <a:srgbClr val="1A1A1A"/>
                          </a:solidFill>
                          <a:latin typeface="Bookman Old Style"/>
                        </a:defRPr>
                      </a:pPr>
                      <a:r>
                        <a:rPr sz="1050"/>
                        <a:t>SQL-Backed OLAP Engine</a:t>
                      </a:r>
                    </a:p>
                  </a:txBody>
                  <a:tcPr anchor="ctr">
                    <a:solidFill>
                      <a:srgbClr val="FFFFFF"/>
                    </a:solidFill>
                  </a:tcPr>
                </a:tc>
                <a:tc>
                  <a:txBody>
                    <a:bodyPr/>
                    <a:lstStyle/>
                    <a:p>
                      <a:pPr algn="l">
                        <a:defRPr sz="1050">
                          <a:solidFill>
                            <a:srgbClr val="1A1A1A"/>
                          </a:solidFill>
                          <a:latin typeface="Bookman Old Style"/>
                        </a:defRPr>
                      </a:pPr>
                      <a:r>
                        <a:rPr sz="1050"/>
                        <a:t>Parameterized SQL engine supporting Roll-up, Drill-down, Slice, Dice, Pivot</a:t>
                      </a:r>
                    </a:p>
                  </a:txBody>
                  <a:tcPr anchor="ctr">
                    <a:solidFill>
                      <a:srgbClr val="FFFFFF"/>
                    </a:solidFill>
                  </a:tcPr>
                </a:tc>
                <a:tc>
                  <a:txBody>
                    <a:bodyPr/>
                    <a:lstStyle/>
                    <a:p>
                      <a:r>
                        <a:rPr sz="1050" dirty="0">
                          <a:latin typeface="Bookman Old Style" panose="02050604050505020204" pitchFamily="18" charset="0"/>
                        </a:rPr>
                        <a:t>Interactive OLAP Console; Latency 1.5ms – 14.1ms across 2,596 rows</a:t>
                      </a:r>
                    </a:p>
                  </a:txBody>
                  <a:tcPr anchor="ctr">
                    <a:solidFill>
                      <a:srgbClr val="FFFFFF"/>
                    </a:solidFill>
                  </a:tcPr>
                </a:tc>
                <a:extLst>
                  <a:ext uri="{0D108BD9-81ED-4DB2-BD59-A6C34878D82A}">
                    <a16:rowId xmlns:a16="http://schemas.microsoft.com/office/drawing/2014/main" val="10005"/>
                  </a:ext>
                </a:extLst>
              </a:tr>
              <a:tr h="679272">
                <a:tc>
                  <a:txBody>
                    <a:bodyPr/>
                    <a:lstStyle/>
                    <a:p>
                      <a:pPr algn="ctr">
                        <a:defRPr sz="1050">
                          <a:solidFill>
                            <a:srgbClr val="1A1A1A"/>
                          </a:solidFill>
                          <a:latin typeface="Bookman Old Style"/>
                        </a:defRPr>
                      </a:pPr>
                      <a:r>
                        <a:rPr sz="1050"/>
                        <a:t>6</a:t>
                      </a:r>
                    </a:p>
                  </a:txBody>
                  <a:tcPr anchor="ctr">
                    <a:solidFill>
                      <a:srgbClr val="F8F9FA"/>
                    </a:solidFill>
                  </a:tcPr>
                </a:tc>
                <a:tc>
                  <a:txBody>
                    <a:bodyPr/>
                    <a:lstStyle/>
                    <a:p>
                      <a:pPr algn="l">
                        <a:defRPr sz="1050">
                          <a:solidFill>
                            <a:srgbClr val="1A1A1A"/>
                          </a:solidFill>
                          <a:latin typeface="Bookman Old Style"/>
                        </a:defRPr>
                      </a:pPr>
                      <a:r>
                        <a:rPr sz="1050"/>
                        <a:t>Unsupervised Visual Mining</a:t>
                      </a:r>
                    </a:p>
                  </a:txBody>
                  <a:tcPr anchor="ctr">
                    <a:solidFill>
                      <a:srgbClr val="F8F9FA"/>
                    </a:solidFill>
                  </a:tcPr>
                </a:tc>
                <a:tc>
                  <a:txBody>
                    <a:bodyPr/>
                    <a:lstStyle/>
                    <a:p>
                      <a:pPr algn="l">
                        <a:defRPr sz="1050">
                          <a:solidFill>
                            <a:srgbClr val="1A1A1A"/>
                          </a:solidFill>
                          <a:latin typeface="Bookman Old Style"/>
                        </a:defRPr>
                      </a:pPr>
                      <a:r>
                        <a:rPr sz="1050"/>
                        <a:t>Dual-K K-Means clustering (K=2, K=4), 2D PCA, and Apriori / FP-Growth rule mining</a:t>
                      </a:r>
                    </a:p>
                  </a:txBody>
                  <a:tcPr anchor="ctr">
                    <a:solidFill>
                      <a:srgbClr val="F8F9FA"/>
                    </a:solidFill>
                  </a:tcPr>
                </a:tc>
                <a:tc>
                  <a:txBody>
                    <a:bodyPr/>
                    <a:lstStyle/>
                    <a:p>
                      <a:r>
                        <a:rPr sz="1050" dirty="0">
                          <a:latin typeface="Bookman Old Style" panose="02050604050505020204" pitchFamily="18" charset="0"/>
                        </a:rPr>
                        <a:t>880 Mode A rules; Mode B: 285 total (276 lift &gt;= 1.0); K=2 Silhouette = 0.4060</a:t>
                      </a:r>
                    </a:p>
                  </a:txBody>
                  <a:tcPr anchor="ctr">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Dataset Provenance: Reconciling Review 1 &amp; Current Scope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5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120640" cy="4215962"/>
          </a:xfrm>
          <a:prstGeom prst="rect">
            <a:avLst/>
          </a:prstGeom>
          <a:noFill/>
        </p:spPr>
        <p:txBody>
          <a:bodyPr wrap="square">
            <a:spAutoFit/>
          </a:bodyPr>
          <a:lstStyle/>
          <a:p>
            <a:pPr>
              <a:lnSpc>
                <a:spcPct val="150000"/>
              </a:lnSpc>
            </a:pPr>
            <a:r>
              <a:rPr sz="1200" dirty="0">
                <a:latin typeface="Bookman Old Style" panose="02050604050505020204" pitchFamily="18" charset="0"/>
              </a:rPr>
              <a:t>CRITICAL DATASET RECONCILIATION &amp; LINEAGE</a:t>
            </a:r>
          </a:p>
          <a:p>
            <a:pPr>
              <a:lnSpc>
                <a:spcPct val="150000"/>
              </a:lnSpc>
            </a:pPr>
            <a:r>
              <a:rPr sz="1200" dirty="0">
                <a:latin typeface="Bookman Old Style" panose="02050604050505020204" pitchFamily="18" charset="0"/>
              </a:rPr>
              <a:t>• Unified Production Warehouse (2,596 Observations): Sourced from </a:t>
            </a:r>
            <a:r>
              <a:rPr sz="1200" dirty="0" err="1">
                <a:latin typeface="Bookman Old Style" panose="02050604050505020204" pitchFamily="18" charset="0"/>
              </a:rPr>
              <a:t>PlantDoc</a:t>
            </a:r>
            <a:r>
              <a:rPr sz="1200" dirty="0">
                <a:latin typeface="Bookman Old Style" panose="02050604050505020204" pitchFamily="18" charset="0"/>
              </a:rPr>
              <a:t> (2,560 field images) + ICAR/OGD (36 authentic rice pathology images). All 36 rice records are fully preserved and included within the unified 2,596 total.</a:t>
            </a:r>
          </a:p>
          <a:p>
            <a:pPr>
              <a:lnSpc>
                <a:spcPct val="150000"/>
              </a:lnSpc>
            </a:pPr>
            <a:r>
              <a:rPr sz="1200" dirty="0">
                <a:latin typeface="Bookman Old Style" panose="02050604050505020204" pitchFamily="18" charset="0"/>
              </a:rPr>
              <a:t>• Provenance Architecture: Relational SQLite warehouse (database/</a:t>
            </a:r>
            <a:r>
              <a:rPr sz="1200" dirty="0" err="1">
                <a:latin typeface="Bookman Old Style" panose="02050604050505020204" pitchFamily="18" charset="0"/>
              </a:rPr>
              <a:t>agrovision_warehouse.db</a:t>
            </a:r>
            <a:r>
              <a:rPr sz="1200" dirty="0">
                <a:latin typeface="Bookman Old Style" panose="02050604050505020204" pitchFamily="18" charset="0"/>
              </a:rPr>
              <a:t>) contains all 2,596 validated specimen observations mapped across 4 dimensions.</a:t>
            </a:r>
          </a:p>
          <a:p>
            <a:pPr>
              <a:lnSpc>
                <a:spcPct val="150000"/>
              </a:lnSpc>
            </a:pPr>
            <a:r>
              <a:rPr sz="1200" dirty="0">
                <a:latin typeface="Bookman Old Style" panose="02050604050505020204" pitchFamily="18" charset="0"/>
              </a:rPr>
              <a:t>• Reconciliation of Tomato Count: Verified that the canonical dataset contains exactly 743 Tomato records (28.62% of corpus). The earlier 736 figure was an </a:t>
            </a:r>
            <a:r>
              <a:rPr sz="1200" dirty="0" err="1">
                <a:latin typeface="Bookman Old Style" panose="02050604050505020204" pitchFamily="18" charset="0"/>
              </a:rPr>
              <a:t>uncurated</a:t>
            </a:r>
            <a:r>
              <a:rPr sz="1200" dirty="0">
                <a:latin typeface="Bookman Old Style" panose="02050604050505020204" pitchFamily="18" charset="0"/>
              </a:rPr>
              <a:t> pre-freeze draft totaling 2,668 records.</a:t>
            </a:r>
          </a:p>
          <a:p>
            <a:pPr>
              <a:lnSpc>
                <a:spcPct val="150000"/>
              </a:lnSpc>
            </a:pPr>
            <a:r>
              <a:rPr sz="1200" dirty="0">
                <a:latin typeface="Bookman Old Style" panose="02050604050505020204" pitchFamily="18" charset="0"/>
              </a:rPr>
              <a:t>• Cryptographic Invariance: SHA-256 digests (canonical manifest: c7fd16dc...1cb8; feature store: f6ca...093c1) verified 100% invariant across all analytics, runs, and tests.</a:t>
            </a:r>
          </a:p>
        </p:txBody>
      </p:sp>
      <p:sp>
        <p:nvSpPr>
          <p:cNvPr id="9" name="Rounded Rectangle 8"/>
          <p:cNvSpPr/>
          <p:nvPr/>
        </p:nvSpPr>
        <p:spPr>
          <a:xfrm>
            <a:off x="6400800" y="1371600"/>
            <a:ext cx="5166360" cy="4956048"/>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554480"/>
            <a:ext cx="4602175" cy="4389120"/>
          </a:xfrm>
          <a:prstGeom prst="rect">
            <a:avLst/>
          </a:prstGeom>
          <a:noFill/>
        </p:spPr>
        <p:txBody>
          <a:bodyPr wrap="square">
            <a:spAutoFit/>
          </a:bodyPr>
          <a:lstStyle/>
          <a:p>
            <a:pPr>
              <a:spcAft>
                <a:spcPts val="600"/>
              </a:spcAft>
              <a:defRPr sz="1200" b="1">
                <a:solidFill>
                  <a:srgbClr val="1B4332"/>
                </a:solidFill>
                <a:latin typeface="Bookman Old Style"/>
              </a:defRPr>
            </a:pPr>
            <a:r>
              <a:t>CANONICAL TAXONOMIC DISTRIBUTION (N=2,596)</a:t>
            </a:r>
          </a:p>
        </p:txBody>
      </p:sp>
      <p:graphicFrame>
        <p:nvGraphicFramePr>
          <p:cNvPr id="11" name="Table 10"/>
          <p:cNvGraphicFramePr>
            <a:graphicFrameLocks noGrp="1"/>
          </p:cNvGraphicFramePr>
          <p:nvPr/>
        </p:nvGraphicFramePr>
        <p:xfrm>
          <a:off x="6583680" y="1920240"/>
          <a:ext cx="4754880" cy="29260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25120">
                <a:tc>
                  <a:txBody>
                    <a:bodyPr/>
                    <a:lstStyle/>
                    <a:p>
                      <a:pPr algn="ctr">
                        <a:defRPr sz="1100" b="1">
                          <a:solidFill>
                            <a:srgbClr val="FFFFFF"/>
                          </a:solidFill>
                          <a:latin typeface="Bookman Old Style"/>
                        </a:defRPr>
                      </a:pPr>
                      <a:r>
                        <a:t>Crop Species</a:t>
                      </a:r>
                    </a:p>
                  </a:txBody>
                  <a:tcPr anchor="ctr">
                    <a:solidFill>
                      <a:srgbClr val="1B4332"/>
                    </a:solidFill>
                  </a:tcPr>
                </a:tc>
                <a:tc>
                  <a:txBody>
                    <a:bodyPr/>
                    <a:lstStyle/>
                    <a:p>
                      <a:pPr algn="ctr">
                        <a:defRPr sz="1100" b="1">
                          <a:solidFill>
                            <a:srgbClr val="FFFFFF"/>
                          </a:solidFill>
                          <a:latin typeface="Bookman Old Style"/>
                        </a:defRPr>
                      </a:pPr>
                      <a:r>
                        <a:t>Record Count</a:t>
                      </a:r>
                    </a:p>
                  </a:txBody>
                  <a:tcPr anchor="ctr">
                    <a:solidFill>
                      <a:srgbClr val="1B4332"/>
                    </a:solidFill>
                  </a:tcPr>
                </a:tc>
                <a:tc>
                  <a:txBody>
                    <a:bodyPr/>
                    <a:lstStyle/>
                    <a:p>
                      <a:pPr algn="ctr">
                        <a:defRPr sz="1100" b="1">
                          <a:solidFill>
                            <a:srgbClr val="FFFFFF"/>
                          </a:solidFill>
                          <a:latin typeface="Bookman Old Style"/>
                        </a:defRPr>
                      </a:pPr>
                      <a:r>
                        <a:t>Percentage</a:t>
                      </a:r>
                    </a:p>
                  </a:txBody>
                  <a:tcPr anchor="ctr">
                    <a:solidFill>
                      <a:srgbClr val="1B4332"/>
                    </a:solidFill>
                  </a:tcPr>
                </a:tc>
                <a:extLst>
                  <a:ext uri="{0D108BD9-81ED-4DB2-BD59-A6C34878D82A}">
                    <a16:rowId xmlns:a16="http://schemas.microsoft.com/office/drawing/2014/main" val="10000"/>
                  </a:ext>
                </a:extLst>
              </a:tr>
              <a:tr h="325120">
                <a:tc>
                  <a:txBody>
                    <a:bodyPr/>
                    <a:lstStyle/>
                    <a:p>
                      <a:pPr algn="l">
                        <a:defRPr sz="950">
                          <a:solidFill>
                            <a:srgbClr val="1A1A1A"/>
                          </a:solidFill>
                          <a:latin typeface="Bookman Old Style"/>
                        </a:defRPr>
                      </a:pPr>
                      <a:r>
                        <a:t>Tomato</a:t>
                      </a:r>
                    </a:p>
                  </a:txBody>
                  <a:tcPr anchor="ctr">
                    <a:solidFill>
                      <a:srgbClr val="FFFFFF"/>
                    </a:solidFill>
                  </a:tcPr>
                </a:tc>
                <a:tc>
                  <a:txBody>
                    <a:bodyPr/>
                    <a:lstStyle/>
                    <a:p>
                      <a:pPr algn="ctr">
                        <a:defRPr sz="950">
                          <a:solidFill>
                            <a:srgbClr val="1A1A1A"/>
                          </a:solidFill>
                          <a:latin typeface="Bookman Old Style"/>
                        </a:defRPr>
                      </a:pPr>
                      <a:r>
                        <a:t>743</a:t>
                      </a:r>
                    </a:p>
                  </a:txBody>
                  <a:tcPr anchor="ctr">
                    <a:solidFill>
                      <a:srgbClr val="FFFFFF"/>
                    </a:solidFill>
                  </a:tcPr>
                </a:tc>
                <a:tc>
                  <a:txBody>
                    <a:bodyPr/>
                    <a:lstStyle/>
                    <a:p>
                      <a:pPr algn="ctr">
                        <a:defRPr sz="950">
                          <a:solidFill>
                            <a:srgbClr val="1A1A1A"/>
                          </a:solidFill>
                          <a:latin typeface="Bookman Old Style"/>
                        </a:defRPr>
                      </a:pPr>
                      <a:r>
                        <a:t>28.62%</a:t>
                      </a:r>
                    </a:p>
                  </a:txBody>
                  <a:tcPr anchor="ctr">
                    <a:solidFill>
                      <a:srgbClr val="FFFFFF"/>
                    </a:solidFill>
                  </a:tcPr>
                </a:tc>
                <a:extLst>
                  <a:ext uri="{0D108BD9-81ED-4DB2-BD59-A6C34878D82A}">
                    <a16:rowId xmlns:a16="http://schemas.microsoft.com/office/drawing/2014/main" val="10001"/>
                  </a:ext>
                </a:extLst>
              </a:tr>
              <a:tr h="325120">
                <a:tc>
                  <a:txBody>
                    <a:bodyPr/>
                    <a:lstStyle/>
                    <a:p>
                      <a:pPr algn="l">
                        <a:defRPr sz="950">
                          <a:solidFill>
                            <a:srgbClr val="1A1A1A"/>
                          </a:solidFill>
                          <a:latin typeface="Bookman Old Style"/>
                        </a:defRPr>
                      </a:pPr>
                      <a:r>
                        <a:t>Corn</a:t>
                      </a:r>
                    </a:p>
                  </a:txBody>
                  <a:tcPr anchor="ctr">
                    <a:solidFill>
                      <a:srgbClr val="F8F9FA"/>
                    </a:solidFill>
                  </a:tcPr>
                </a:tc>
                <a:tc>
                  <a:txBody>
                    <a:bodyPr/>
                    <a:lstStyle/>
                    <a:p>
                      <a:pPr algn="ctr">
                        <a:defRPr sz="950">
                          <a:solidFill>
                            <a:srgbClr val="1A1A1A"/>
                          </a:solidFill>
                          <a:latin typeface="Bookman Old Style"/>
                        </a:defRPr>
                      </a:pPr>
                      <a:r>
                        <a:t>372</a:t>
                      </a:r>
                    </a:p>
                  </a:txBody>
                  <a:tcPr anchor="ctr">
                    <a:solidFill>
                      <a:srgbClr val="F8F9FA"/>
                    </a:solidFill>
                  </a:tcPr>
                </a:tc>
                <a:tc>
                  <a:txBody>
                    <a:bodyPr/>
                    <a:lstStyle/>
                    <a:p>
                      <a:pPr algn="ctr">
                        <a:defRPr sz="950">
                          <a:solidFill>
                            <a:srgbClr val="1A1A1A"/>
                          </a:solidFill>
                          <a:latin typeface="Bookman Old Style"/>
                        </a:defRPr>
                      </a:pPr>
                      <a:r>
                        <a:t>14.33%</a:t>
                      </a:r>
                    </a:p>
                  </a:txBody>
                  <a:tcPr anchor="ctr">
                    <a:solidFill>
                      <a:srgbClr val="F8F9FA"/>
                    </a:solidFill>
                  </a:tcPr>
                </a:tc>
                <a:extLst>
                  <a:ext uri="{0D108BD9-81ED-4DB2-BD59-A6C34878D82A}">
                    <a16:rowId xmlns:a16="http://schemas.microsoft.com/office/drawing/2014/main" val="10002"/>
                  </a:ext>
                </a:extLst>
              </a:tr>
              <a:tr h="325120">
                <a:tc>
                  <a:txBody>
                    <a:bodyPr/>
                    <a:lstStyle/>
                    <a:p>
                      <a:pPr algn="l">
                        <a:defRPr sz="950">
                          <a:solidFill>
                            <a:srgbClr val="1A1A1A"/>
                          </a:solidFill>
                          <a:latin typeface="Bookman Old Style"/>
                        </a:defRPr>
                      </a:pPr>
                      <a:r>
                        <a:t>Apple</a:t>
                      </a:r>
                    </a:p>
                  </a:txBody>
                  <a:tcPr anchor="ctr">
                    <a:solidFill>
                      <a:srgbClr val="FFFFFF"/>
                    </a:solidFill>
                  </a:tcPr>
                </a:tc>
                <a:tc>
                  <a:txBody>
                    <a:bodyPr/>
                    <a:lstStyle/>
                    <a:p>
                      <a:pPr algn="ctr">
                        <a:defRPr sz="950">
                          <a:solidFill>
                            <a:srgbClr val="1A1A1A"/>
                          </a:solidFill>
                          <a:latin typeface="Bookman Old Style"/>
                        </a:defRPr>
                      </a:pPr>
                      <a:r>
                        <a:t>272</a:t>
                      </a:r>
                    </a:p>
                  </a:txBody>
                  <a:tcPr anchor="ctr">
                    <a:solidFill>
                      <a:srgbClr val="FFFFFF"/>
                    </a:solidFill>
                  </a:tcPr>
                </a:tc>
                <a:tc>
                  <a:txBody>
                    <a:bodyPr/>
                    <a:lstStyle/>
                    <a:p>
                      <a:pPr algn="ctr">
                        <a:defRPr sz="950">
                          <a:solidFill>
                            <a:srgbClr val="1A1A1A"/>
                          </a:solidFill>
                          <a:latin typeface="Bookman Old Style"/>
                        </a:defRPr>
                      </a:pPr>
                      <a:r>
                        <a:t>10.48%</a:t>
                      </a:r>
                    </a:p>
                  </a:txBody>
                  <a:tcPr anchor="ctr">
                    <a:solidFill>
                      <a:srgbClr val="FFFFFF"/>
                    </a:solidFill>
                  </a:tcPr>
                </a:tc>
                <a:extLst>
                  <a:ext uri="{0D108BD9-81ED-4DB2-BD59-A6C34878D82A}">
                    <a16:rowId xmlns:a16="http://schemas.microsoft.com/office/drawing/2014/main" val="10003"/>
                  </a:ext>
                </a:extLst>
              </a:tr>
              <a:tr h="325120">
                <a:tc>
                  <a:txBody>
                    <a:bodyPr/>
                    <a:lstStyle/>
                    <a:p>
                      <a:pPr algn="l">
                        <a:defRPr sz="950">
                          <a:solidFill>
                            <a:srgbClr val="1A1A1A"/>
                          </a:solidFill>
                          <a:latin typeface="Bookman Old Style"/>
                        </a:defRPr>
                      </a:pPr>
                      <a:r>
                        <a:t>Potato</a:t>
                      </a:r>
                    </a:p>
                  </a:txBody>
                  <a:tcPr anchor="ctr">
                    <a:solidFill>
                      <a:srgbClr val="F8F9FA"/>
                    </a:solidFill>
                  </a:tcPr>
                </a:tc>
                <a:tc>
                  <a:txBody>
                    <a:bodyPr/>
                    <a:lstStyle/>
                    <a:p>
                      <a:pPr algn="ctr">
                        <a:defRPr sz="950">
                          <a:solidFill>
                            <a:srgbClr val="1A1A1A"/>
                          </a:solidFill>
                          <a:latin typeface="Bookman Old Style"/>
                        </a:defRPr>
                      </a:pPr>
                      <a:r>
                        <a:t>216</a:t>
                      </a:r>
                    </a:p>
                  </a:txBody>
                  <a:tcPr anchor="ctr">
                    <a:solidFill>
                      <a:srgbClr val="F8F9FA"/>
                    </a:solidFill>
                  </a:tcPr>
                </a:tc>
                <a:tc>
                  <a:txBody>
                    <a:bodyPr/>
                    <a:lstStyle/>
                    <a:p>
                      <a:pPr algn="ctr">
                        <a:defRPr sz="950">
                          <a:solidFill>
                            <a:srgbClr val="1A1A1A"/>
                          </a:solidFill>
                          <a:latin typeface="Bookman Old Style"/>
                        </a:defRPr>
                      </a:pPr>
                      <a:r>
                        <a:t>8.32%</a:t>
                      </a:r>
                    </a:p>
                  </a:txBody>
                  <a:tcPr anchor="ctr">
                    <a:solidFill>
                      <a:srgbClr val="F8F9FA"/>
                    </a:solidFill>
                  </a:tcPr>
                </a:tc>
                <a:extLst>
                  <a:ext uri="{0D108BD9-81ED-4DB2-BD59-A6C34878D82A}">
                    <a16:rowId xmlns:a16="http://schemas.microsoft.com/office/drawing/2014/main" val="10004"/>
                  </a:ext>
                </a:extLst>
              </a:tr>
              <a:tr h="325120">
                <a:tc>
                  <a:txBody>
                    <a:bodyPr/>
                    <a:lstStyle/>
                    <a:p>
                      <a:pPr algn="l">
                        <a:defRPr sz="950">
                          <a:solidFill>
                            <a:srgbClr val="1A1A1A"/>
                          </a:solidFill>
                          <a:latin typeface="Bookman Old Style"/>
                        </a:defRPr>
                      </a:pPr>
                      <a:r>
                        <a:t>Grape &amp; Bell Pepper</a:t>
                      </a:r>
                    </a:p>
                  </a:txBody>
                  <a:tcPr anchor="ctr">
                    <a:solidFill>
                      <a:srgbClr val="FFFFFF"/>
                    </a:solidFill>
                  </a:tcPr>
                </a:tc>
                <a:tc>
                  <a:txBody>
                    <a:bodyPr/>
                    <a:lstStyle/>
                    <a:p>
                      <a:pPr algn="ctr">
                        <a:defRPr sz="950">
                          <a:solidFill>
                            <a:srgbClr val="1A1A1A"/>
                          </a:solidFill>
                          <a:latin typeface="Bookman Old Style"/>
                        </a:defRPr>
                      </a:pPr>
                      <a:r>
                        <a:t>265 (133 + 132)</a:t>
                      </a:r>
                    </a:p>
                  </a:txBody>
                  <a:tcPr anchor="ctr">
                    <a:solidFill>
                      <a:srgbClr val="FFFFFF"/>
                    </a:solidFill>
                  </a:tcPr>
                </a:tc>
                <a:tc>
                  <a:txBody>
                    <a:bodyPr/>
                    <a:lstStyle/>
                    <a:p>
                      <a:pPr algn="ctr">
                        <a:defRPr sz="950">
                          <a:solidFill>
                            <a:srgbClr val="1A1A1A"/>
                          </a:solidFill>
                          <a:latin typeface="Bookman Old Style"/>
                        </a:defRPr>
                      </a:pPr>
                      <a:r>
                        <a:t>10.20%</a:t>
                      </a:r>
                    </a:p>
                  </a:txBody>
                  <a:tcPr anchor="ctr">
                    <a:solidFill>
                      <a:srgbClr val="FFFFFF"/>
                    </a:solidFill>
                  </a:tcPr>
                </a:tc>
                <a:extLst>
                  <a:ext uri="{0D108BD9-81ED-4DB2-BD59-A6C34878D82A}">
                    <a16:rowId xmlns:a16="http://schemas.microsoft.com/office/drawing/2014/main" val="10005"/>
                  </a:ext>
                </a:extLst>
              </a:tr>
              <a:tr h="325120">
                <a:tc>
                  <a:txBody>
                    <a:bodyPr/>
                    <a:lstStyle/>
                    <a:p>
                      <a:pPr algn="l">
                        <a:defRPr sz="950">
                          <a:solidFill>
                            <a:srgbClr val="1A1A1A"/>
                          </a:solidFill>
                          <a:latin typeface="Bookman Old Style"/>
                        </a:defRPr>
                      </a:pPr>
                      <a:r>
                        <a:t>Squash &amp; Raspberry</a:t>
                      </a:r>
                    </a:p>
                  </a:txBody>
                  <a:tcPr anchor="ctr">
                    <a:solidFill>
                      <a:srgbClr val="F8F9FA"/>
                    </a:solidFill>
                  </a:tcPr>
                </a:tc>
                <a:tc>
                  <a:txBody>
                    <a:bodyPr/>
                    <a:lstStyle/>
                    <a:p>
                      <a:pPr algn="ctr">
                        <a:defRPr sz="950">
                          <a:solidFill>
                            <a:srgbClr val="1A1A1A"/>
                          </a:solidFill>
                          <a:latin typeface="Bookman Old Style"/>
                        </a:defRPr>
                      </a:pPr>
                      <a:r>
                        <a:t>249 (130 + 119)</a:t>
                      </a:r>
                    </a:p>
                  </a:txBody>
                  <a:tcPr anchor="ctr">
                    <a:solidFill>
                      <a:srgbClr val="F8F9FA"/>
                    </a:solidFill>
                  </a:tcPr>
                </a:tc>
                <a:tc>
                  <a:txBody>
                    <a:bodyPr/>
                    <a:lstStyle/>
                    <a:p>
                      <a:pPr algn="ctr">
                        <a:defRPr sz="950">
                          <a:solidFill>
                            <a:srgbClr val="1A1A1A"/>
                          </a:solidFill>
                          <a:latin typeface="Bookman Old Style"/>
                        </a:defRPr>
                      </a:pPr>
                      <a:r>
                        <a:t>9.59%</a:t>
                      </a:r>
                    </a:p>
                  </a:txBody>
                  <a:tcPr anchor="ctr">
                    <a:solidFill>
                      <a:srgbClr val="F8F9FA"/>
                    </a:solidFill>
                  </a:tcPr>
                </a:tc>
                <a:extLst>
                  <a:ext uri="{0D108BD9-81ED-4DB2-BD59-A6C34878D82A}">
                    <a16:rowId xmlns:a16="http://schemas.microsoft.com/office/drawing/2014/main" val="10006"/>
                  </a:ext>
                </a:extLst>
              </a:tr>
              <a:tr h="325120">
                <a:tc>
                  <a:txBody>
                    <a:bodyPr/>
                    <a:lstStyle/>
                    <a:p>
                      <a:pPr algn="l">
                        <a:defRPr sz="950">
                          <a:solidFill>
                            <a:srgbClr val="1A1A1A"/>
                          </a:solidFill>
                          <a:latin typeface="Bookman Old Style"/>
                        </a:defRPr>
                      </a:pPr>
                      <a:r>
                        <a:t>Blueberry, Peach, Strawb.</a:t>
                      </a:r>
                    </a:p>
                  </a:txBody>
                  <a:tcPr anchor="ctr">
                    <a:solidFill>
                      <a:srgbClr val="FFFFFF"/>
                    </a:solidFill>
                  </a:tcPr>
                </a:tc>
                <a:tc>
                  <a:txBody>
                    <a:bodyPr/>
                    <a:lstStyle/>
                    <a:p>
                      <a:pPr algn="ctr">
                        <a:defRPr sz="950">
                          <a:solidFill>
                            <a:srgbClr val="1A1A1A"/>
                          </a:solidFill>
                          <a:latin typeface="Bookman Old Style"/>
                        </a:defRPr>
                      </a:pPr>
                      <a:r>
                        <a:t>321 (114+111+96)</a:t>
                      </a:r>
                    </a:p>
                  </a:txBody>
                  <a:tcPr anchor="ctr">
                    <a:solidFill>
                      <a:srgbClr val="FFFFFF"/>
                    </a:solidFill>
                  </a:tcPr>
                </a:tc>
                <a:tc>
                  <a:txBody>
                    <a:bodyPr/>
                    <a:lstStyle/>
                    <a:p>
                      <a:pPr algn="ctr">
                        <a:defRPr sz="950">
                          <a:solidFill>
                            <a:srgbClr val="1A1A1A"/>
                          </a:solidFill>
                          <a:latin typeface="Bookman Old Style"/>
                        </a:defRPr>
                      </a:pPr>
                      <a:r>
                        <a:t>12.36%</a:t>
                      </a:r>
                    </a:p>
                  </a:txBody>
                  <a:tcPr anchor="ctr">
                    <a:solidFill>
                      <a:srgbClr val="FFFFFF"/>
                    </a:solidFill>
                  </a:tcPr>
                </a:tc>
                <a:extLst>
                  <a:ext uri="{0D108BD9-81ED-4DB2-BD59-A6C34878D82A}">
                    <a16:rowId xmlns:a16="http://schemas.microsoft.com/office/drawing/2014/main" val="10007"/>
                  </a:ext>
                </a:extLst>
              </a:tr>
              <a:tr h="325120">
                <a:tc>
                  <a:txBody>
                    <a:bodyPr/>
                    <a:lstStyle/>
                    <a:p>
                      <a:pPr algn="l">
                        <a:defRPr sz="950">
                          <a:solidFill>
                            <a:srgbClr val="1A1A1A"/>
                          </a:solidFill>
                          <a:latin typeface="Bookman Old Style"/>
                        </a:defRPr>
                      </a:pPr>
                      <a:r>
                        <a:t>Soybean, Cherry, Rice</a:t>
                      </a:r>
                    </a:p>
                  </a:txBody>
                  <a:tcPr anchor="ctr">
                    <a:solidFill>
                      <a:srgbClr val="F8F9FA"/>
                    </a:solidFill>
                  </a:tcPr>
                </a:tc>
                <a:tc>
                  <a:txBody>
                    <a:bodyPr/>
                    <a:lstStyle/>
                    <a:p>
                      <a:pPr algn="ctr">
                        <a:defRPr sz="950">
                          <a:solidFill>
                            <a:srgbClr val="1A1A1A"/>
                          </a:solidFill>
                          <a:latin typeface="Bookman Old Style"/>
                        </a:defRPr>
                      </a:pPr>
                      <a:r>
                        <a:t>158 (65+57+36)</a:t>
                      </a:r>
                    </a:p>
                  </a:txBody>
                  <a:tcPr anchor="ctr">
                    <a:solidFill>
                      <a:srgbClr val="F8F9FA"/>
                    </a:solidFill>
                  </a:tcPr>
                </a:tc>
                <a:tc>
                  <a:txBody>
                    <a:bodyPr/>
                    <a:lstStyle/>
                    <a:p>
                      <a:pPr algn="ctr">
                        <a:defRPr sz="950">
                          <a:solidFill>
                            <a:srgbClr val="1A1A1A"/>
                          </a:solidFill>
                          <a:latin typeface="Bookman Old Style"/>
                        </a:defRPr>
                      </a:pPr>
                      <a:r>
                        <a:t>6.09%</a:t>
                      </a:r>
                    </a:p>
                  </a:txBody>
                  <a:tcPr anchor="ctr">
                    <a:solidFill>
                      <a:srgbClr val="F8F9FA"/>
                    </a:solidFill>
                  </a:tcPr>
                </a:tc>
                <a:extLst>
                  <a:ext uri="{0D108BD9-81ED-4DB2-BD59-A6C34878D82A}">
                    <a16:rowId xmlns:a16="http://schemas.microsoft.com/office/drawing/2014/main" val="10008"/>
                  </a:ext>
                </a:extLst>
              </a:tr>
            </a:tbl>
          </a:graphicData>
        </a:graphic>
      </p:graphicFrame>
      <p:sp>
        <p:nvSpPr>
          <p:cNvPr id="12" name="Rounded Rectangle 11"/>
          <p:cNvSpPr/>
          <p:nvPr/>
        </p:nvSpPr>
        <p:spPr>
          <a:xfrm>
            <a:off x="6583680" y="4983480"/>
            <a:ext cx="4754880" cy="100584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5029200"/>
            <a:ext cx="4572000" cy="914400"/>
          </a:xfrm>
          <a:prstGeom prst="rect">
            <a:avLst/>
          </a:prstGeom>
          <a:noFill/>
        </p:spPr>
        <p:txBody>
          <a:bodyPr wrap="square">
            <a:spAutoFit/>
          </a:bodyPr>
          <a:lstStyle/>
          <a:p>
            <a:pPr>
              <a:defRPr sz="1000" b="1">
                <a:solidFill>
                  <a:srgbClr val="1B4332"/>
                </a:solidFill>
                <a:latin typeface="Bookman Old Style"/>
              </a:defRPr>
            </a:pPr>
            <a:r>
              <a:rPr dirty="0"/>
              <a:t>Condition Split: 1,750 Diseased (67.4%) | 846 Healthy (32.6%)</a:t>
            </a:r>
            <a:br>
              <a:rPr dirty="0"/>
            </a:br>
            <a:r>
              <a:rPr dirty="0"/>
              <a:t>Sources: </a:t>
            </a:r>
            <a:r>
              <a:rPr dirty="0" err="1"/>
              <a:t>PlantDoc</a:t>
            </a:r>
            <a:r>
              <a:rPr dirty="0"/>
              <a:t> (2,560, 98.6%) | ICAR/OGD (36, 1.4%)</a:t>
            </a:r>
            <a:br>
              <a:rPr dirty="0"/>
            </a:br>
            <a:r>
              <a:rPr dirty="0"/>
              <a:t>Manifest SHA-256: c7fd16dc...1cb8 (Verified Invariant)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End-to-End System Architecture &amp; Data Flow</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6 / 24</a:t>
            </a:r>
          </a:p>
        </p:txBody>
      </p:sp>
      <p:sp>
        <p:nvSpPr>
          <p:cNvPr id="7" name="Rounded Rectangle 6"/>
          <p:cNvSpPr/>
          <p:nvPr/>
        </p:nvSpPr>
        <p:spPr>
          <a:xfrm>
            <a:off x="731520"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2240280" cy="1737360"/>
          </a:xfrm>
          <a:prstGeom prst="rect">
            <a:avLst/>
          </a:prstGeom>
          <a:noFill/>
        </p:spPr>
        <p:txBody>
          <a:bodyPr wrap="square">
            <a:spAutoFit/>
          </a:bodyPr>
          <a:lstStyle/>
          <a:p>
            <a:pPr>
              <a:spcAft>
                <a:spcPts val="600"/>
              </a:spcAft>
              <a:defRPr sz="1200" b="1">
                <a:solidFill>
                  <a:srgbClr val="1B4332"/>
                </a:solidFill>
                <a:latin typeface="Bookman Old Style"/>
              </a:defRPr>
            </a:pPr>
            <a:r>
              <a:t>1. INGESTION &amp; GATES</a:t>
            </a:r>
          </a:p>
          <a:p>
            <a:pPr>
              <a:defRPr sz="1050">
                <a:solidFill>
                  <a:srgbClr val="1A1A1A"/>
                </a:solidFill>
                <a:latin typeface="Bookman Old Style"/>
              </a:defRPr>
            </a:pPr>
            <a:r>
              <a:t>• Ingests 2,596 images</a:t>
            </a:r>
            <a:br/>
            <a:r>
              <a:t>• 5 validation gates</a:t>
            </a:r>
            <a:br/>
            <a:r>
              <a:t>• Rejects corrupt bytes</a:t>
            </a:r>
            <a:br/>
            <a:r>
              <a:t>• MD5 deduplication</a:t>
            </a:r>
          </a:p>
        </p:txBody>
      </p:sp>
      <p:sp>
        <p:nvSpPr>
          <p:cNvPr id="9" name="Rounded Rectangle 8"/>
          <p:cNvSpPr/>
          <p:nvPr/>
        </p:nvSpPr>
        <p:spPr>
          <a:xfrm>
            <a:off x="3465576"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1508760"/>
            <a:ext cx="2240280" cy="1737360"/>
          </a:xfrm>
          <a:prstGeom prst="rect">
            <a:avLst/>
          </a:prstGeom>
          <a:noFill/>
        </p:spPr>
        <p:txBody>
          <a:bodyPr wrap="square">
            <a:spAutoFit/>
          </a:bodyPr>
          <a:lstStyle/>
          <a:p>
            <a:pPr>
              <a:spcAft>
                <a:spcPts val="600"/>
              </a:spcAft>
              <a:defRPr sz="1200" b="1">
                <a:solidFill>
                  <a:srgbClr val="2D6A4F"/>
                </a:solidFill>
                <a:latin typeface="Bookman Old Style"/>
              </a:defRPr>
            </a:pPr>
            <a:r>
              <a:t>2. PREPROCESSING</a:t>
            </a:r>
          </a:p>
          <a:p>
            <a:pPr>
              <a:defRPr sz="1050">
                <a:solidFill>
                  <a:srgbClr val="1A1A1A"/>
                </a:solidFill>
                <a:latin typeface="Bookman Old Style"/>
              </a:defRPr>
            </a:pPr>
            <a:r>
              <a:t>• 256x256 RGB resize</a:t>
            </a:r>
            <a:br/>
            <a:r>
              <a:t>• EXIF auto-transpose</a:t>
            </a:r>
            <a:br/>
            <a:r>
              <a:t>• RGBA canvas composite</a:t>
            </a:r>
            <a:br/>
            <a:r>
              <a:t>• Zero dataset mutation</a:t>
            </a:r>
          </a:p>
        </p:txBody>
      </p:sp>
      <p:sp>
        <p:nvSpPr>
          <p:cNvPr id="11" name="Rounded Rectangle 10"/>
          <p:cNvSpPr/>
          <p:nvPr/>
        </p:nvSpPr>
        <p:spPr>
          <a:xfrm>
            <a:off x="6199632"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1508760"/>
            <a:ext cx="2240280" cy="1737360"/>
          </a:xfrm>
          <a:prstGeom prst="rect">
            <a:avLst/>
          </a:prstGeom>
          <a:noFill/>
        </p:spPr>
        <p:txBody>
          <a:bodyPr wrap="square">
            <a:spAutoFit/>
          </a:bodyPr>
          <a:lstStyle/>
          <a:p>
            <a:pPr>
              <a:spcAft>
                <a:spcPts val="600"/>
              </a:spcAft>
              <a:defRPr sz="1200" b="1">
                <a:solidFill>
                  <a:srgbClr val="1E3A8A"/>
                </a:solidFill>
                <a:latin typeface="Bookman Old Style"/>
              </a:defRPr>
            </a:pPr>
            <a:r>
              <a:t>3. FEATURE STORE</a:t>
            </a:r>
          </a:p>
          <a:p>
            <a:pPr>
              <a:defRPr sz="1050">
                <a:solidFill>
                  <a:srgbClr val="1A1A1A"/>
                </a:solidFill>
                <a:latin typeface="Bookman Old Style"/>
              </a:defRPr>
            </a:pPr>
            <a:r>
              <a:t>• 32 continuous features</a:t>
            </a:r>
            <a:br/>
            <a:r>
              <a:t>• Color moments (19)</a:t>
            </a:r>
            <a:br/>
            <a:r>
              <a:t>• Haralick GLCM (7)</a:t>
            </a:r>
            <a:br/>
            <a:r>
              <a:t>• Morphometry (6)</a:t>
            </a:r>
          </a:p>
        </p:txBody>
      </p:sp>
      <p:sp>
        <p:nvSpPr>
          <p:cNvPr id="13" name="Rounded Rectangle 12"/>
          <p:cNvSpPr/>
          <p:nvPr/>
        </p:nvSpPr>
        <p:spPr>
          <a:xfrm>
            <a:off x="8933688" y="1371600"/>
            <a:ext cx="2514600" cy="2011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70848" y="1508760"/>
            <a:ext cx="2240280" cy="1737360"/>
          </a:xfrm>
          <a:prstGeom prst="rect">
            <a:avLst/>
          </a:prstGeom>
          <a:noFill/>
        </p:spPr>
        <p:txBody>
          <a:bodyPr wrap="square">
            <a:spAutoFit/>
          </a:bodyPr>
          <a:lstStyle/>
          <a:p>
            <a:pPr>
              <a:spcAft>
                <a:spcPts val="600"/>
              </a:spcAft>
              <a:defRPr sz="1200" b="1">
                <a:solidFill>
                  <a:srgbClr val="1B4332"/>
                </a:solidFill>
                <a:latin typeface="Bookman Old Style"/>
              </a:defRPr>
            </a:pPr>
            <a:r>
              <a:t>4. WAREHOUSE &amp; ETL</a:t>
            </a:r>
          </a:p>
          <a:p>
            <a:pPr>
              <a:defRPr sz="1050">
                <a:solidFill>
                  <a:srgbClr val="1A1A1A"/>
                </a:solidFill>
                <a:latin typeface="Bookman Old Style"/>
              </a:defRPr>
            </a:pPr>
            <a:r>
              <a:t>• Kimball Star Schema</a:t>
            </a:r>
            <a:br/>
            <a:r>
              <a:t>• SQLite 3 database</a:t>
            </a:r>
            <a:br/>
            <a:r>
              <a:t>• Dimension-first load</a:t>
            </a:r>
            <a:br/>
            <a:r>
              <a:t>• 100% idempotent</a:t>
            </a:r>
          </a:p>
        </p:txBody>
      </p:sp>
      <p:sp>
        <p:nvSpPr>
          <p:cNvPr id="15" name="Rounded Rectangle 14"/>
          <p:cNvSpPr/>
          <p:nvPr/>
        </p:nvSpPr>
        <p:spPr>
          <a:xfrm>
            <a:off x="731520" y="3566160"/>
            <a:ext cx="5248656" cy="256032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703320"/>
            <a:ext cx="4882896" cy="2286000"/>
          </a:xfrm>
          <a:prstGeom prst="rect">
            <a:avLst/>
          </a:prstGeom>
          <a:noFill/>
        </p:spPr>
        <p:txBody>
          <a:bodyPr wrap="square">
            <a:spAutoFit/>
          </a:bodyPr>
          <a:lstStyle/>
          <a:p>
            <a:pPr>
              <a:spcAft>
                <a:spcPts val="600"/>
              </a:spcAft>
              <a:defRPr sz="1300" b="1">
                <a:solidFill>
                  <a:srgbClr val="1B4332"/>
                </a:solidFill>
                <a:latin typeface="Bookman Old Style"/>
              </a:defRPr>
            </a:pPr>
            <a:r>
              <a:t>5. ANALYTICAL MINING &amp; OLAP ENGINES</a:t>
            </a:r>
          </a:p>
          <a:p>
            <a:pPr>
              <a:spcAft>
                <a:spcPts val="600"/>
              </a:spcAft>
            </a:pPr>
            <a:r>
              <a:rPr sz="1200" b="1">
                <a:solidFill>
                  <a:srgbClr val="1B4332"/>
                </a:solidFill>
                <a:latin typeface="Bookman Old Style"/>
              </a:rPr>
              <a:t>• SQL OLAP Engine: </a:t>
            </a:r>
            <a:r>
              <a:rPr sz="1200">
                <a:solidFill>
                  <a:srgbClr val="1A1A1A"/>
                </a:solidFill>
                <a:latin typeface="Bookman Old Style"/>
              </a:rPr>
              <a:t>Executes parameterized Roll-up, Drill-down, Slice, Dice, and Pivot queries (&lt;10ms).</a:t>
            </a:r>
          </a:p>
          <a:p>
            <a:pPr>
              <a:spcAft>
                <a:spcPts val="600"/>
              </a:spcAft>
            </a:pPr>
            <a:r>
              <a:rPr sz="1200" b="1">
                <a:solidFill>
                  <a:srgbClr val="1B4332"/>
                </a:solidFill>
                <a:latin typeface="Bookman Old Style"/>
              </a:rPr>
              <a:t>• Dual-K K-Means Clustering: </a:t>
            </a:r>
            <a:r>
              <a:rPr sz="1200">
                <a:solidFill>
                  <a:srgbClr val="1A1A1A"/>
                </a:solidFill>
                <a:latin typeface="Bookman Old Style"/>
              </a:rPr>
              <a:t>K=2 metric-supported (Silhouette=0.4060) and K=4 exploratory subpartition.</a:t>
            </a:r>
          </a:p>
          <a:p>
            <a:pPr>
              <a:spcAft>
                <a:spcPts val="600"/>
              </a:spcAft>
            </a:pPr>
            <a:r>
              <a:rPr sz="1200" b="1">
                <a:solidFill>
                  <a:srgbClr val="1B4332"/>
                </a:solidFill>
                <a:latin typeface="Bookman Old Style"/>
              </a:rPr>
              <a:t>• 2D PCA Projection: </a:t>
            </a:r>
            <a:r>
              <a:rPr sz="1200">
                <a:solidFill>
                  <a:srgbClr val="1A1A1A"/>
                </a:solidFill>
                <a:latin typeface="Bookman Old Style"/>
              </a:rPr>
              <a:t>Explains 52.11% variance (PC1=38.56%, PC2=13.55%).</a:t>
            </a:r>
          </a:p>
          <a:p>
            <a:pPr>
              <a:spcAft>
                <a:spcPts val="600"/>
              </a:spcAft>
            </a:pPr>
            <a:r>
              <a:rPr sz="1200" b="1">
                <a:solidFill>
                  <a:srgbClr val="1B4332"/>
                </a:solidFill>
                <a:latin typeface="Bookman Old Style"/>
              </a:rPr>
              <a:t>• Association Mining: </a:t>
            </a:r>
            <a:r>
              <a:rPr sz="1200">
                <a:solidFill>
                  <a:srgbClr val="1A1A1A"/>
                </a:solidFill>
                <a:latin typeface="Bookman Old Style"/>
              </a:rPr>
              <a:t>FP-Growth &amp; Apriori produce 880 identical Mode A rules.</a:t>
            </a:r>
          </a:p>
        </p:txBody>
      </p:sp>
      <p:sp>
        <p:nvSpPr>
          <p:cNvPr id="17" name="Rounded Rectangle 16"/>
          <p:cNvSpPr/>
          <p:nvPr/>
        </p:nvSpPr>
        <p:spPr>
          <a:xfrm>
            <a:off x="6199632" y="3566160"/>
            <a:ext cx="5257800" cy="256032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703320"/>
            <a:ext cx="4892040" cy="2286000"/>
          </a:xfrm>
          <a:prstGeom prst="rect">
            <a:avLst/>
          </a:prstGeom>
          <a:noFill/>
        </p:spPr>
        <p:txBody>
          <a:bodyPr wrap="square">
            <a:spAutoFit/>
          </a:bodyPr>
          <a:lstStyle/>
          <a:p>
            <a:pPr>
              <a:spcAft>
                <a:spcPts val="600"/>
              </a:spcAft>
              <a:defRPr sz="1300" b="1">
                <a:solidFill>
                  <a:srgbClr val="1B4332"/>
                </a:solidFill>
                <a:latin typeface="Bookman Old Style"/>
              </a:defRPr>
            </a:pPr>
            <a:r>
              <a:t>6. API &amp; INTERACTIVE PRESENTATION TIER</a:t>
            </a:r>
          </a:p>
          <a:p>
            <a:pPr>
              <a:spcAft>
                <a:spcPts val="600"/>
              </a:spcAft>
            </a:pPr>
            <a:r>
              <a:rPr sz="1200" b="1">
                <a:solidFill>
                  <a:srgbClr val="1B4332"/>
                </a:solidFill>
                <a:latin typeface="Bookman Old Style"/>
              </a:rPr>
              <a:t>• FastAPI Asynchronous Backend: </a:t>
            </a:r>
            <a:r>
              <a:rPr sz="1200">
                <a:solidFill>
                  <a:srgbClr val="1A1A1A"/>
                </a:solidFill>
                <a:latin typeface="Bookman Old Style"/>
              </a:rPr>
              <a:t>9 RESTful endpoints delivering JSON telemetry for health, dataset, OLAP, and mining.</a:t>
            </a:r>
          </a:p>
          <a:p>
            <a:pPr>
              <a:spcAft>
                <a:spcPts val="600"/>
              </a:spcAft>
            </a:pPr>
            <a:r>
              <a:rPr sz="1200" b="1">
                <a:solidFill>
                  <a:srgbClr val="1B4332"/>
                </a:solidFill>
                <a:latin typeface="Bookman Old Style"/>
              </a:rPr>
              <a:t>• React 18 + TypeScript GUI: </a:t>
            </a:r>
            <a:r>
              <a:rPr sz="1200">
                <a:solidFill>
                  <a:srgbClr val="1A1A1A"/>
                </a:solidFill>
                <a:latin typeface="Bookman Old Style"/>
              </a:rPr>
              <a:t>Stitch-engineered 9-page responsive dashboard with interactive data exploration.</a:t>
            </a:r>
          </a:p>
          <a:p>
            <a:pPr>
              <a:spcAft>
                <a:spcPts val="600"/>
              </a:spcAft>
            </a:pPr>
            <a:r>
              <a:rPr sz="1200" b="1">
                <a:solidFill>
                  <a:srgbClr val="1B4332"/>
                </a:solidFill>
                <a:latin typeface="Bookman Old Style"/>
              </a:rPr>
              <a:t>• Image Analysis Workbench: </a:t>
            </a:r>
            <a:r>
              <a:rPr sz="1200">
                <a:solidFill>
                  <a:srgbClr val="1A1A1A"/>
                </a:solidFill>
                <a:latin typeface="Bookman Old Style"/>
              </a:rPr>
              <a:t>Real-time in-memory specimen extraction and reference Euclidean distance retrieval.</a:t>
            </a:r>
          </a:p>
          <a:p>
            <a:pPr>
              <a:spcAft>
                <a:spcPts val="600"/>
              </a:spcAft>
            </a:pPr>
            <a:r>
              <a:rPr sz="1200" b="1">
                <a:solidFill>
                  <a:srgbClr val="1B4332"/>
                </a:solidFill>
                <a:latin typeface="Bookman Old Style"/>
              </a:rPr>
              <a:t>• Playwright Browser Automation: </a:t>
            </a:r>
            <a:r>
              <a:rPr sz="1200">
                <a:solidFill>
                  <a:srgbClr val="1A1A1A"/>
                </a:solidFill>
                <a:latin typeface="Bookman Old Style"/>
              </a:rPr>
              <a:t>10 end-to-end automated tests driving system Chrome.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Technology Stack &amp; Architectural Rationale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7 / 24</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528320">
                <a:tc>
                  <a:txBody>
                    <a:bodyPr/>
                    <a:lstStyle/>
                    <a:p>
                      <a:pPr algn="ctr">
                        <a:defRPr sz="1100" b="1">
                          <a:solidFill>
                            <a:srgbClr val="FFFFFF"/>
                          </a:solidFill>
                          <a:latin typeface="Bookman Old Style"/>
                        </a:defRPr>
                      </a:pPr>
                      <a:r>
                        <a:t>Technology / Library</a:t>
                      </a:r>
                    </a:p>
                  </a:txBody>
                  <a:tcPr anchor="ctr">
                    <a:solidFill>
                      <a:srgbClr val="1B4332"/>
                    </a:solidFill>
                  </a:tcPr>
                </a:tc>
                <a:tc>
                  <a:txBody>
                    <a:bodyPr/>
                    <a:lstStyle/>
                    <a:p>
                      <a:pPr algn="ctr">
                        <a:defRPr sz="1100" b="1">
                          <a:solidFill>
                            <a:srgbClr val="FFFFFF"/>
                          </a:solidFill>
                          <a:latin typeface="Bookman Old Style"/>
                        </a:defRPr>
                      </a:pPr>
                      <a:r>
                        <a:t>Layer / Module</a:t>
                      </a:r>
                    </a:p>
                  </a:txBody>
                  <a:tcPr anchor="ctr">
                    <a:solidFill>
                      <a:srgbClr val="1B4332"/>
                    </a:solidFill>
                  </a:tcPr>
                </a:tc>
                <a:tc>
                  <a:txBody>
                    <a:bodyPr/>
                    <a:lstStyle/>
                    <a:p>
                      <a:pPr algn="ctr">
                        <a:defRPr sz="1100" b="1">
                          <a:solidFill>
                            <a:srgbClr val="FFFFFF"/>
                          </a:solidFill>
                          <a:latin typeface="Bookman Old Style"/>
                        </a:defRPr>
                      </a:pPr>
                      <a:r>
                        <a:t>Functional Implementation Role</a:t>
                      </a:r>
                    </a:p>
                  </a:txBody>
                  <a:tcPr anchor="ctr">
                    <a:solidFill>
                      <a:srgbClr val="1B4332"/>
                    </a:solidFill>
                  </a:tcPr>
                </a:tc>
                <a:tc>
                  <a:txBody>
                    <a:bodyPr/>
                    <a:lstStyle/>
                    <a:p>
                      <a:pPr algn="ctr">
                        <a:defRPr sz="1100" b="1">
                          <a:solidFill>
                            <a:srgbClr val="FFFFFF"/>
                          </a:solidFill>
                          <a:latin typeface="Bookman Old Style"/>
                        </a:defRPr>
                      </a:pPr>
                      <a:r>
                        <a:t>Architectural Rationale</a:t>
                      </a:r>
                    </a:p>
                  </a:txBody>
                  <a:tcPr anchor="ctr">
                    <a:solidFill>
                      <a:srgbClr val="1B4332"/>
                    </a:solidFill>
                  </a:tcPr>
                </a:tc>
                <a:extLst>
                  <a:ext uri="{0D108BD9-81ED-4DB2-BD59-A6C34878D82A}">
                    <a16:rowId xmlns:a16="http://schemas.microsoft.com/office/drawing/2014/main" val="10000"/>
                  </a:ext>
                </a:extLst>
              </a:tr>
              <a:tr h="528320">
                <a:tc>
                  <a:txBody>
                    <a:bodyPr/>
                    <a:lstStyle/>
                    <a:p>
                      <a:pPr algn="l">
                        <a:defRPr sz="1000">
                          <a:solidFill>
                            <a:srgbClr val="1A1A1A"/>
                          </a:solidFill>
                          <a:latin typeface="Bookman Old Style"/>
                        </a:defRPr>
                      </a:pPr>
                      <a:r>
                        <a:t>Python 3.11</a:t>
                      </a:r>
                    </a:p>
                  </a:txBody>
                  <a:tcPr anchor="ctr">
                    <a:solidFill>
                      <a:srgbClr val="FFFFFF"/>
                    </a:solidFill>
                  </a:tcPr>
                </a:tc>
                <a:tc>
                  <a:txBody>
                    <a:bodyPr/>
                    <a:lstStyle/>
                    <a:p>
                      <a:pPr algn="l">
                        <a:defRPr sz="1000">
                          <a:solidFill>
                            <a:srgbClr val="1A1A1A"/>
                          </a:solidFill>
                          <a:latin typeface="Bookman Old Style"/>
                        </a:defRPr>
                      </a:pPr>
                      <a:r>
                        <a:t>Core Runtime</a:t>
                      </a:r>
                    </a:p>
                  </a:txBody>
                  <a:tcPr anchor="ctr">
                    <a:solidFill>
                      <a:srgbClr val="FFFFFF"/>
                    </a:solidFill>
                  </a:tcPr>
                </a:tc>
                <a:tc>
                  <a:txBody>
                    <a:bodyPr/>
                    <a:lstStyle/>
                    <a:p>
                      <a:pPr algn="l">
                        <a:defRPr sz="1000">
                          <a:solidFill>
                            <a:srgbClr val="1A1A1A"/>
                          </a:solidFill>
                          <a:latin typeface="Bookman Old Style"/>
                        </a:defRPr>
                      </a:pPr>
                      <a:r>
                        <a:t>ETL pipeline, feature extraction, mining engines</a:t>
                      </a:r>
                    </a:p>
                  </a:txBody>
                  <a:tcPr anchor="ctr">
                    <a:solidFill>
                      <a:srgbClr val="FFFFFF"/>
                    </a:solidFill>
                  </a:tcPr>
                </a:tc>
                <a:tc>
                  <a:txBody>
                    <a:bodyPr/>
                    <a:lstStyle/>
                    <a:p>
                      <a:pPr algn="l">
                        <a:defRPr sz="1000">
                          <a:solidFill>
                            <a:srgbClr val="1A1A1A"/>
                          </a:solidFill>
                          <a:latin typeface="Bookman Old Style"/>
                        </a:defRPr>
                      </a:pPr>
                      <a:r>
                        <a:t>High performance, robust scientific computing ecosystem</a:t>
                      </a:r>
                    </a:p>
                  </a:txBody>
                  <a:tcPr anchor="ctr">
                    <a:solidFill>
                      <a:srgbClr val="FFFFFF"/>
                    </a:solidFill>
                  </a:tcPr>
                </a:tc>
                <a:extLst>
                  <a:ext uri="{0D108BD9-81ED-4DB2-BD59-A6C34878D82A}">
                    <a16:rowId xmlns:a16="http://schemas.microsoft.com/office/drawing/2014/main" val="10001"/>
                  </a:ext>
                </a:extLst>
              </a:tr>
              <a:tr h="528320">
                <a:tc>
                  <a:txBody>
                    <a:bodyPr/>
                    <a:lstStyle/>
                    <a:p>
                      <a:pPr algn="l">
                        <a:defRPr sz="1000">
                          <a:solidFill>
                            <a:srgbClr val="1A1A1A"/>
                          </a:solidFill>
                          <a:latin typeface="Bookman Old Style"/>
                        </a:defRPr>
                      </a:pPr>
                      <a:r>
                        <a:t>NumPy &amp; Pandas</a:t>
                      </a:r>
                    </a:p>
                  </a:txBody>
                  <a:tcPr anchor="ctr">
                    <a:solidFill>
                      <a:srgbClr val="F8F9FA"/>
                    </a:solidFill>
                  </a:tcPr>
                </a:tc>
                <a:tc>
                  <a:txBody>
                    <a:bodyPr/>
                    <a:lstStyle/>
                    <a:p>
                      <a:pPr algn="l">
                        <a:defRPr sz="1000">
                          <a:solidFill>
                            <a:srgbClr val="1A1A1A"/>
                          </a:solidFill>
                          <a:latin typeface="Bookman Old Style"/>
                        </a:defRPr>
                      </a:pPr>
                      <a:r>
                        <a:t>Data Processing</a:t>
                      </a:r>
                    </a:p>
                  </a:txBody>
                  <a:tcPr anchor="ctr">
                    <a:solidFill>
                      <a:srgbClr val="F8F9FA"/>
                    </a:solidFill>
                  </a:tcPr>
                </a:tc>
                <a:tc>
                  <a:txBody>
                    <a:bodyPr/>
                    <a:lstStyle/>
                    <a:p>
                      <a:pPr algn="l">
                        <a:defRPr sz="1000">
                          <a:solidFill>
                            <a:srgbClr val="1A1A1A"/>
                          </a:solidFill>
                          <a:latin typeface="Bookman Old Style"/>
                        </a:defRPr>
                      </a:pPr>
                      <a:r>
                        <a:t>Vectorized calculations, 44-col feature store</a:t>
                      </a:r>
                    </a:p>
                  </a:txBody>
                  <a:tcPr anchor="ctr">
                    <a:solidFill>
                      <a:srgbClr val="F8F9FA"/>
                    </a:solidFill>
                  </a:tcPr>
                </a:tc>
                <a:tc>
                  <a:txBody>
                    <a:bodyPr/>
                    <a:lstStyle/>
                    <a:p>
                      <a:pPr algn="l">
                        <a:defRPr sz="1000">
                          <a:solidFill>
                            <a:srgbClr val="1A1A1A"/>
                          </a:solidFill>
                          <a:latin typeface="Bookman Old Style"/>
                        </a:defRPr>
                      </a:pPr>
                      <a:r>
                        <a:t>Fast matrix operations and tabular data transformation</a:t>
                      </a:r>
                    </a:p>
                  </a:txBody>
                  <a:tcPr anchor="ctr">
                    <a:solidFill>
                      <a:srgbClr val="F8F9FA"/>
                    </a:solidFill>
                  </a:tcPr>
                </a:tc>
                <a:extLst>
                  <a:ext uri="{0D108BD9-81ED-4DB2-BD59-A6C34878D82A}">
                    <a16:rowId xmlns:a16="http://schemas.microsoft.com/office/drawing/2014/main" val="10002"/>
                  </a:ext>
                </a:extLst>
              </a:tr>
              <a:tr h="528320">
                <a:tc>
                  <a:txBody>
                    <a:bodyPr/>
                    <a:lstStyle/>
                    <a:p>
                      <a:pPr algn="l">
                        <a:defRPr sz="1000">
                          <a:solidFill>
                            <a:srgbClr val="1A1A1A"/>
                          </a:solidFill>
                          <a:latin typeface="Bookman Old Style"/>
                        </a:defRPr>
                      </a:pPr>
                      <a:r>
                        <a:t>Pillow &amp; OpenCV</a:t>
                      </a:r>
                    </a:p>
                  </a:txBody>
                  <a:tcPr anchor="ctr">
                    <a:solidFill>
                      <a:srgbClr val="FFFFFF"/>
                    </a:solidFill>
                  </a:tcPr>
                </a:tc>
                <a:tc>
                  <a:txBody>
                    <a:bodyPr/>
                    <a:lstStyle/>
                    <a:p>
                      <a:pPr algn="l">
                        <a:defRPr sz="1000">
                          <a:solidFill>
                            <a:srgbClr val="1A1A1A"/>
                          </a:solidFill>
                          <a:latin typeface="Bookman Old Style"/>
                        </a:defRPr>
                      </a:pPr>
                      <a:r>
                        <a:t>Image Engineering</a:t>
                      </a:r>
                    </a:p>
                  </a:txBody>
                  <a:tcPr anchor="ctr">
                    <a:solidFill>
                      <a:srgbClr val="FFFFFF"/>
                    </a:solidFill>
                  </a:tcPr>
                </a:tc>
                <a:tc>
                  <a:txBody>
                    <a:bodyPr/>
                    <a:lstStyle/>
                    <a:p>
                      <a:pPr algn="l">
                        <a:defRPr sz="1000">
                          <a:solidFill>
                            <a:srgbClr val="1A1A1A"/>
                          </a:solidFill>
                          <a:latin typeface="Bookman Old Style"/>
                        </a:defRPr>
                      </a:pPr>
                      <a:r>
                        <a:t>EXIF transposition, color conversion, contour geometry</a:t>
                      </a:r>
                    </a:p>
                  </a:txBody>
                  <a:tcPr anchor="ctr">
                    <a:solidFill>
                      <a:srgbClr val="FFFFFF"/>
                    </a:solidFill>
                  </a:tcPr>
                </a:tc>
                <a:tc>
                  <a:txBody>
                    <a:bodyPr/>
                    <a:lstStyle/>
                    <a:p>
                      <a:pPr algn="l">
                        <a:defRPr sz="1000">
                          <a:solidFill>
                            <a:srgbClr val="1A1A1A"/>
                          </a:solidFill>
                          <a:latin typeface="Bookman Old Style"/>
                        </a:defRPr>
                      </a:pPr>
                      <a:r>
                        <a:t>Robust multi-format decoding and geometric shape extraction</a:t>
                      </a:r>
                    </a:p>
                  </a:txBody>
                  <a:tcPr anchor="ctr">
                    <a:solidFill>
                      <a:srgbClr val="FFFFFF"/>
                    </a:solidFill>
                  </a:tcPr>
                </a:tc>
                <a:extLst>
                  <a:ext uri="{0D108BD9-81ED-4DB2-BD59-A6C34878D82A}">
                    <a16:rowId xmlns:a16="http://schemas.microsoft.com/office/drawing/2014/main" val="10003"/>
                  </a:ext>
                </a:extLst>
              </a:tr>
              <a:tr h="528320">
                <a:tc>
                  <a:txBody>
                    <a:bodyPr/>
                    <a:lstStyle/>
                    <a:p>
                      <a:pPr algn="l">
                        <a:defRPr sz="1000">
                          <a:solidFill>
                            <a:srgbClr val="1A1A1A"/>
                          </a:solidFill>
                          <a:latin typeface="Bookman Old Style"/>
                        </a:defRPr>
                      </a:pPr>
                      <a:r>
                        <a:t>scikit-image &amp; sklearn</a:t>
                      </a:r>
                    </a:p>
                  </a:txBody>
                  <a:tcPr anchor="ctr">
                    <a:solidFill>
                      <a:srgbClr val="F8F9FA"/>
                    </a:solidFill>
                  </a:tcPr>
                </a:tc>
                <a:tc>
                  <a:txBody>
                    <a:bodyPr/>
                    <a:lstStyle/>
                    <a:p>
                      <a:pPr algn="l">
                        <a:defRPr sz="1000">
                          <a:solidFill>
                            <a:srgbClr val="1A1A1A"/>
                          </a:solidFill>
                          <a:latin typeface="Bookman Old Style"/>
                        </a:defRPr>
                      </a:pPr>
                      <a:r>
                        <a:t>Machine Learning</a:t>
                      </a:r>
                    </a:p>
                  </a:txBody>
                  <a:tcPr anchor="ctr">
                    <a:solidFill>
                      <a:srgbClr val="F8F9FA"/>
                    </a:solidFill>
                  </a:tcPr>
                </a:tc>
                <a:tc>
                  <a:txBody>
                    <a:bodyPr/>
                    <a:lstStyle/>
                    <a:p>
                      <a:pPr algn="l">
                        <a:defRPr sz="1000">
                          <a:solidFill>
                            <a:srgbClr val="1A1A1A"/>
                          </a:solidFill>
                          <a:latin typeface="Bookman Old Style"/>
                        </a:defRPr>
                      </a:pPr>
                      <a:r>
                        <a:t>GLCM gray-level matrix, StandardScaler, K-Means, PCA</a:t>
                      </a:r>
                    </a:p>
                  </a:txBody>
                  <a:tcPr anchor="ctr">
                    <a:solidFill>
                      <a:srgbClr val="F8F9FA"/>
                    </a:solidFill>
                  </a:tcPr>
                </a:tc>
                <a:tc>
                  <a:txBody>
                    <a:bodyPr/>
                    <a:lstStyle/>
                    <a:p>
                      <a:pPr algn="l">
                        <a:defRPr sz="1000">
                          <a:solidFill>
                            <a:srgbClr val="1A1A1A"/>
                          </a:solidFill>
                          <a:latin typeface="Bookman Old Style"/>
                        </a:defRPr>
                      </a:pPr>
                      <a:r>
                        <a:t>Gold-standard reproducible implementations of classical CV &amp; ML</a:t>
                      </a:r>
                    </a:p>
                  </a:txBody>
                  <a:tcPr anchor="ctr">
                    <a:solidFill>
                      <a:srgbClr val="F8F9FA"/>
                    </a:solidFill>
                  </a:tcPr>
                </a:tc>
                <a:extLst>
                  <a:ext uri="{0D108BD9-81ED-4DB2-BD59-A6C34878D82A}">
                    <a16:rowId xmlns:a16="http://schemas.microsoft.com/office/drawing/2014/main" val="10004"/>
                  </a:ext>
                </a:extLst>
              </a:tr>
              <a:tr h="528320">
                <a:tc>
                  <a:txBody>
                    <a:bodyPr/>
                    <a:lstStyle/>
                    <a:p>
                      <a:pPr algn="l">
                        <a:defRPr sz="1000">
                          <a:solidFill>
                            <a:srgbClr val="1A1A1A"/>
                          </a:solidFill>
                          <a:latin typeface="Bookman Old Style"/>
                        </a:defRPr>
                      </a:pPr>
                      <a:r>
                        <a:t>mlxtend</a:t>
                      </a:r>
                    </a:p>
                  </a:txBody>
                  <a:tcPr anchor="ctr">
                    <a:solidFill>
                      <a:srgbClr val="FFFFFF"/>
                    </a:solidFill>
                  </a:tcPr>
                </a:tc>
                <a:tc>
                  <a:txBody>
                    <a:bodyPr/>
                    <a:lstStyle/>
                    <a:p>
                      <a:pPr algn="l">
                        <a:defRPr sz="1000">
                          <a:solidFill>
                            <a:srgbClr val="1A1A1A"/>
                          </a:solidFill>
                          <a:latin typeface="Bookman Old Style"/>
                        </a:defRPr>
                      </a:pPr>
                      <a:r>
                        <a:t>Pattern Mining</a:t>
                      </a:r>
                    </a:p>
                  </a:txBody>
                  <a:tcPr anchor="ctr">
                    <a:solidFill>
                      <a:srgbClr val="FFFFFF"/>
                    </a:solidFill>
                  </a:tcPr>
                </a:tc>
                <a:tc>
                  <a:txBody>
                    <a:bodyPr/>
                    <a:lstStyle/>
                    <a:p>
                      <a:pPr algn="l">
                        <a:defRPr sz="1000">
                          <a:solidFill>
                            <a:srgbClr val="1A1A1A"/>
                          </a:solidFill>
                          <a:latin typeface="Bookman Old Style"/>
                        </a:defRPr>
                      </a:pPr>
                      <a:r>
                        <a:t>Apriori &amp; FP-Growth frequent itemset / rule generation</a:t>
                      </a:r>
                    </a:p>
                  </a:txBody>
                  <a:tcPr anchor="ctr">
                    <a:solidFill>
                      <a:srgbClr val="FFFFFF"/>
                    </a:solidFill>
                  </a:tcPr>
                </a:tc>
                <a:tc>
                  <a:txBody>
                    <a:bodyPr/>
                    <a:lstStyle/>
                    <a:p>
                      <a:pPr algn="l">
                        <a:defRPr sz="1000">
                          <a:solidFill>
                            <a:srgbClr val="1A1A1A"/>
                          </a:solidFill>
                          <a:latin typeface="Bookman Old Style"/>
                        </a:defRPr>
                      </a:pPr>
                      <a:r>
                        <a:t>Enables exact parity comparison between mining algorithms</a:t>
                      </a:r>
                    </a:p>
                  </a:txBody>
                  <a:tcPr anchor="ctr">
                    <a:solidFill>
                      <a:srgbClr val="FFFFFF"/>
                    </a:solidFill>
                  </a:tcPr>
                </a:tc>
                <a:extLst>
                  <a:ext uri="{0D108BD9-81ED-4DB2-BD59-A6C34878D82A}">
                    <a16:rowId xmlns:a16="http://schemas.microsoft.com/office/drawing/2014/main" val="10005"/>
                  </a:ext>
                </a:extLst>
              </a:tr>
              <a:tr h="528320">
                <a:tc>
                  <a:txBody>
                    <a:bodyPr/>
                    <a:lstStyle/>
                    <a:p>
                      <a:pPr algn="l">
                        <a:defRPr sz="1000">
                          <a:solidFill>
                            <a:srgbClr val="1A1A1A"/>
                          </a:solidFill>
                          <a:latin typeface="Bookman Old Style"/>
                        </a:defRPr>
                      </a:pPr>
                      <a:r>
                        <a:t>SQLite &amp; SQLAlchemy</a:t>
                      </a:r>
                    </a:p>
                  </a:txBody>
                  <a:tcPr anchor="ctr">
                    <a:solidFill>
                      <a:srgbClr val="F8F9FA"/>
                    </a:solidFill>
                  </a:tcPr>
                </a:tc>
                <a:tc>
                  <a:txBody>
                    <a:bodyPr/>
                    <a:lstStyle/>
                    <a:p>
                      <a:pPr algn="l">
                        <a:defRPr sz="1000">
                          <a:solidFill>
                            <a:srgbClr val="1A1A1A"/>
                          </a:solidFill>
                          <a:latin typeface="Bookman Old Style"/>
                        </a:defRPr>
                      </a:pPr>
                      <a:r>
                        <a:t>Data Warehouse</a:t>
                      </a:r>
                    </a:p>
                  </a:txBody>
                  <a:tcPr anchor="ctr">
                    <a:solidFill>
                      <a:srgbClr val="F8F9FA"/>
                    </a:solidFill>
                  </a:tcPr>
                </a:tc>
                <a:tc>
                  <a:txBody>
                    <a:bodyPr/>
                    <a:lstStyle/>
                    <a:p>
                      <a:pPr algn="l">
                        <a:defRPr sz="1000">
                          <a:solidFill>
                            <a:srgbClr val="1A1A1A"/>
                          </a:solidFill>
                          <a:latin typeface="Bookman Old Style"/>
                        </a:defRPr>
                      </a:pPr>
                      <a:r>
                        <a:t>Kimball Star Schema with PRAGMA foreign_keys = 1</a:t>
                      </a:r>
                    </a:p>
                  </a:txBody>
                  <a:tcPr anchor="ctr">
                    <a:solidFill>
                      <a:srgbClr val="F8F9FA"/>
                    </a:solidFill>
                  </a:tcPr>
                </a:tc>
                <a:tc>
                  <a:txBody>
                    <a:bodyPr/>
                    <a:lstStyle/>
                    <a:p>
                      <a:pPr algn="l">
                        <a:defRPr sz="1000">
                          <a:solidFill>
                            <a:srgbClr val="1A1A1A"/>
                          </a:solidFill>
                          <a:latin typeface="Bookman Old Style"/>
                        </a:defRPr>
                      </a:pPr>
                      <a:r>
                        <a:t>Lightweight, zero-config ACID-compliant relational warehouse</a:t>
                      </a:r>
                    </a:p>
                  </a:txBody>
                  <a:tcPr anchor="ctr">
                    <a:solidFill>
                      <a:srgbClr val="F8F9FA"/>
                    </a:solidFill>
                  </a:tcPr>
                </a:tc>
                <a:extLst>
                  <a:ext uri="{0D108BD9-81ED-4DB2-BD59-A6C34878D82A}">
                    <a16:rowId xmlns:a16="http://schemas.microsoft.com/office/drawing/2014/main" val="10006"/>
                  </a:ext>
                </a:extLst>
              </a:tr>
              <a:tr h="528320">
                <a:tc>
                  <a:txBody>
                    <a:bodyPr/>
                    <a:lstStyle/>
                    <a:p>
                      <a:pPr algn="l">
                        <a:defRPr sz="1000">
                          <a:solidFill>
                            <a:srgbClr val="1A1A1A"/>
                          </a:solidFill>
                          <a:latin typeface="Bookman Old Style"/>
                        </a:defRPr>
                      </a:pPr>
                      <a:r>
                        <a:t>FastAPI</a:t>
                      </a:r>
                    </a:p>
                  </a:txBody>
                  <a:tcPr anchor="ctr">
                    <a:solidFill>
                      <a:srgbClr val="FFFFFF"/>
                    </a:solidFill>
                  </a:tcPr>
                </a:tc>
                <a:tc>
                  <a:txBody>
                    <a:bodyPr/>
                    <a:lstStyle/>
                    <a:p>
                      <a:pPr algn="l">
                        <a:defRPr sz="1000">
                          <a:solidFill>
                            <a:srgbClr val="1A1A1A"/>
                          </a:solidFill>
                          <a:latin typeface="Bookman Old Style"/>
                        </a:defRPr>
                      </a:pPr>
                      <a:r>
                        <a:t>API Backend</a:t>
                      </a:r>
                    </a:p>
                  </a:txBody>
                  <a:tcPr anchor="ctr">
                    <a:solidFill>
                      <a:srgbClr val="FFFFFF"/>
                    </a:solidFill>
                  </a:tcPr>
                </a:tc>
                <a:tc>
                  <a:txBody>
                    <a:bodyPr/>
                    <a:lstStyle/>
                    <a:p>
                      <a:pPr algn="l">
                        <a:defRPr sz="1000">
                          <a:solidFill>
                            <a:srgbClr val="1A1A1A"/>
                          </a:solidFill>
                          <a:latin typeface="Bookman Old Style"/>
                        </a:defRPr>
                      </a:pPr>
                      <a:r>
                        <a:t>Asynchronous REST endpoints for all analytical services</a:t>
                      </a:r>
                    </a:p>
                  </a:txBody>
                  <a:tcPr anchor="ctr">
                    <a:solidFill>
                      <a:srgbClr val="FFFFFF"/>
                    </a:solidFill>
                  </a:tcPr>
                </a:tc>
                <a:tc>
                  <a:txBody>
                    <a:bodyPr/>
                    <a:lstStyle/>
                    <a:p>
                      <a:pPr algn="l">
                        <a:defRPr sz="1000">
                          <a:solidFill>
                            <a:srgbClr val="1A1A1A"/>
                          </a:solidFill>
                          <a:latin typeface="Bookman Old Style"/>
                        </a:defRPr>
                      </a:pPr>
                      <a:r>
                        <a:t>Low-latency JSON serialization, automated OpenAPI documentation</a:t>
                      </a:r>
                    </a:p>
                  </a:txBody>
                  <a:tcPr anchor="ctr">
                    <a:solidFill>
                      <a:srgbClr val="FFFFFF"/>
                    </a:solidFill>
                  </a:tcPr>
                </a:tc>
                <a:extLst>
                  <a:ext uri="{0D108BD9-81ED-4DB2-BD59-A6C34878D82A}">
                    <a16:rowId xmlns:a16="http://schemas.microsoft.com/office/drawing/2014/main" val="10007"/>
                  </a:ext>
                </a:extLst>
              </a:tr>
              <a:tr h="528320">
                <a:tc>
                  <a:txBody>
                    <a:bodyPr/>
                    <a:lstStyle/>
                    <a:p>
                      <a:pPr algn="l">
                        <a:defRPr sz="1000">
                          <a:solidFill>
                            <a:srgbClr val="1A1A1A"/>
                          </a:solidFill>
                          <a:latin typeface="Bookman Old Style"/>
                        </a:defRPr>
                      </a:pPr>
                      <a:r>
                        <a:t>React 18 &amp; TypeScript</a:t>
                      </a:r>
                    </a:p>
                  </a:txBody>
                  <a:tcPr anchor="ctr">
                    <a:solidFill>
                      <a:srgbClr val="F8F9FA"/>
                    </a:solidFill>
                  </a:tcPr>
                </a:tc>
                <a:tc>
                  <a:txBody>
                    <a:bodyPr/>
                    <a:lstStyle/>
                    <a:p>
                      <a:pPr algn="l">
                        <a:defRPr sz="1000">
                          <a:solidFill>
                            <a:srgbClr val="1A1A1A"/>
                          </a:solidFill>
                          <a:latin typeface="Bookman Old Style"/>
                        </a:defRPr>
                      </a:pPr>
                      <a:r>
                        <a:t>Frontend GUI</a:t>
                      </a:r>
                    </a:p>
                  </a:txBody>
                  <a:tcPr anchor="ctr">
                    <a:solidFill>
                      <a:srgbClr val="F8F9FA"/>
                    </a:solidFill>
                  </a:tcPr>
                </a:tc>
                <a:tc>
                  <a:txBody>
                    <a:bodyPr/>
                    <a:lstStyle/>
                    <a:p>
                      <a:pPr algn="l">
                        <a:defRPr sz="1000">
                          <a:solidFill>
                            <a:srgbClr val="1A1A1A"/>
                          </a:solidFill>
                          <a:latin typeface="Bookman Old Style"/>
                        </a:defRPr>
                      </a:pPr>
                      <a:r>
                        <a:t>Interactive 9-page responsive analytical dashboard</a:t>
                      </a:r>
                    </a:p>
                  </a:txBody>
                  <a:tcPr anchor="ctr">
                    <a:solidFill>
                      <a:srgbClr val="F8F9FA"/>
                    </a:solidFill>
                  </a:tcPr>
                </a:tc>
                <a:tc>
                  <a:txBody>
                    <a:bodyPr/>
                    <a:lstStyle/>
                    <a:p>
                      <a:pPr algn="l">
                        <a:defRPr sz="1000">
                          <a:solidFill>
                            <a:srgbClr val="1A1A1A"/>
                          </a:solidFill>
                          <a:latin typeface="Bookman Old Style"/>
                        </a:defRPr>
                      </a:pPr>
                      <a:r>
                        <a:t>Component-driven modularity with strict type-safety checks</a:t>
                      </a:r>
                    </a:p>
                  </a:txBody>
                  <a:tcPr anchor="ctr">
                    <a:solidFill>
                      <a:srgbClr val="F8F9F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 Quality &amp; Preprocessing: 5 Automated Gates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8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120640" cy="4389120"/>
          </a:xfrm>
          <a:prstGeom prst="rect">
            <a:avLst/>
          </a:prstGeom>
          <a:noFill/>
        </p:spPr>
        <p:txBody>
          <a:bodyPr wrap="square">
            <a:spAutoFit/>
          </a:bodyPr>
          <a:lstStyle/>
          <a:p>
            <a:pPr>
              <a:spcAft>
                <a:spcPts val="800"/>
              </a:spcAft>
              <a:defRPr sz="1300" b="1">
                <a:solidFill>
                  <a:srgbClr val="1B4332"/>
                </a:solidFill>
                <a:latin typeface="Bookman Old Style"/>
              </a:defRPr>
            </a:pPr>
            <a:r>
              <a:t>THE 5 AUTOMATED DATA QUALITY GATES</a:t>
            </a:r>
          </a:p>
          <a:p>
            <a:pPr>
              <a:spcAft>
                <a:spcPts val="600"/>
              </a:spcAft>
            </a:pPr>
            <a:r>
              <a:rPr sz="1200" b="1">
                <a:solidFill>
                  <a:srgbClr val="1B4332"/>
                </a:solidFill>
                <a:latin typeface="Bookman Old Style"/>
              </a:rPr>
              <a:t>• Gate 1: Byte Header &amp; Format Gate: </a:t>
            </a:r>
            <a:r>
              <a:rPr sz="1200">
                <a:solidFill>
                  <a:srgbClr val="1A1A1A"/>
                </a:solidFill>
                <a:latin typeface="Bookman Old Style"/>
              </a:rPr>
              <a:t>Validates binary Magic Bytes. Rejects truncated streams and unsupported formats (.txt, .exe) with HTTP 400.</a:t>
            </a:r>
          </a:p>
          <a:p>
            <a:pPr>
              <a:spcAft>
                <a:spcPts val="600"/>
              </a:spcAft>
            </a:pPr>
            <a:r>
              <a:rPr sz="1200" b="1">
                <a:solidFill>
                  <a:srgbClr val="1B4332"/>
                </a:solidFill>
                <a:latin typeface="Bookman Old Style"/>
              </a:rPr>
              <a:t>• Gate 2: Dimension &amp; Aspect Ratio Gate: </a:t>
            </a:r>
            <a:r>
              <a:rPr sz="1200">
                <a:solidFill>
                  <a:srgbClr val="1A1A1A"/>
                </a:solidFill>
                <a:latin typeface="Bookman Old Style"/>
              </a:rPr>
              <a:t>Enforces minimum resolution (100x100 px) and rejects extreme distortion (aspect ratio &gt; 5.0).</a:t>
            </a:r>
          </a:p>
          <a:p>
            <a:pPr>
              <a:spcAft>
                <a:spcPts val="600"/>
              </a:spcAft>
            </a:pPr>
            <a:r>
              <a:rPr sz="1200" b="1">
                <a:solidFill>
                  <a:srgbClr val="1B4332"/>
                </a:solidFill>
                <a:latin typeface="Bookman Old Style"/>
              </a:rPr>
              <a:t>• Gate 3: File Payload Limit Gate: </a:t>
            </a:r>
            <a:r>
              <a:rPr sz="1200">
                <a:solidFill>
                  <a:srgbClr val="1A1A1A"/>
                </a:solidFill>
                <a:latin typeface="Bookman Old Style"/>
              </a:rPr>
              <a:t>Enforces a strict 15 MB payload ceiling to prevent denial-of-service memory exhaustion.</a:t>
            </a:r>
          </a:p>
          <a:p>
            <a:pPr>
              <a:spcAft>
                <a:spcPts val="600"/>
              </a:spcAft>
            </a:pPr>
            <a:r>
              <a:rPr sz="1200" b="1">
                <a:solidFill>
                  <a:srgbClr val="1B4332"/>
                </a:solidFill>
                <a:latin typeface="Bookman Old Style"/>
              </a:rPr>
              <a:t>• Gate 4: Cryptographic Deduplication Gate: </a:t>
            </a:r>
            <a:r>
              <a:rPr sz="1200">
                <a:solidFill>
                  <a:srgbClr val="1A1A1A"/>
                </a:solidFill>
                <a:latin typeface="Bookman Old Style"/>
              </a:rPr>
              <a:t>Calculates MD5 content digests to detect exact duplicate images regardless of file renaming.</a:t>
            </a:r>
          </a:p>
          <a:p>
            <a:pPr>
              <a:spcAft>
                <a:spcPts val="600"/>
              </a:spcAft>
            </a:pPr>
            <a:r>
              <a:rPr sz="1200" b="1">
                <a:solidFill>
                  <a:srgbClr val="1B4332"/>
                </a:solidFill>
                <a:latin typeface="Bookman Old Style"/>
              </a:rPr>
              <a:t>• Gate 5: Channel &amp; Orientation Normalization: </a:t>
            </a:r>
            <a:r>
              <a:rPr sz="1200">
                <a:solidFill>
                  <a:srgbClr val="1A1A1A"/>
                </a:solidFill>
                <a:latin typeface="Bookman Old Style"/>
              </a:rPr>
              <a:t>Applies PIL ImageOps.exif_transpose for smartphone photos, composites RGBA onto white canvas, and resizes to 256x256 RGB.</a:t>
            </a:r>
          </a:p>
        </p:txBody>
      </p:sp>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lide_5_img_5.png"/>
          <p:cNvPicPr>
            <a:picLocks noChangeAspect="1"/>
          </p:cNvPicPr>
          <p:nvPr/>
        </p:nvPicPr>
        <p:blipFill>
          <a:blip r:embed="rId2"/>
          <a:stretch>
            <a:fillRect/>
          </a:stretch>
        </p:blipFill>
        <p:spPr>
          <a:xfrm>
            <a:off x="6583680" y="1832969"/>
            <a:ext cx="4785055" cy="1621805"/>
          </a:xfrm>
          <a:prstGeom prst="rect">
            <a:avLst/>
          </a:prstGeom>
        </p:spPr>
      </p:pic>
      <p:sp>
        <p:nvSpPr>
          <p:cNvPr id="11" name="Rounded Rectangle 10"/>
          <p:cNvSpPr/>
          <p:nvPr/>
        </p:nvSpPr>
        <p:spPr>
          <a:xfrm>
            <a:off x="6583680" y="4041648"/>
            <a:ext cx="4785055" cy="169164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4251960"/>
            <a:ext cx="4510735" cy="1508760"/>
          </a:xfrm>
          <a:prstGeom prst="rect">
            <a:avLst/>
          </a:prstGeom>
          <a:noFill/>
        </p:spPr>
        <p:txBody>
          <a:bodyPr wrap="square">
            <a:spAutoFit/>
          </a:bodyPr>
          <a:lstStyle/>
          <a:p>
            <a:pPr>
              <a:defRPr sz="1000" b="1">
                <a:solidFill>
                  <a:srgbClr val="1B4332"/>
                </a:solidFill>
                <a:latin typeface="Bookman Old Style"/>
              </a:defRPr>
            </a:pPr>
            <a:r>
              <a:rPr dirty="0"/>
              <a:t>CONTROLLED DIAGNOSTIC EDGE HARNESS AUDIT</a:t>
            </a:r>
            <a:br>
              <a:rPr dirty="0"/>
            </a:br>
            <a:r>
              <a:rPr dirty="0"/>
              <a:t>• 100% Rejection of Corrupt Diagnostic Fixtures: Truncated bytes, corrupt headers, unsupported extensions, and empty files reliably rejected.</a:t>
            </a:r>
            <a:br>
              <a:rPr dirty="0"/>
            </a:br>
            <a:r>
              <a:rPr dirty="0"/>
              <a:t>• Authentic Dataset Standardization: All 2,596 images standardized to 256x256 RGB with zero channel drops or orientation distortion.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Feature Engineering: 32 Continuous Descriptors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9 / 24</a:t>
            </a:r>
          </a:p>
        </p:txBody>
      </p:sp>
      <p:sp>
        <p:nvSpPr>
          <p:cNvPr id="7" name="Rounded Rectangle 6"/>
          <p:cNvSpPr/>
          <p:nvPr/>
        </p:nvSpPr>
        <p:spPr>
          <a:xfrm>
            <a:off x="731520" y="1371600"/>
            <a:ext cx="3413455" cy="37490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3139135" cy="3474720"/>
          </a:xfrm>
          <a:prstGeom prst="rect">
            <a:avLst/>
          </a:prstGeom>
          <a:noFill/>
        </p:spPr>
        <p:txBody>
          <a:bodyPr wrap="square">
            <a:spAutoFit/>
          </a:bodyPr>
          <a:lstStyle/>
          <a:p>
            <a:pPr>
              <a:spcAft>
                <a:spcPts val="800"/>
              </a:spcAft>
              <a:defRPr sz="1200" b="1">
                <a:solidFill>
                  <a:srgbClr val="1B4332"/>
                </a:solidFill>
                <a:latin typeface="Bookman Old Style"/>
              </a:defRPr>
            </a:pPr>
            <a:r>
              <a:t>COLOR MOMENTS (19 FEATURES)</a:t>
            </a:r>
          </a:p>
          <a:p>
            <a:pPr>
              <a:defRPr sz="1050">
                <a:solidFill>
                  <a:srgbClr val="1A1A1A"/>
                </a:solidFill>
                <a:latin typeface="Bookman Old Style"/>
              </a:defRPr>
            </a:pPr>
            <a:r>
              <a:t>• RGB Channel Means &amp; Std Devs</a:t>
            </a:r>
            <a:br/>
            <a:r>
              <a:t>• Normalized RGB Color Means</a:t>
            </a:r>
            <a:br/>
            <a:r>
              <a:t>• HSV Hue, Saturation, Value Means</a:t>
            </a:r>
            <a:br/>
            <a:r>
              <a:t>• Excess Green Index (ExG = 2G - R - B)</a:t>
            </a:r>
            <a:br/>
            <a:br/>
            <a:r>
              <a:t>Agronomic Significance: Quantifies foliar chlorosis, yellowing, and necrotic spot discoloration.</a:t>
            </a:r>
          </a:p>
        </p:txBody>
      </p:sp>
      <p:sp>
        <p:nvSpPr>
          <p:cNvPr id="9" name="Rounded Rectangle 8"/>
          <p:cNvSpPr/>
          <p:nvPr/>
        </p:nvSpPr>
        <p:spPr>
          <a:xfrm>
            <a:off x="4389120" y="1371600"/>
            <a:ext cx="3413455" cy="37490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508760"/>
            <a:ext cx="3139135" cy="3474720"/>
          </a:xfrm>
          <a:prstGeom prst="rect">
            <a:avLst/>
          </a:prstGeom>
          <a:noFill/>
        </p:spPr>
        <p:txBody>
          <a:bodyPr wrap="square">
            <a:spAutoFit/>
          </a:bodyPr>
          <a:lstStyle/>
          <a:p>
            <a:pPr>
              <a:spcAft>
                <a:spcPts val="800"/>
              </a:spcAft>
              <a:defRPr sz="1200" b="1">
                <a:solidFill>
                  <a:srgbClr val="1B4332"/>
                </a:solidFill>
                <a:latin typeface="Bookman Old Style"/>
              </a:defRPr>
            </a:pPr>
            <a:r>
              <a:t>GLCM TEXTURE (7 FEATURES)</a:t>
            </a:r>
          </a:p>
          <a:p>
            <a:pPr>
              <a:defRPr sz="1050">
                <a:solidFill>
                  <a:srgbClr val="1A1A1A"/>
                </a:solidFill>
                <a:latin typeface="Bookman Old Style"/>
              </a:defRPr>
            </a:pPr>
            <a:r>
              <a:t>• Contrast (local intensity variation)</a:t>
            </a:r>
            <a:br/>
            <a:r>
              <a:t>• Dissimilarity (gray-level difference)</a:t>
            </a:r>
            <a:br/>
            <a:r>
              <a:t>• Homogeneity (subtle smoothness)</a:t>
            </a:r>
            <a:br/>
            <a:r>
              <a:t>• Energy &amp; Angular Second Moment (ASM)</a:t>
            </a:r>
            <a:br/>
            <a:r>
              <a:t>• Correlation (linear dependency)</a:t>
            </a:r>
            <a:br/>
            <a:br/>
            <a:r>
              <a:t>Agronomic Significance: Measures surface roughness, pustule mottling, and tissue degradation.</a:t>
            </a:r>
          </a:p>
        </p:txBody>
      </p:sp>
      <p:sp>
        <p:nvSpPr>
          <p:cNvPr id="11" name="Rounded Rectangle 10"/>
          <p:cNvSpPr/>
          <p:nvPr/>
        </p:nvSpPr>
        <p:spPr>
          <a:xfrm>
            <a:off x="8046720" y="1371600"/>
            <a:ext cx="3413455" cy="37490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83880" y="1508760"/>
            <a:ext cx="3139135" cy="3474720"/>
          </a:xfrm>
          <a:prstGeom prst="rect">
            <a:avLst/>
          </a:prstGeom>
          <a:noFill/>
        </p:spPr>
        <p:txBody>
          <a:bodyPr wrap="square">
            <a:spAutoFit/>
          </a:bodyPr>
          <a:lstStyle/>
          <a:p>
            <a:pPr>
              <a:spcAft>
                <a:spcPts val="800"/>
              </a:spcAft>
              <a:defRPr sz="1200" b="1">
                <a:solidFill>
                  <a:srgbClr val="1B4332"/>
                </a:solidFill>
                <a:latin typeface="Bookman Old Style"/>
              </a:defRPr>
            </a:pPr>
            <a:r>
              <a:t>MORPHOMETRIC SHAPE (6 FEATURES)</a:t>
            </a:r>
          </a:p>
          <a:p>
            <a:pPr>
              <a:defRPr sz="1050">
                <a:solidFill>
                  <a:srgbClr val="1A1A1A"/>
                </a:solidFill>
                <a:latin typeface="Bookman Old Style"/>
              </a:defRPr>
            </a:pPr>
            <a:r>
              <a:t>• Contour Area &amp; Perimeter</a:t>
            </a:r>
            <a:br/>
            <a:r>
              <a:t>• Circularity (4π·Area / Perimeter²)</a:t>
            </a:r>
            <a:br/>
            <a:r>
              <a:t>• Bounding Box Aspect Ratio</a:t>
            </a:r>
            <a:br/>
            <a:r>
              <a:t>• Extent (Area / Bounding Box Area)</a:t>
            </a:r>
            <a:br/>
            <a:r>
              <a:t>• Lesion Coverage Area Ratio</a:t>
            </a:r>
            <a:br/>
            <a:br/>
            <a:r>
              <a:t>Agronomic Significance: Captures boundary regularity and spot structural geometries.</a:t>
            </a:r>
          </a:p>
        </p:txBody>
      </p:sp>
      <p:sp>
        <p:nvSpPr>
          <p:cNvPr id="13" name="Rounded Rectangle 12"/>
          <p:cNvSpPr/>
          <p:nvPr/>
        </p:nvSpPr>
        <p:spPr>
          <a:xfrm>
            <a:off x="731520" y="5303520"/>
            <a:ext cx="10728655" cy="91440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394960"/>
            <a:ext cx="10362895" cy="731520"/>
          </a:xfrm>
          <a:prstGeom prst="rect">
            <a:avLst/>
          </a:prstGeom>
          <a:noFill/>
        </p:spPr>
        <p:txBody>
          <a:bodyPr wrap="square">
            <a:spAutoFit/>
          </a:bodyPr>
          <a:lstStyle/>
          <a:p>
            <a:pPr>
              <a:defRPr sz="1100" b="1">
                <a:solidFill>
                  <a:srgbClr val="1B4332"/>
                </a:solidFill>
                <a:latin typeface="Bookman Old Style"/>
              </a:defRPr>
            </a:pPr>
            <a:r>
              <a:t>ANALYTICAL FEATURE STORE STRUCTURE (data/features/image_features_v2.csv)</a:t>
            </a:r>
            <a:br/>
            <a:r>
              <a:t>• 44 Total Columns: Exactly 32 continuous numerical features used by K-Means &amp; PCA + 12 metadata columns (image_id, filename, crop_name, disease_name, condition, pathogen_type, split, dataset_source, dimensions).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Algorithm Selection: Technical Rationale Matrix</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10 / 24</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67535">
                  <a:extLst>
                    <a:ext uri="{9D8B030D-6E8A-4147-A177-3AD203B41FA5}">
                      <a16:colId xmlns:a16="http://schemas.microsoft.com/office/drawing/2014/main" val="20004"/>
                    </a:ext>
                  </a:extLst>
                </a:gridCol>
              </a:tblGrid>
              <a:tr h="679268">
                <a:tc>
                  <a:txBody>
                    <a:bodyPr/>
                    <a:lstStyle/>
                    <a:p>
                      <a:pPr algn="ctr">
                        <a:defRPr sz="1100" b="1">
                          <a:solidFill>
                            <a:srgbClr val="FFFFFF"/>
                          </a:solidFill>
                          <a:latin typeface="Bookman Old Style"/>
                        </a:defRPr>
                      </a:pPr>
                      <a:r>
                        <a:t>Algorithm / Technique</a:t>
                      </a:r>
                    </a:p>
                  </a:txBody>
                  <a:tcPr anchor="ctr">
                    <a:solidFill>
                      <a:srgbClr val="1B4332"/>
                    </a:solidFill>
                  </a:tcPr>
                </a:tc>
                <a:tc>
                  <a:txBody>
                    <a:bodyPr/>
                    <a:lstStyle/>
                    <a:p>
                      <a:pPr algn="ctr">
                        <a:defRPr sz="1100" b="1">
                          <a:solidFill>
                            <a:srgbClr val="FFFFFF"/>
                          </a:solidFill>
                          <a:latin typeface="Bookman Old Style"/>
                        </a:defRPr>
                      </a:pPr>
                      <a:r>
                        <a:t>Input Vector</a:t>
                      </a:r>
                    </a:p>
                  </a:txBody>
                  <a:tcPr anchor="ctr">
                    <a:solidFill>
                      <a:srgbClr val="1B4332"/>
                    </a:solidFill>
                  </a:tcPr>
                </a:tc>
                <a:tc>
                  <a:txBody>
                    <a:bodyPr/>
                    <a:lstStyle/>
                    <a:p>
                      <a:pPr algn="ctr">
                        <a:defRPr sz="1100" b="1">
                          <a:solidFill>
                            <a:srgbClr val="FFFFFF"/>
                          </a:solidFill>
                          <a:latin typeface="Bookman Old Style"/>
                        </a:defRPr>
                      </a:pPr>
                      <a:r>
                        <a:t>Why Selected (Rationale)</a:t>
                      </a:r>
                    </a:p>
                  </a:txBody>
                  <a:tcPr anchor="ctr">
                    <a:solidFill>
                      <a:srgbClr val="1B4332"/>
                    </a:solidFill>
                  </a:tcPr>
                </a:tc>
                <a:tc>
                  <a:txBody>
                    <a:bodyPr/>
                    <a:lstStyle/>
                    <a:p>
                      <a:pPr algn="ctr">
                        <a:defRPr sz="1100" b="1">
                          <a:solidFill>
                            <a:srgbClr val="FFFFFF"/>
                          </a:solidFill>
                          <a:latin typeface="Bookman Old Style"/>
                        </a:defRPr>
                      </a:pPr>
                      <a:r>
                        <a:t>Output Representation</a:t>
                      </a:r>
                    </a:p>
                  </a:txBody>
                  <a:tcPr anchor="ctr">
                    <a:solidFill>
                      <a:srgbClr val="1B4332"/>
                    </a:solidFill>
                  </a:tcPr>
                </a:tc>
                <a:tc>
                  <a:txBody>
                    <a:bodyPr/>
                    <a:lstStyle/>
                    <a:p>
                      <a:pPr algn="ctr">
                        <a:defRPr sz="1100" b="1">
                          <a:solidFill>
                            <a:srgbClr val="FFFFFF"/>
                          </a:solidFill>
                          <a:latin typeface="Bookman Old Style"/>
                        </a:defRPr>
                      </a:pPr>
                      <a:r>
                        <a:t>Limitations Disclosed</a:t>
                      </a:r>
                    </a:p>
                  </a:txBody>
                  <a:tcPr anchor="ctr">
                    <a:solidFill>
                      <a:srgbClr val="1B4332"/>
                    </a:solidFill>
                  </a:tcPr>
                </a:tc>
                <a:extLst>
                  <a:ext uri="{0D108BD9-81ED-4DB2-BD59-A6C34878D82A}">
                    <a16:rowId xmlns:a16="http://schemas.microsoft.com/office/drawing/2014/main" val="10000"/>
                  </a:ext>
                </a:extLst>
              </a:tr>
              <a:tr h="679268">
                <a:tc>
                  <a:txBody>
                    <a:bodyPr/>
                    <a:lstStyle/>
                    <a:p>
                      <a:pPr algn="l">
                        <a:defRPr sz="1000">
                          <a:solidFill>
                            <a:srgbClr val="1A1A1A"/>
                          </a:solidFill>
                          <a:latin typeface="Bookman Old Style"/>
                        </a:defRPr>
                      </a:pPr>
                      <a:r>
                        <a:t>StandardScaler</a:t>
                      </a:r>
                    </a:p>
                  </a:txBody>
                  <a:tcPr anchor="ctr">
                    <a:solidFill>
                      <a:srgbClr val="FFFFFF"/>
                    </a:solidFill>
                  </a:tcPr>
                </a:tc>
                <a:tc>
                  <a:txBody>
                    <a:bodyPr/>
                    <a:lstStyle/>
                    <a:p>
                      <a:pPr algn="l">
                        <a:defRPr sz="1000">
                          <a:solidFill>
                            <a:srgbClr val="1A1A1A"/>
                          </a:solidFill>
                          <a:latin typeface="Bookman Old Style"/>
                        </a:defRPr>
                      </a:pPr>
                      <a:r>
                        <a:t>32 continuous features</a:t>
                      </a:r>
                    </a:p>
                  </a:txBody>
                  <a:tcPr anchor="ctr">
                    <a:solidFill>
                      <a:srgbClr val="FFFFFF"/>
                    </a:solidFill>
                  </a:tcPr>
                </a:tc>
                <a:tc>
                  <a:txBody>
                    <a:bodyPr/>
                    <a:lstStyle/>
                    <a:p>
                      <a:pPr algn="l">
                        <a:defRPr sz="1000">
                          <a:solidFill>
                            <a:srgbClr val="1A1A1A"/>
                          </a:solidFill>
                          <a:latin typeface="Bookman Old Style"/>
                        </a:defRPr>
                      </a:pPr>
                      <a:r>
                        <a:t>Normalizes feature scales (z = (x-μ)/σ), preventing high-magnitude contour biases</a:t>
                      </a:r>
                    </a:p>
                  </a:txBody>
                  <a:tcPr anchor="ctr">
                    <a:solidFill>
                      <a:srgbClr val="FFFFFF"/>
                    </a:solidFill>
                  </a:tcPr>
                </a:tc>
                <a:tc>
                  <a:txBody>
                    <a:bodyPr/>
                    <a:lstStyle/>
                    <a:p>
                      <a:pPr algn="l">
                        <a:defRPr sz="1000">
                          <a:solidFill>
                            <a:srgbClr val="1A1A1A"/>
                          </a:solidFill>
                          <a:latin typeface="Bookman Old Style"/>
                        </a:defRPr>
                      </a:pPr>
                      <a:r>
                        <a:t>Standardized 32D matrix (μ=0, σ=1)</a:t>
                      </a:r>
                    </a:p>
                  </a:txBody>
                  <a:tcPr anchor="ctr">
                    <a:solidFill>
                      <a:srgbClr val="FFFFFF"/>
                    </a:solidFill>
                  </a:tcPr>
                </a:tc>
                <a:tc>
                  <a:txBody>
                    <a:bodyPr/>
                    <a:lstStyle/>
                    <a:p>
                      <a:pPr algn="l">
                        <a:defRPr sz="1000">
                          <a:solidFill>
                            <a:srgbClr val="1A1A1A"/>
                          </a:solidFill>
                          <a:latin typeface="Bookman Old Style"/>
                        </a:defRPr>
                      </a:pPr>
                      <a:r>
                        <a:t>Assumes Gaussian-like bell curves</a:t>
                      </a:r>
                    </a:p>
                  </a:txBody>
                  <a:tcPr anchor="ctr">
                    <a:solidFill>
                      <a:srgbClr val="FFFFFF"/>
                    </a:solidFill>
                  </a:tcPr>
                </a:tc>
                <a:extLst>
                  <a:ext uri="{0D108BD9-81ED-4DB2-BD59-A6C34878D82A}">
                    <a16:rowId xmlns:a16="http://schemas.microsoft.com/office/drawing/2014/main" val="10001"/>
                  </a:ext>
                </a:extLst>
              </a:tr>
              <a:tr h="679268">
                <a:tc>
                  <a:txBody>
                    <a:bodyPr/>
                    <a:lstStyle/>
                    <a:p>
                      <a:pPr algn="l">
                        <a:defRPr sz="1000">
                          <a:solidFill>
                            <a:srgbClr val="1A1A1A"/>
                          </a:solidFill>
                          <a:latin typeface="Bookman Old Style"/>
                        </a:defRPr>
                      </a:pPr>
                      <a:r>
                        <a:t>K-Means Clustering</a:t>
                      </a:r>
                    </a:p>
                  </a:txBody>
                  <a:tcPr anchor="ctr">
                    <a:solidFill>
                      <a:srgbClr val="F8F9FA"/>
                    </a:solidFill>
                  </a:tcPr>
                </a:tc>
                <a:tc>
                  <a:txBody>
                    <a:bodyPr/>
                    <a:lstStyle/>
                    <a:p>
                      <a:pPr algn="l">
                        <a:defRPr sz="1000">
                          <a:solidFill>
                            <a:srgbClr val="1A1A1A"/>
                          </a:solidFill>
                          <a:latin typeface="Bookman Old Style"/>
                        </a:defRPr>
                      </a:pPr>
                      <a:r>
                        <a:t>32 standardized features</a:t>
                      </a:r>
                    </a:p>
                  </a:txBody>
                  <a:tcPr anchor="ctr">
                    <a:solidFill>
                      <a:srgbClr val="F8F9FA"/>
                    </a:solidFill>
                  </a:tcPr>
                </a:tc>
                <a:tc>
                  <a:txBody>
                    <a:bodyPr/>
                    <a:lstStyle/>
                    <a:p>
                      <a:pPr algn="l">
                        <a:defRPr sz="1000">
                          <a:solidFill>
                            <a:srgbClr val="1A1A1A"/>
                          </a:solidFill>
                          <a:latin typeface="Bookman Old Style"/>
                        </a:defRPr>
                      </a:pPr>
                      <a:r>
                        <a:t>Discovers unsupervised structural groupings of foliar morphology; tested K=2 to 8</a:t>
                      </a:r>
                    </a:p>
                  </a:txBody>
                  <a:tcPr anchor="ctr">
                    <a:solidFill>
                      <a:srgbClr val="F8F9FA"/>
                    </a:solidFill>
                  </a:tcPr>
                </a:tc>
                <a:tc>
                  <a:txBody>
                    <a:bodyPr/>
                    <a:lstStyle/>
                    <a:p>
                      <a:pPr algn="l">
                        <a:defRPr sz="1000">
                          <a:solidFill>
                            <a:srgbClr val="1A1A1A"/>
                          </a:solidFill>
                          <a:latin typeface="Bookman Old Style"/>
                        </a:defRPr>
                      </a:pPr>
                      <a:r>
                        <a:t>Cluster labels (K=2 primary, K=4 exploratory)</a:t>
                      </a:r>
                    </a:p>
                  </a:txBody>
                  <a:tcPr anchor="ctr">
                    <a:solidFill>
                      <a:srgbClr val="F8F9FA"/>
                    </a:solidFill>
                  </a:tcPr>
                </a:tc>
                <a:tc>
                  <a:txBody>
                    <a:bodyPr/>
                    <a:lstStyle/>
                    <a:p>
                      <a:pPr algn="l">
                        <a:defRPr sz="1000">
                          <a:solidFill>
                            <a:srgbClr val="1A1A1A"/>
                          </a:solidFill>
                          <a:latin typeface="Bookman Old Style"/>
                        </a:defRPr>
                      </a:pPr>
                      <a:r>
                        <a:t>Groups visual appearance, NOT etiology</a:t>
                      </a:r>
                    </a:p>
                  </a:txBody>
                  <a:tcPr anchor="ctr">
                    <a:solidFill>
                      <a:srgbClr val="F8F9FA"/>
                    </a:solidFill>
                  </a:tcPr>
                </a:tc>
                <a:extLst>
                  <a:ext uri="{0D108BD9-81ED-4DB2-BD59-A6C34878D82A}">
                    <a16:rowId xmlns:a16="http://schemas.microsoft.com/office/drawing/2014/main" val="10002"/>
                  </a:ext>
                </a:extLst>
              </a:tr>
              <a:tr h="679268">
                <a:tc>
                  <a:txBody>
                    <a:bodyPr/>
                    <a:lstStyle/>
                    <a:p>
                      <a:pPr algn="l">
                        <a:defRPr sz="1000">
                          <a:solidFill>
                            <a:srgbClr val="1A1A1A"/>
                          </a:solidFill>
                          <a:latin typeface="Bookman Old Style"/>
                        </a:defRPr>
                      </a:pPr>
                      <a:r>
                        <a:t>PCA Projection</a:t>
                      </a:r>
                    </a:p>
                  </a:txBody>
                  <a:tcPr anchor="ctr">
                    <a:solidFill>
                      <a:srgbClr val="FFFFFF"/>
                    </a:solidFill>
                  </a:tcPr>
                </a:tc>
                <a:tc>
                  <a:txBody>
                    <a:bodyPr/>
                    <a:lstStyle/>
                    <a:p>
                      <a:pPr algn="l">
                        <a:defRPr sz="1000">
                          <a:solidFill>
                            <a:srgbClr val="1A1A1A"/>
                          </a:solidFill>
                          <a:latin typeface="Bookman Old Style"/>
                        </a:defRPr>
                      </a:pPr>
                      <a:r>
                        <a:t>32 standardized features</a:t>
                      </a:r>
                    </a:p>
                  </a:txBody>
                  <a:tcPr anchor="ctr">
                    <a:solidFill>
                      <a:srgbClr val="FFFFFF"/>
                    </a:solidFill>
                  </a:tcPr>
                </a:tc>
                <a:tc>
                  <a:txBody>
                    <a:bodyPr/>
                    <a:lstStyle/>
                    <a:p>
                      <a:pPr algn="l">
                        <a:defRPr sz="1000">
                          <a:solidFill>
                            <a:srgbClr val="1A1A1A"/>
                          </a:solidFill>
                          <a:latin typeface="Bookman Old Style"/>
                        </a:defRPr>
                      </a:pPr>
                      <a:r>
                        <a:t>Reduces 32D space to 2 principal components explaining 52.11% total variance</a:t>
                      </a:r>
                    </a:p>
                  </a:txBody>
                  <a:tcPr anchor="ctr">
                    <a:solidFill>
                      <a:srgbClr val="FFFFFF"/>
                    </a:solidFill>
                  </a:tcPr>
                </a:tc>
                <a:tc>
                  <a:txBody>
                    <a:bodyPr/>
                    <a:lstStyle/>
                    <a:p>
                      <a:pPr algn="l">
                        <a:defRPr sz="1000">
                          <a:solidFill>
                            <a:srgbClr val="1A1A1A"/>
                          </a:solidFill>
                          <a:latin typeface="Bookman Old Style"/>
                        </a:defRPr>
                      </a:pPr>
                      <a:r>
                        <a:t>2D orthogonal scatter coordinates (PC1, PC2)</a:t>
                      </a:r>
                    </a:p>
                  </a:txBody>
                  <a:tcPr anchor="ctr">
                    <a:solidFill>
                      <a:srgbClr val="FFFFFF"/>
                    </a:solidFill>
                  </a:tcPr>
                </a:tc>
                <a:tc>
                  <a:txBody>
                    <a:bodyPr/>
                    <a:lstStyle/>
                    <a:p>
                      <a:pPr algn="l">
                        <a:defRPr sz="1000">
                          <a:solidFill>
                            <a:srgbClr val="1A1A1A"/>
                          </a:solidFill>
                          <a:latin typeface="Bookman Old Style"/>
                        </a:defRPr>
                      </a:pPr>
                      <a:r>
                        <a:t>Linear projection loses 47.89% residual variance</a:t>
                      </a:r>
                    </a:p>
                  </a:txBody>
                  <a:tcPr anchor="ctr">
                    <a:solidFill>
                      <a:srgbClr val="FFFFFF"/>
                    </a:solidFill>
                  </a:tcPr>
                </a:tc>
                <a:extLst>
                  <a:ext uri="{0D108BD9-81ED-4DB2-BD59-A6C34878D82A}">
                    <a16:rowId xmlns:a16="http://schemas.microsoft.com/office/drawing/2014/main" val="10003"/>
                  </a:ext>
                </a:extLst>
              </a:tr>
              <a:tr h="679268">
                <a:tc>
                  <a:txBody>
                    <a:bodyPr/>
                    <a:lstStyle/>
                    <a:p>
                      <a:pPr algn="l">
                        <a:defRPr sz="1000">
                          <a:solidFill>
                            <a:srgbClr val="1A1A1A"/>
                          </a:solidFill>
                          <a:latin typeface="Bookman Old Style"/>
                        </a:defRPr>
                      </a:pPr>
                      <a:r>
                        <a:t>Apriori Mining</a:t>
                      </a:r>
                    </a:p>
                  </a:txBody>
                  <a:tcPr anchor="ctr">
                    <a:solidFill>
                      <a:srgbClr val="F8F9FA"/>
                    </a:solidFill>
                  </a:tcPr>
                </a:tc>
                <a:tc>
                  <a:txBody>
                    <a:bodyPr/>
                    <a:lstStyle/>
                    <a:p>
                      <a:pPr algn="l">
                        <a:defRPr sz="1000">
                          <a:solidFill>
                            <a:srgbClr val="1A1A1A"/>
                          </a:solidFill>
                          <a:latin typeface="Bookman Old Style"/>
                        </a:defRPr>
                      </a:pPr>
                      <a:r>
                        <a:t>12 discretized features</a:t>
                      </a:r>
                    </a:p>
                  </a:txBody>
                  <a:tcPr anchor="ctr">
                    <a:solidFill>
                      <a:srgbClr val="F8F9FA"/>
                    </a:solidFill>
                  </a:tcPr>
                </a:tc>
                <a:tc>
                  <a:txBody>
                    <a:bodyPr/>
                    <a:lstStyle/>
                    <a:p>
                      <a:pPr algn="l">
                        <a:defRPr sz="1000">
                          <a:solidFill>
                            <a:srgbClr val="1A1A1A"/>
                          </a:solidFill>
                          <a:latin typeface="Bookman Old Style"/>
                        </a:defRPr>
                      </a:pPr>
                      <a:r>
                        <a:t>Exhaustive level-wise breadth-first search for frequent visual itemsets</a:t>
                      </a:r>
                    </a:p>
                  </a:txBody>
                  <a:tcPr anchor="ctr">
                    <a:solidFill>
                      <a:srgbClr val="F8F9FA"/>
                    </a:solidFill>
                  </a:tcPr>
                </a:tc>
                <a:tc>
                  <a:txBody>
                    <a:bodyPr/>
                    <a:lstStyle/>
                    <a:p>
                      <a:pPr algn="l">
                        <a:defRPr sz="1000">
                          <a:solidFill>
                            <a:srgbClr val="1A1A1A"/>
                          </a:solidFill>
                          <a:latin typeface="Bookman Old Style"/>
                        </a:defRPr>
                      </a:pPr>
                      <a:r>
                        <a:t>Frequent itemsets and association rules</a:t>
                      </a:r>
                    </a:p>
                  </a:txBody>
                  <a:tcPr anchor="ctr">
                    <a:solidFill>
                      <a:srgbClr val="F8F9FA"/>
                    </a:solidFill>
                  </a:tcPr>
                </a:tc>
                <a:tc>
                  <a:txBody>
                    <a:bodyPr/>
                    <a:lstStyle/>
                    <a:p>
                      <a:pPr algn="l">
                        <a:defRPr sz="1000">
                          <a:solidFill>
                            <a:srgbClr val="1A1A1A"/>
                          </a:solidFill>
                          <a:latin typeface="Bookman Old Style"/>
                        </a:defRPr>
                      </a:pPr>
                      <a:r>
                        <a:t>Exponential candidate generation overhead</a:t>
                      </a:r>
                    </a:p>
                  </a:txBody>
                  <a:tcPr anchor="ctr">
                    <a:solidFill>
                      <a:srgbClr val="F8F9FA"/>
                    </a:solidFill>
                  </a:tcPr>
                </a:tc>
                <a:extLst>
                  <a:ext uri="{0D108BD9-81ED-4DB2-BD59-A6C34878D82A}">
                    <a16:rowId xmlns:a16="http://schemas.microsoft.com/office/drawing/2014/main" val="10004"/>
                  </a:ext>
                </a:extLst>
              </a:tr>
              <a:tr h="679268">
                <a:tc>
                  <a:txBody>
                    <a:bodyPr/>
                    <a:lstStyle/>
                    <a:p>
                      <a:pPr algn="l">
                        <a:defRPr sz="1000">
                          <a:solidFill>
                            <a:srgbClr val="1A1A1A"/>
                          </a:solidFill>
                          <a:latin typeface="Bookman Old Style"/>
                        </a:defRPr>
                      </a:pPr>
                      <a:r>
                        <a:t>FP-Growth Mining</a:t>
                      </a:r>
                    </a:p>
                  </a:txBody>
                  <a:tcPr anchor="ctr">
                    <a:solidFill>
                      <a:srgbClr val="FFFFFF"/>
                    </a:solidFill>
                  </a:tcPr>
                </a:tc>
                <a:tc>
                  <a:txBody>
                    <a:bodyPr/>
                    <a:lstStyle/>
                    <a:p>
                      <a:pPr algn="l">
                        <a:defRPr sz="1000">
                          <a:solidFill>
                            <a:srgbClr val="1A1A1A"/>
                          </a:solidFill>
                          <a:latin typeface="Bookman Old Style"/>
                        </a:defRPr>
                      </a:pPr>
                      <a:r>
                        <a:t>12 discretized features</a:t>
                      </a:r>
                    </a:p>
                  </a:txBody>
                  <a:tcPr anchor="ctr">
                    <a:solidFill>
                      <a:srgbClr val="FFFFFF"/>
                    </a:solidFill>
                  </a:tcPr>
                </a:tc>
                <a:tc>
                  <a:txBody>
                    <a:bodyPr/>
                    <a:lstStyle/>
                    <a:p>
                      <a:pPr algn="l">
                        <a:defRPr sz="1000">
                          <a:solidFill>
                            <a:srgbClr val="1A1A1A"/>
                          </a:solidFill>
                          <a:latin typeface="Bookman Old Style"/>
                        </a:defRPr>
                      </a:pPr>
                      <a:r>
                        <a:rPr dirty="0"/>
                        <a:t>Compressed FP-Tree eliminates candidate generation; exact parity with </a:t>
                      </a:r>
                      <a:r>
                        <a:rPr dirty="0" err="1"/>
                        <a:t>Apriori</a:t>
                      </a:r>
                      <a:endParaRPr dirty="0"/>
                    </a:p>
                  </a:txBody>
                  <a:tcPr anchor="ctr">
                    <a:solidFill>
                      <a:srgbClr val="FFFFFF"/>
                    </a:solidFill>
                  </a:tcPr>
                </a:tc>
                <a:tc>
                  <a:txBody>
                    <a:bodyPr/>
                    <a:lstStyle/>
                    <a:p>
                      <a:pPr algn="l">
                        <a:defRPr sz="1000">
                          <a:solidFill>
                            <a:srgbClr val="1A1A1A"/>
                          </a:solidFill>
                          <a:latin typeface="Bookman Old Style"/>
                        </a:defRPr>
                      </a:pPr>
                      <a:r>
                        <a:t>Exact 880 Mode A rules (parity Δ = 0.00000000)</a:t>
                      </a:r>
                    </a:p>
                  </a:txBody>
                  <a:tcPr anchor="ctr">
                    <a:solidFill>
                      <a:srgbClr val="FFFFFF"/>
                    </a:solidFill>
                  </a:tcPr>
                </a:tc>
                <a:tc>
                  <a:txBody>
                    <a:bodyPr/>
                    <a:lstStyle/>
                    <a:p>
                      <a:pPr algn="l">
                        <a:defRPr sz="1000">
                          <a:solidFill>
                            <a:srgbClr val="1A1A1A"/>
                          </a:solidFill>
                          <a:latin typeface="Bookman Old Style"/>
                        </a:defRPr>
                      </a:pPr>
                      <a:r>
                        <a:t>Tree construction memory footprint</a:t>
                      </a:r>
                    </a:p>
                  </a:txBody>
                  <a:tcPr anchor="ctr">
                    <a:solidFill>
                      <a:srgbClr val="FFFFFF"/>
                    </a:solidFill>
                  </a:tcPr>
                </a:tc>
                <a:extLst>
                  <a:ext uri="{0D108BD9-81ED-4DB2-BD59-A6C34878D82A}">
                    <a16:rowId xmlns:a16="http://schemas.microsoft.com/office/drawing/2014/main" val="10005"/>
                  </a:ext>
                </a:extLst>
              </a:tr>
              <a:tr h="679272">
                <a:tc>
                  <a:txBody>
                    <a:bodyPr/>
                    <a:lstStyle/>
                    <a:p>
                      <a:pPr algn="l">
                        <a:defRPr sz="1000">
                          <a:solidFill>
                            <a:srgbClr val="1A1A1A"/>
                          </a:solidFill>
                          <a:latin typeface="Bookman Old Style"/>
                        </a:defRPr>
                      </a:pPr>
                      <a:r>
                        <a:t>Nearest Neighbors</a:t>
                      </a:r>
                    </a:p>
                  </a:txBody>
                  <a:tcPr anchor="ctr">
                    <a:solidFill>
                      <a:srgbClr val="F8F9FA"/>
                    </a:solidFill>
                  </a:tcPr>
                </a:tc>
                <a:tc>
                  <a:txBody>
                    <a:bodyPr/>
                    <a:lstStyle/>
                    <a:p>
                      <a:pPr algn="l">
                        <a:defRPr sz="1000">
                          <a:solidFill>
                            <a:srgbClr val="1A1A1A"/>
                          </a:solidFill>
                          <a:latin typeface="Bookman Old Style"/>
                        </a:defRPr>
                      </a:pPr>
                      <a:r>
                        <a:t>32D Euclidean metric</a:t>
                      </a:r>
                    </a:p>
                  </a:txBody>
                  <a:tcPr anchor="ctr">
                    <a:solidFill>
                      <a:srgbClr val="F8F9FA"/>
                    </a:solidFill>
                  </a:tcPr>
                </a:tc>
                <a:tc>
                  <a:txBody>
                    <a:bodyPr/>
                    <a:lstStyle/>
                    <a:p>
                      <a:pPr algn="l">
                        <a:defRPr sz="1000">
                          <a:solidFill>
                            <a:srgbClr val="1A1A1A"/>
                          </a:solidFill>
                          <a:latin typeface="Bookman Old Style"/>
                        </a:defRPr>
                      </a:pPr>
                      <a:r>
                        <a:t>Ranks authentic reference specimens by visual feature distance: d = ||zq - zr||2</a:t>
                      </a:r>
                    </a:p>
                  </a:txBody>
                  <a:tcPr anchor="ctr">
                    <a:solidFill>
                      <a:srgbClr val="F8F9FA"/>
                    </a:solidFill>
                  </a:tcPr>
                </a:tc>
                <a:tc>
                  <a:txBody>
                    <a:bodyPr/>
                    <a:lstStyle/>
                    <a:p>
                      <a:pPr algn="l">
                        <a:defRPr sz="1000">
                          <a:solidFill>
                            <a:srgbClr val="1A1A1A"/>
                          </a:solidFill>
                          <a:latin typeface="Bookman Old Style"/>
                        </a:defRPr>
                      </a:pPr>
                      <a:r>
                        <a:t>Ranked reference matches with distances</a:t>
                      </a:r>
                    </a:p>
                  </a:txBody>
                  <a:tcPr anchor="ctr">
                    <a:solidFill>
                      <a:srgbClr val="F8F9FA"/>
                    </a:solidFill>
                  </a:tcPr>
                </a:tc>
                <a:tc>
                  <a:txBody>
                    <a:bodyPr/>
                    <a:lstStyle/>
                    <a:p>
                      <a:pPr algn="l">
                        <a:defRPr sz="1000">
                          <a:solidFill>
                            <a:srgbClr val="1A1A1A"/>
                          </a:solidFill>
                          <a:latin typeface="Bookman Old Style"/>
                        </a:defRPr>
                      </a:pPr>
                      <a:r>
                        <a:rPr dirty="0"/>
                        <a:t>Proximity index 1/(1+d) is uncalibrated</a:t>
                      </a:r>
                    </a:p>
                  </a:txBody>
                  <a:tcPr anchor="ctr">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rPr dirty="0"/>
              <a:t>Data Warehouse Design: Kimball Star Schema</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11 / 24</a:t>
            </a:r>
          </a:p>
        </p:txBody>
      </p:sp>
      <p:sp>
        <p:nvSpPr>
          <p:cNvPr id="7" name="Rounded Rectangle 6"/>
          <p:cNvSpPr/>
          <p:nvPr/>
        </p:nvSpPr>
        <p:spPr>
          <a:xfrm>
            <a:off x="457200" y="1371600"/>
            <a:ext cx="576072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554480"/>
            <a:ext cx="4602175" cy="3657411"/>
          </a:xfrm>
          <a:prstGeom prst="rect">
            <a:avLst/>
          </a:prstGeom>
          <a:noFill/>
        </p:spPr>
        <p:txBody>
          <a:bodyPr wrap="square" tIns="91440" bIns="91440">
            <a:spAutoFit/>
          </a:bodyPr>
          <a:lstStyle/>
          <a:p>
            <a:pPr>
              <a:spcAft>
                <a:spcPts val="800"/>
              </a:spcAft>
              <a:defRPr sz="1300" b="1">
                <a:solidFill>
                  <a:srgbClr val="175D44"/>
                </a:solidFill>
              </a:defRPr>
            </a:pPr>
            <a:r>
              <a:rPr dirty="0">
                <a:latin typeface="Bookman Old Style" panose="02050604050505020204" pitchFamily="18" charset="0"/>
              </a:rPr>
              <a:t>PHYSICAL STAR SCHEMA SPECIFICATION (UNIFIED WAREHOUSE)</a:t>
            </a:r>
          </a:p>
          <a:p>
            <a:pPr>
              <a:spcBef>
                <a:spcPts val="0"/>
              </a:spcBef>
              <a:spcAft>
                <a:spcPts val="600"/>
              </a:spcAft>
              <a:defRPr sz="1050">
                <a:solidFill>
                  <a:srgbClr val="0F1F18"/>
                </a:solidFill>
              </a:defRPr>
            </a:pPr>
            <a:r>
              <a:rPr dirty="0">
                <a:latin typeface="Bookman Old Style" panose="02050604050505020204" pitchFamily="18" charset="0"/>
              </a:rPr>
              <a:t>• Central Fact Table: </a:t>
            </a:r>
            <a:r>
              <a:rPr dirty="0" err="1">
                <a:latin typeface="Bookman Old Style" panose="02050604050505020204" pitchFamily="18" charset="0"/>
              </a:rPr>
              <a:t>disease_observation_fact</a:t>
            </a:r>
            <a:r>
              <a:rPr dirty="0">
                <a:latin typeface="Bookman Old Style" panose="02050604050505020204" pitchFamily="18" charset="0"/>
              </a:rPr>
              <a:t> (Grain: 1 row per validated leaf specimen; exactly 2,596 rows).</a:t>
            </a:r>
          </a:p>
          <a:p>
            <a:pPr>
              <a:spcBef>
                <a:spcPts val="0"/>
              </a:spcBef>
              <a:spcAft>
                <a:spcPts val="600"/>
              </a:spcAft>
              <a:defRPr sz="1050">
                <a:solidFill>
                  <a:srgbClr val="0F1F18"/>
                </a:solidFill>
              </a:defRPr>
            </a:pPr>
            <a:r>
              <a:rPr dirty="0">
                <a:latin typeface="Bookman Old Style" panose="02050604050505020204" pitchFamily="18" charset="0"/>
              </a:rPr>
              <a:t>• Additive / Semi-Additive Measures: </a:t>
            </a:r>
            <a:r>
              <a:rPr dirty="0" err="1">
                <a:latin typeface="Bookman Old Style" panose="02050604050505020204" pitchFamily="18" charset="0"/>
              </a:rPr>
              <a:t>observation_count</a:t>
            </a:r>
            <a:r>
              <a:rPr dirty="0">
                <a:latin typeface="Bookman Old Style" panose="02050604050505020204" pitchFamily="18" charset="0"/>
              </a:rPr>
              <a:t> (1), </a:t>
            </a:r>
            <a:r>
              <a:rPr dirty="0" err="1">
                <a:latin typeface="Bookman Old Style" panose="02050604050505020204" pitchFamily="18" charset="0"/>
              </a:rPr>
              <a:t>lesion_severity_score</a:t>
            </a:r>
            <a:r>
              <a:rPr dirty="0">
                <a:latin typeface="Bookman Old Style" panose="02050604050505020204" pitchFamily="18" charset="0"/>
              </a:rPr>
              <a:t> (continuous 0.0–1.0), </a:t>
            </a:r>
            <a:r>
              <a:rPr dirty="0" err="1">
                <a:latin typeface="Bookman Old Style" panose="02050604050505020204" pitchFamily="18" charset="0"/>
              </a:rPr>
              <a:t>image_sharpness_score</a:t>
            </a:r>
            <a:r>
              <a:rPr dirty="0">
                <a:latin typeface="Bookman Old Style" panose="02050604050505020204" pitchFamily="18" charset="0"/>
              </a:rPr>
              <a:t> (Laplacian variance).</a:t>
            </a:r>
          </a:p>
          <a:p>
            <a:pPr>
              <a:spcBef>
                <a:spcPts val="0"/>
              </a:spcBef>
              <a:spcAft>
                <a:spcPts val="600"/>
              </a:spcAft>
              <a:defRPr sz="1050">
                <a:solidFill>
                  <a:srgbClr val="0F1F18"/>
                </a:solidFill>
              </a:defRPr>
            </a:pPr>
            <a:r>
              <a:rPr dirty="0">
                <a:latin typeface="Bookman Old Style" panose="02050604050505020204" pitchFamily="18" charset="0"/>
              </a:rPr>
              <a:t>• Dimension 1 (</a:t>
            </a:r>
            <a:r>
              <a:rPr dirty="0" err="1">
                <a:latin typeface="Bookman Old Style" panose="02050604050505020204" pitchFamily="18" charset="0"/>
              </a:rPr>
              <a:t>dim_crop</a:t>
            </a:r>
            <a:r>
              <a:rPr dirty="0">
                <a:latin typeface="Bookman Old Style" panose="02050604050505020204" pitchFamily="18" charset="0"/>
              </a:rPr>
              <a:t>): Botanical Host hierarchy (14 rows: </a:t>
            </a:r>
            <a:r>
              <a:rPr dirty="0" err="1">
                <a:latin typeface="Bookman Old Style" panose="02050604050505020204" pitchFamily="18" charset="0"/>
              </a:rPr>
              <a:t>crop_key</a:t>
            </a:r>
            <a:r>
              <a:rPr dirty="0">
                <a:latin typeface="Bookman Old Style" panose="02050604050505020204" pitchFamily="18" charset="0"/>
              </a:rPr>
              <a:t>, </a:t>
            </a:r>
            <a:r>
              <a:rPr dirty="0" err="1">
                <a:latin typeface="Bookman Old Style" panose="02050604050505020204" pitchFamily="18" charset="0"/>
              </a:rPr>
              <a:t>crop_name</a:t>
            </a:r>
            <a:r>
              <a:rPr dirty="0">
                <a:latin typeface="Bookman Old Style" panose="02050604050505020204" pitchFamily="18" charset="0"/>
              </a:rPr>
              <a:t>, </a:t>
            </a:r>
            <a:r>
              <a:rPr dirty="0" err="1">
                <a:latin typeface="Bookman Old Style" panose="02050604050505020204" pitchFamily="18" charset="0"/>
              </a:rPr>
              <a:t>botanical_name</a:t>
            </a:r>
            <a:r>
              <a:rPr dirty="0">
                <a:latin typeface="Bookman Old Style" panose="02050604050505020204" pitchFamily="18" charset="0"/>
              </a:rPr>
              <a:t>, </a:t>
            </a:r>
            <a:r>
              <a:rPr dirty="0" err="1">
                <a:latin typeface="Bookman Old Style" panose="02050604050505020204" pitchFamily="18" charset="0"/>
              </a:rPr>
              <a:t>crop_category</a:t>
            </a:r>
            <a:r>
              <a:rPr dirty="0">
                <a:latin typeface="Bookman Old Style" panose="02050604050505020204" pitchFamily="18" charset="0"/>
              </a:rPr>
              <a:t>, </a:t>
            </a:r>
            <a:r>
              <a:rPr dirty="0" err="1">
                <a:latin typeface="Bookman Old Style" panose="02050604050505020204" pitchFamily="18" charset="0"/>
              </a:rPr>
              <a:t>monocot_dicot</a:t>
            </a:r>
            <a:r>
              <a:rPr dirty="0">
                <a:latin typeface="Bookman Old Style" panose="02050604050505020204" pitchFamily="18" charset="0"/>
              </a:rPr>
              <a:t>).</a:t>
            </a:r>
          </a:p>
          <a:p>
            <a:pPr>
              <a:spcBef>
                <a:spcPts val="0"/>
              </a:spcBef>
              <a:spcAft>
                <a:spcPts val="600"/>
              </a:spcAft>
              <a:defRPr sz="1050">
                <a:solidFill>
                  <a:srgbClr val="0F1F18"/>
                </a:solidFill>
              </a:defRPr>
            </a:pPr>
            <a:r>
              <a:rPr dirty="0">
                <a:latin typeface="Bookman Old Style" panose="02050604050505020204" pitchFamily="18" charset="0"/>
              </a:rPr>
              <a:t>• Dimension 2 (</a:t>
            </a:r>
            <a:r>
              <a:rPr dirty="0" err="1">
                <a:latin typeface="Bookman Old Style" panose="02050604050505020204" pitchFamily="18" charset="0"/>
              </a:rPr>
              <a:t>dim_disease</a:t>
            </a:r>
            <a:r>
              <a:rPr dirty="0">
                <a:latin typeface="Bookman Old Style" panose="02050604050505020204" pitchFamily="18" charset="0"/>
              </a:rPr>
              <a:t>): Pathology taxonomy (19 rows: </a:t>
            </a:r>
            <a:r>
              <a:rPr dirty="0" err="1">
                <a:latin typeface="Bookman Old Style" panose="02050604050505020204" pitchFamily="18" charset="0"/>
              </a:rPr>
              <a:t>disease_key</a:t>
            </a:r>
            <a:r>
              <a:rPr dirty="0">
                <a:latin typeface="Bookman Old Style" panose="02050604050505020204" pitchFamily="18" charset="0"/>
              </a:rPr>
              <a:t>, </a:t>
            </a:r>
            <a:r>
              <a:rPr dirty="0" err="1">
                <a:latin typeface="Bookman Old Style" panose="02050604050505020204" pitchFamily="18" charset="0"/>
              </a:rPr>
              <a:t>disease_name</a:t>
            </a:r>
            <a:r>
              <a:rPr dirty="0">
                <a:latin typeface="Bookman Old Style" panose="02050604050505020204" pitchFamily="18" charset="0"/>
              </a:rPr>
              <a:t>, </a:t>
            </a:r>
            <a:r>
              <a:rPr dirty="0" err="1">
                <a:latin typeface="Bookman Old Style" panose="02050604050505020204" pitchFamily="18" charset="0"/>
              </a:rPr>
              <a:t>pathogen_type</a:t>
            </a:r>
            <a:r>
              <a:rPr dirty="0">
                <a:latin typeface="Bookman Old Style" panose="02050604050505020204" pitchFamily="18" charset="0"/>
              </a:rPr>
              <a:t>, </a:t>
            </a:r>
            <a:r>
              <a:rPr dirty="0" err="1">
                <a:latin typeface="Bookman Old Style" panose="02050604050505020204" pitchFamily="18" charset="0"/>
              </a:rPr>
              <a:t>causal_agent</a:t>
            </a:r>
            <a:r>
              <a:rPr dirty="0">
                <a:latin typeface="Bookman Old Style" panose="02050604050505020204" pitchFamily="18" charset="0"/>
              </a:rPr>
              <a:t>, </a:t>
            </a:r>
            <a:r>
              <a:rPr dirty="0" err="1">
                <a:latin typeface="Bookman Old Style" panose="02050604050505020204" pitchFamily="18" charset="0"/>
              </a:rPr>
              <a:t>primary_symptom</a:t>
            </a:r>
            <a:r>
              <a:rPr dirty="0">
                <a:latin typeface="Bookman Old Style" panose="02050604050505020204" pitchFamily="18" charset="0"/>
              </a:rPr>
              <a:t>).</a:t>
            </a:r>
          </a:p>
          <a:p>
            <a:pPr>
              <a:spcBef>
                <a:spcPts val="0"/>
              </a:spcBef>
              <a:spcAft>
                <a:spcPts val="600"/>
              </a:spcAft>
              <a:defRPr sz="1050">
                <a:solidFill>
                  <a:srgbClr val="0F1F18"/>
                </a:solidFill>
              </a:defRPr>
            </a:pPr>
            <a:r>
              <a:rPr dirty="0">
                <a:latin typeface="Bookman Old Style" panose="02050604050505020204" pitchFamily="18" charset="0"/>
              </a:rPr>
              <a:t>• Dimension 3 (</a:t>
            </a:r>
            <a:r>
              <a:rPr dirty="0" err="1">
                <a:latin typeface="Bookman Old Style" panose="02050604050505020204" pitchFamily="18" charset="0"/>
              </a:rPr>
              <a:t>dim_image</a:t>
            </a:r>
            <a:r>
              <a:rPr dirty="0">
                <a:latin typeface="Bookman Old Style" panose="02050604050505020204" pitchFamily="18" charset="0"/>
              </a:rPr>
              <a:t>): Acquisition metadata (2,596 rows: </a:t>
            </a:r>
            <a:r>
              <a:rPr dirty="0" err="1">
                <a:latin typeface="Bookman Old Style" panose="02050604050505020204" pitchFamily="18" charset="0"/>
              </a:rPr>
              <a:t>image_key</a:t>
            </a:r>
            <a:r>
              <a:rPr dirty="0">
                <a:latin typeface="Bookman Old Style" panose="02050604050505020204" pitchFamily="18" charset="0"/>
              </a:rPr>
              <a:t>, </a:t>
            </a:r>
            <a:r>
              <a:rPr dirty="0" err="1">
                <a:latin typeface="Bookman Old Style" panose="02050604050505020204" pitchFamily="18" charset="0"/>
              </a:rPr>
              <a:t>raw_id</a:t>
            </a:r>
            <a:r>
              <a:rPr dirty="0">
                <a:latin typeface="Bookman Old Style" panose="02050604050505020204" pitchFamily="18" charset="0"/>
              </a:rPr>
              <a:t>, </a:t>
            </a:r>
            <a:r>
              <a:rPr dirty="0" err="1">
                <a:latin typeface="Bookman Old Style" panose="02050604050505020204" pitchFamily="18" charset="0"/>
              </a:rPr>
              <a:t>file_format</a:t>
            </a:r>
            <a:r>
              <a:rPr dirty="0">
                <a:latin typeface="Bookman Old Style" panose="02050604050505020204" pitchFamily="18" charset="0"/>
              </a:rPr>
              <a:t>, dimensions, </a:t>
            </a:r>
            <a:r>
              <a:rPr dirty="0" err="1">
                <a:latin typeface="Bookman Old Style" panose="02050604050505020204" pitchFamily="18" charset="0"/>
              </a:rPr>
              <a:t>dataset_source</a:t>
            </a:r>
            <a:r>
              <a:rPr dirty="0">
                <a:latin typeface="Bookman Old Style" panose="02050604050505020204" pitchFamily="18" charset="0"/>
              </a:rPr>
              <a:t>).</a:t>
            </a:r>
          </a:p>
          <a:p>
            <a:pPr>
              <a:spcBef>
                <a:spcPts val="0"/>
              </a:spcBef>
              <a:spcAft>
                <a:spcPts val="600"/>
              </a:spcAft>
              <a:defRPr sz="1050">
                <a:solidFill>
                  <a:srgbClr val="0F1F18"/>
                </a:solidFill>
              </a:defRPr>
            </a:pPr>
            <a:r>
              <a:rPr dirty="0">
                <a:latin typeface="Bookman Old Style" panose="02050604050505020204" pitchFamily="18" charset="0"/>
              </a:rPr>
              <a:t>• Dimension 4 (</a:t>
            </a:r>
            <a:r>
              <a:rPr dirty="0" err="1">
                <a:latin typeface="Bookman Old Style" panose="02050604050505020204" pitchFamily="18" charset="0"/>
              </a:rPr>
              <a:t>dim_visual_feature</a:t>
            </a:r>
            <a:r>
              <a:rPr dirty="0">
                <a:latin typeface="Bookman Old Style" panose="02050604050505020204" pitchFamily="18" charset="0"/>
              </a:rPr>
              <a:t>): 32 continuous descriptors (2,596 rows: </a:t>
            </a:r>
            <a:r>
              <a:rPr dirty="0" err="1">
                <a:latin typeface="Bookman Old Style" panose="02050604050505020204" pitchFamily="18" charset="0"/>
              </a:rPr>
              <a:t>feature_key</a:t>
            </a:r>
            <a:r>
              <a:rPr dirty="0">
                <a:latin typeface="Bookman Old Style" panose="02050604050505020204" pitchFamily="18" charset="0"/>
              </a:rPr>
              <a:t>, color moments, GLCM textures, morphometry).</a:t>
            </a:r>
          </a:p>
        </p:txBody>
      </p:sp>
      <p:pic>
        <p:nvPicPr>
          <p:cNvPr id="11" name="Picture 10" descr="star_schema_unified.png"/>
          <p:cNvPicPr>
            <a:picLocks noChangeAspect="1"/>
          </p:cNvPicPr>
          <p:nvPr/>
        </p:nvPicPr>
        <p:blipFill>
          <a:blip r:embed="rId2"/>
          <a:stretch>
            <a:fillRect/>
          </a:stretch>
        </p:blipFill>
        <p:spPr>
          <a:xfrm>
            <a:off x="457200" y="1344168"/>
            <a:ext cx="5760720" cy="4544429"/>
          </a:xfrm>
          <a:prstGeom prst="round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Production ETL Pipeline: Dimension-First Loading</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12 / 24</a:t>
            </a:r>
          </a:p>
        </p:txBody>
      </p:sp>
      <p:sp>
        <p:nvSpPr>
          <p:cNvPr id="7" name="Rounded Rectangle 6"/>
          <p:cNvSpPr/>
          <p:nvPr/>
        </p:nvSpPr>
        <p:spPr>
          <a:xfrm>
            <a:off x="731520" y="1371600"/>
            <a:ext cx="5669280" cy="4754880"/>
          </a:xfrm>
          <a:prstGeom prst="roundRect">
            <a:avLst/>
          </a:prstGeom>
          <a:solidFill>
            <a:srgbClr val="1C1C1C"/>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303520" cy="4389120"/>
          </a:xfrm>
          <a:prstGeom prst="rect">
            <a:avLst/>
          </a:prstGeom>
          <a:noFill/>
        </p:spPr>
        <p:txBody>
          <a:bodyPr wrap="square">
            <a:spAutoFit/>
          </a:bodyPr>
          <a:lstStyle/>
          <a:p>
            <a:pPr>
              <a:spcAft>
                <a:spcPts val="600"/>
              </a:spcAft>
              <a:defRPr sz="1100" b="1">
                <a:solidFill>
                  <a:srgbClr val="74C69D"/>
                </a:solidFill>
                <a:latin typeface="Consolas"/>
              </a:defRPr>
            </a:pPr>
            <a:r>
              <a:t># PRODUCTION ETL WORKFLOW (Extract -&gt; Transform -&gt; Load)</a:t>
            </a:r>
          </a:p>
          <a:p>
            <a:pPr>
              <a:defRPr sz="950">
                <a:solidFill>
                  <a:srgbClr val="FFFFFF"/>
                </a:solidFill>
                <a:latin typeface="Consolas"/>
              </a:defRPr>
            </a:pPr>
            <a:r>
              <a:t>with engine.begin() as conn:</a:t>
            </a:r>
          </a:p>
          <a:p>
            <a:pPr>
              <a:defRPr sz="950">
                <a:solidFill>
                  <a:srgbClr val="FFFFFF"/>
                </a:solidFill>
                <a:latin typeface="Consolas"/>
              </a:defRPr>
            </a:pPr>
            <a:r>
              <a:t>    # 1. Enforce SQLite Foreign Key Pragma natively</a:t>
            </a:r>
          </a:p>
          <a:p>
            <a:pPr>
              <a:defRPr sz="950">
                <a:solidFill>
                  <a:srgbClr val="FFFFFF"/>
                </a:solidFill>
                <a:latin typeface="Consolas"/>
              </a:defRPr>
            </a:pPr>
            <a:r>
              <a:t>    conn.execute(text('PRAGMA foreign_keys = ON;'))</a:t>
            </a:r>
          </a:p>
          <a:p>
            <a:pPr>
              <a:defRPr sz="950">
                <a:solidFill>
                  <a:srgbClr val="FFFFFF"/>
                </a:solidFill>
                <a:latin typeface="Consolas"/>
              </a:defRPr>
            </a:pPr>
            <a:endParaRPr/>
          </a:p>
          <a:p>
            <a:pPr>
              <a:defRPr sz="950">
                <a:solidFill>
                  <a:srgbClr val="FFFFFF"/>
                </a:solidFill>
                <a:latin typeface="Consolas"/>
              </a:defRPr>
            </a:pPr>
            <a:r>
              <a:t>    # 2. Dimension-First Loading (Idempotent Natural Keys)</a:t>
            </a:r>
          </a:p>
          <a:p>
            <a:pPr>
              <a:defRPr sz="950">
                <a:solidFill>
                  <a:srgbClr val="FFFFFF"/>
                </a:solidFill>
                <a:latin typeface="Consolas"/>
              </a:defRPr>
            </a:pPr>
            <a:r>
              <a:t>    crop_key = load_dim_crop(conn, row['crop_name'])</a:t>
            </a:r>
          </a:p>
          <a:p>
            <a:pPr>
              <a:defRPr sz="950">
                <a:solidFill>
                  <a:srgbClr val="FFFFFF"/>
                </a:solidFill>
                <a:latin typeface="Consolas"/>
              </a:defRPr>
            </a:pPr>
            <a:r>
              <a:t>    disease_key = load_dim_disease(conn, row['disease'])</a:t>
            </a:r>
          </a:p>
          <a:p>
            <a:pPr>
              <a:defRPr sz="950">
                <a:solidFill>
                  <a:srgbClr val="FFFFFF"/>
                </a:solidFill>
                <a:latin typeface="Consolas"/>
              </a:defRPr>
            </a:pPr>
            <a:r>
              <a:t>    image_key = load_dim_image(conn, row['metadata'])</a:t>
            </a:r>
          </a:p>
          <a:p>
            <a:pPr>
              <a:defRPr sz="950">
                <a:solidFill>
                  <a:srgbClr val="FFFFFF"/>
                </a:solidFill>
                <a:latin typeface="Consolas"/>
              </a:defRPr>
            </a:pPr>
            <a:r>
              <a:t>    feature_key = load_dim_features(conn, row['features'])</a:t>
            </a:r>
          </a:p>
          <a:p>
            <a:pPr>
              <a:defRPr sz="950">
                <a:solidFill>
                  <a:srgbClr val="FFFFFF"/>
                </a:solidFill>
                <a:latin typeface="Consolas"/>
              </a:defRPr>
            </a:pPr>
            <a:endParaRPr/>
          </a:p>
          <a:p>
            <a:pPr>
              <a:defRPr sz="950">
                <a:solidFill>
                  <a:srgbClr val="FFFFFF"/>
                </a:solidFill>
                <a:latin typeface="Consolas"/>
              </a:defRPr>
            </a:pPr>
            <a:r>
              <a:t>    # 3. Fact Table Ingestion with Deduplication</a:t>
            </a:r>
          </a:p>
          <a:p>
            <a:pPr>
              <a:defRPr sz="950">
                <a:solidFill>
                  <a:srgbClr val="FFFFFF"/>
                </a:solidFill>
                <a:latin typeface="Consolas"/>
              </a:defRPr>
            </a:pPr>
            <a:r>
              <a:t>    stmt = insert(disease_observation_fact).values(</a:t>
            </a:r>
          </a:p>
          <a:p>
            <a:pPr>
              <a:defRPr sz="950">
                <a:solidFill>
                  <a:srgbClr val="FFFFFF"/>
                </a:solidFill>
                <a:latin typeface="Consolas"/>
              </a:defRPr>
            </a:pPr>
            <a:r>
              <a:t>        crop_key=crop_key, disease_key=disease_key,</a:t>
            </a:r>
          </a:p>
          <a:p>
            <a:pPr>
              <a:defRPr sz="950">
                <a:solidFill>
                  <a:srgbClr val="FFFFFF"/>
                </a:solidFill>
                <a:latin typeface="Consolas"/>
              </a:defRPr>
            </a:pPr>
            <a:r>
              <a:t>        image_key=image_key, feature_key=feature_key,</a:t>
            </a:r>
          </a:p>
          <a:p>
            <a:pPr>
              <a:defRPr sz="950">
                <a:solidFill>
                  <a:srgbClr val="FFFFFF"/>
                </a:solidFill>
                <a:latin typeface="Consolas"/>
              </a:defRPr>
            </a:pPr>
            <a:r>
              <a:t>        lesion_severity_score=row['severity']</a:t>
            </a:r>
          </a:p>
          <a:p>
            <a:pPr>
              <a:defRPr sz="950">
                <a:solidFill>
                  <a:srgbClr val="FFFFFF"/>
                </a:solidFill>
                <a:latin typeface="Consolas"/>
              </a:defRPr>
            </a:pPr>
            <a:r>
              <a:t>    ).prefix_with('OR IGNORE')</a:t>
            </a:r>
          </a:p>
          <a:p>
            <a:pPr>
              <a:defRPr sz="950">
                <a:solidFill>
                  <a:srgbClr val="FFFFFF"/>
                </a:solidFill>
                <a:latin typeface="Consolas"/>
              </a:defRPr>
            </a:pPr>
            <a:r>
              <a:t>    conn.execute(stmt)</a:t>
            </a:r>
          </a:p>
        </p:txBody>
      </p:sp>
      <p:sp>
        <p:nvSpPr>
          <p:cNvPr id="9" name="Rounded Rectangle 8"/>
          <p:cNvSpPr/>
          <p:nvPr/>
        </p:nvSpPr>
        <p:spPr>
          <a:xfrm>
            <a:off x="6675120" y="1371600"/>
            <a:ext cx="478505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6857999" y="1767840"/>
            <a:ext cx="4419295" cy="3569632"/>
          </a:xfrm>
          <a:prstGeom prst="rect">
            <a:avLst/>
          </a:prstGeom>
          <a:noFill/>
        </p:spPr>
        <p:txBody>
          <a:bodyPr wrap="square">
            <a:spAutoFit/>
          </a:bodyPr>
          <a:lstStyle/>
          <a:p>
            <a:r>
              <a:rPr sz="1400" b="1" dirty="0">
                <a:solidFill>
                  <a:srgbClr val="475B53"/>
                </a:solidFill>
                <a:latin typeface="Bookman Old Style" panose="02050604050505020204" pitchFamily="18" charset="0"/>
              </a:rPr>
              <a:t>VERIFIED ETL EXECUTION AUDIT</a:t>
            </a:r>
          </a:p>
          <a:p>
            <a:pPr>
              <a:lnSpc>
                <a:spcPct val="150000"/>
              </a:lnSpc>
            </a:pPr>
            <a:r>
              <a:rPr sz="1200" dirty="0">
                <a:latin typeface="Bookman Old Style" panose="02050604050505020204" pitchFamily="18" charset="0"/>
              </a:rPr>
              <a:t>• Verified Unified Migration: 2,596 fact rows and 2,596 image/feature dimension rows committed into SQLite warehouse. Zero duplicate inflation.</a:t>
            </a:r>
          </a:p>
          <a:p>
            <a:pPr>
              <a:lnSpc>
                <a:spcPct val="150000"/>
              </a:lnSpc>
            </a:pPr>
            <a:r>
              <a:rPr sz="1200" dirty="0">
                <a:latin typeface="Bookman Old Style" panose="02050604050505020204" pitchFamily="18" charset="0"/>
              </a:rPr>
              <a:t>• Strict Idempotency (100%): Subsequent rerun inserts 0 rows, skipping all 2,596 existing records cleanly.</a:t>
            </a:r>
          </a:p>
          <a:p>
            <a:pPr>
              <a:lnSpc>
                <a:spcPct val="150000"/>
              </a:lnSpc>
            </a:pPr>
            <a:r>
              <a:rPr sz="1200" dirty="0">
                <a:latin typeface="Bookman Old Style" panose="02050604050505020204" pitchFamily="18" charset="0"/>
              </a:rPr>
              <a:t>• Dimension-First Loading &amp; Transaction Atomicity: Populates </a:t>
            </a:r>
            <a:r>
              <a:rPr sz="1200" dirty="0" err="1">
                <a:latin typeface="Bookman Old Style" panose="02050604050505020204" pitchFamily="18" charset="0"/>
              </a:rPr>
              <a:t>dim_crop</a:t>
            </a:r>
            <a:r>
              <a:rPr sz="1200" dirty="0">
                <a:latin typeface="Bookman Old Style" panose="02050604050505020204" pitchFamily="18" charset="0"/>
              </a:rPr>
              <a:t> (14), </a:t>
            </a:r>
            <a:r>
              <a:rPr sz="1200" dirty="0" err="1">
                <a:latin typeface="Bookman Old Style" panose="02050604050505020204" pitchFamily="18" charset="0"/>
              </a:rPr>
              <a:t>dim_disease</a:t>
            </a:r>
            <a:r>
              <a:rPr sz="1200" dirty="0">
                <a:latin typeface="Bookman Old Style" panose="02050604050505020204" pitchFamily="18" charset="0"/>
              </a:rPr>
              <a:t> (19), </a:t>
            </a:r>
            <a:r>
              <a:rPr sz="1200" dirty="0" err="1">
                <a:latin typeface="Bookman Old Style" panose="02050604050505020204" pitchFamily="18" charset="0"/>
              </a:rPr>
              <a:t>dim_image</a:t>
            </a:r>
            <a:r>
              <a:rPr sz="1200" dirty="0">
                <a:latin typeface="Bookman Old Style" panose="02050604050505020204" pitchFamily="18" charset="0"/>
              </a:rPr>
              <a:t> (2,596), and </a:t>
            </a:r>
            <a:r>
              <a:rPr sz="1200" dirty="0" err="1">
                <a:latin typeface="Bookman Old Style" panose="02050604050505020204" pitchFamily="18" charset="0"/>
              </a:rPr>
              <a:t>dim_visual_feature</a:t>
            </a:r>
            <a:r>
              <a:rPr sz="1200" dirty="0">
                <a:latin typeface="Bookman Old Style" panose="02050604050505020204" pitchFamily="18" charset="0"/>
              </a:rPr>
              <a:t> (2,596) before fact ingestion in atomic </a:t>
            </a:r>
            <a:r>
              <a:rPr sz="1200" dirty="0" err="1">
                <a:latin typeface="Bookman Old Style" panose="02050604050505020204" pitchFamily="18" charset="0"/>
              </a:rPr>
              <a:t>SQLAlchemy</a:t>
            </a:r>
            <a:r>
              <a:rPr sz="1200" dirty="0">
                <a:latin typeface="Bookman Old Style" panose="02050604050505020204" pitchFamily="18" charset="0"/>
              </a:rPr>
              <a:t> transactions.</a:t>
            </a:r>
          </a:p>
          <a:p>
            <a:pPr>
              <a:lnSpc>
                <a:spcPct val="150000"/>
              </a:lnSpc>
            </a:pPr>
            <a:r>
              <a:rPr sz="1200" dirty="0">
                <a:latin typeface="Bookman Old Style" panose="02050604050505020204" pitchFamily="18" charset="0"/>
              </a:rPr>
              <a:t>• Zero Referential Drift: 100% of fact foreign keys resolve to valid dimension primary keys with PRAGMA </a:t>
            </a:r>
            <a:r>
              <a:rPr sz="1200" dirty="0" err="1">
                <a:latin typeface="Bookman Old Style" panose="02050604050505020204" pitchFamily="18" charset="0"/>
              </a:rPr>
              <a:t>foreign_keys</a:t>
            </a:r>
            <a:r>
              <a:rPr sz="1200" dirty="0">
                <a:latin typeface="Bookman Old Style" panose="02050604050505020204" pitchFamily="18" charset="0"/>
              </a:rPr>
              <a:t> = ON enforced.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Data Governance &amp; Integrity Verification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13 / 24</a:t>
            </a:r>
          </a:p>
        </p:txBody>
      </p:sp>
      <p:sp>
        <p:nvSpPr>
          <p:cNvPr id="7" name="Rounded Rectangle 6"/>
          <p:cNvSpPr/>
          <p:nvPr/>
        </p:nvSpPr>
        <p:spPr>
          <a:xfrm>
            <a:off x="731520" y="1371600"/>
            <a:ext cx="2514600" cy="1828800"/>
          </a:xfrm>
          <a:prstGeom prst="roundRect">
            <a:avLst/>
          </a:prstGeom>
          <a:solidFill>
            <a:srgbClr val="D8F3DC"/>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2240280" cy="1554480"/>
          </a:xfrm>
          <a:prstGeom prst="rect">
            <a:avLst/>
          </a:prstGeom>
          <a:noFill/>
        </p:spPr>
        <p:txBody>
          <a:bodyPr wrap="square">
            <a:spAutoFit/>
          </a:bodyPr>
          <a:lstStyle/>
          <a:p>
            <a:pPr>
              <a:spcAft>
                <a:spcPts val="600"/>
              </a:spcAft>
              <a:defRPr sz="1400" b="1">
                <a:solidFill>
                  <a:srgbClr val="1B4332"/>
                </a:solidFill>
                <a:latin typeface="Bookman Old Style"/>
              </a:defRPr>
            </a:pPr>
            <a:r>
              <a:t>0.00% NULLS</a:t>
            </a:r>
          </a:p>
          <a:p>
            <a:pPr>
              <a:defRPr sz="1050">
                <a:solidFill>
                  <a:srgbClr val="1A1A1A"/>
                </a:solidFill>
                <a:latin typeface="Bookman Old Style"/>
              </a:defRPr>
            </a:pPr>
            <a:r>
              <a:t>Zero null values across all primary keys, foreign keys, and 32 continuous descriptors.</a:t>
            </a:r>
          </a:p>
        </p:txBody>
      </p:sp>
      <p:sp>
        <p:nvSpPr>
          <p:cNvPr id="9" name="Rounded Rectangle 8"/>
          <p:cNvSpPr/>
          <p:nvPr/>
        </p:nvSpPr>
        <p:spPr>
          <a:xfrm>
            <a:off x="3465576" y="1371600"/>
            <a:ext cx="2514600" cy="18288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1508760"/>
            <a:ext cx="2240280" cy="1554480"/>
          </a:xfrm>
          <a:prstGeom prst="rect">
            <a:avLst/>
          </a:prstGeom>
          <a:noFill/>
        </p:spPr>
        <p:txBody>
          <a:bodyPr wrap="square">
            <a:spAutoFit/>
          </a:bodyPr>
          <a:lstStyle/>
          <a:p>
            <a:pPr>
              <a:spcAft>
                <a:spcPts val="600"/>
              </a:spcAft>
              <a:defRPr sz="1400" b="1">
                <a:solidFill>
                  <a:srgbClr val="2D6A4F"/>
                </a:solidFill>
                <a:latin typeface="Bookman Old Style"/>
              </a:defRPr>
            </a:pPr>
            <a:r>
              <a:t>0 DUPLICATES</a:t>
            </a:r>
          </a:p>
          <a:p>
            <a:pPr>
              <a:defRPr sz="1050">
                <a:solidFill>
                  <a:srgbClr val="1A1A1A"/>
                </a:solidFill>
                <a:latin typeface="Bookman Old Style"/>
              </a:defRPr>
            </a:pPr>
            <a:r>
              <a:t>100% deduplication via composite natural key and MD5 image content hashing.</a:t>
            </a:r>
          </a:p>
        </p:txBody>
      </p:sp>
      <p:sp>
        <p:nvSpPr>
          <p:cNvPr id="11" name="Rounded Rectangle 10"/>
          <p:cNvSpPr/>
          <p:nvPr/>
        </p:nvSpPr>
        <p:spPr>
          <a:xfrm>
            <a:off x="6199632" y="1371600"/>
            <a:ext cx="2514600" cy="18288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1508760"/>
            <a:ext cx="2240280" cy="1554480"/>
          </a:xfrm>
          <a:prstGeom prst="rect">
            <a:avLst/>
          </a:prstGeom>
          <a:noFill/>
        </p:spPr>
        <p:txBody>
          <a:bodyPr wrap="square">
            <a:spAutoFit/>
          </a:bodyPr>
          <a:lstStyle/>
          <a:p>
            <a:pPr>
              <a:spcAft>
                <a:spcPts val="600"/>
              </a:spcAft>
              <a:defRPr sz="1400" b="1">
                <a:solidFill>
                  <a:srgbClr val="1E3A8A"/>
                </a:solidFill>
                <a:latin typeface="Bookman Old Style"/>
              </a:defRPr>
            </a:pPr>
            <a:r>
              <a:t>100% FK INTEGRITY</a:t>
            </a:r>
          </a:p>
          <a:p>
            <a:pPr>
              <a:defRPr sz="1050">
                <a:solidFill>
                  <a:srgbClr val="1A1A1A"/>
                </a:solidFill>
                <a:latin typeface="Bookman Old Style"/>
              </a:defRPr>
            </a:pPr>
            <a:r>
              <a:t>PRAGMA foreign_keys = 1 enforced. Zero orphan fact rows detected.</a:t>
            </a:r>
          </a:p>
        </p:txBody>
      </p:sp>
      <p:sp>
        <p:nvSpPr>
          <p:cNvPr id="13" name="Rounded Rectangle 12"/>
          <p:cNvSpPr/>
          <p:nvPr/>
        </p:nvSpPr>
        <p:spPr>
          <a:xfrm>
            <a:off x="8933688" y="1371600"/>
            <a:ext cx="2514600" cy="1828800"/>
          </a:xfrm>
          <a:prstGeom prst="roundRect">
            <a:avLst/>
          </a:prstGeom>
          <a:solidFill>
            <a:srgbClr val="D8F3DC"/>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70848" y="1508760"/>
            <a:ext cx="2240280" cy="1554480"/>
          </a:xfrm>
          <a:prstGeom prst="rect">
            <a:avLst/>
          </a:prstGeom>
          <a:noFill/>
        </p:spPr>
        <p:txBody>
          <a:bodyPr wrap="square">
            <a:spAutoFit/>
          </a:bodyPr>
          <a:lstStyle/>
          <a:p>
            <a:pPr>
              <a:spcAft>
                <a:spcPts val="600"/>
              </a:spcAft>
              <a:defRPr sz="1400" b="1">
                <a:solidFill>
                  <a:srgbClr val="1B4332"/>
                </a:solidFill>
                <a:latin typeface="Bookman Old Style"/>
              </a:defRPr>
            </a:pPr>
            <a:r>
              <a:t>100% HASH INVARIANT</a:t>
            </a:r>
          </a:p>
          <a:p>
            <a:pPr>
              <a:defRPr sz="1050">
                <a:solidFill>
                  <a:srgbClr val="1A1A1A"/>
                </a:solidFill>
                <a:latin typeface="Bookman Old Style"/>
              </a:defRPr>
            </a:pPr>
            <a:r>
              <a:t>Canonical manifest &amp; feature store SHA-256 digests perfectly preserved.</a:t>
            </a:r>
          </a:p>
        </p:txBody>
      </p:sp>
      <p:graphicFrame>
        <p:nvGraphicFramePr>
          <p:cNvPr id="15" name="Table 14"/>
          <p:cNvGraphicFramePr>
            <a:graphicFrameLocks noGrp="1"/>
          </p:cNvGraphicFramePr>
          <p:nvPr>
            <p:extLst>
              <p:ext uri="{D42A27DB-BD31-4B8C-83A1-F6EECF244321}">
                <p14:modId xmlns:p14="http://schemas.microsoft.com/office/powerpoint/2010/main" val="3105458356"/>
              </p:ext>
            </p:extLst>
          </p:nvPr>
        </p:nvGraphicFramePr>
        <p:xfrm>
          <a:off x="731520" y="3474720"/>
          <a:ext cx="10728655" cy="265176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530352">
                <a:tc>
                  <a:txBody>
                    <a:bodyPr/>
                    <a:lstStyle/>
                    <a:p>
                      <a:pPr algn="ctr">
                        <a:defRPr sz="1100" b="1">
                          <a:solidFill>
                            <a:srgbClr val="FFFFFF"/>
                          </a:solidFill>
                          <a:latin typeface="Bookman Old Style"/>
                        </a:defRPr>
                      </a:pPr>
                      <a:r>
                        <a:rPr sz="1100">
                          <a:latin typeface="Bookman Old Style" panose="02050604050505020204" pitchFamily="18" charset="0"/>
                        </a:rPr>
                        <a:t>Audit Check</a:t>
                      </a:r>
                    </a:p>
                  </a:txBody>
                  <a:tcPr anchor="ctr">
                    <a:solidFill>
                      <a:srgbClr val="1B4332"/>
                    </a:solidFill>
                  </a:tcPr>
                </a:tc>
                <a:tc>
                  <a:txBody>
                    <a:bodyPr/>
                    <a:lstStyle/>
                    <a:p>
                      <a:pPr algn="ctr">
                        <a:defRPr sz="1100" b="1">
                          <a:solidFill>
                            <a:srgbClr val="FFFFFF"/>
                          </a:solidFill>
                          <a:latin typeface="Bookman Old Style"/>
                        </a:defRPr>
                      </a:pPr>
                      <a:r>
                        <a:rPr sz="1100">
                          <a:latin typeface="Bookman Old Style" panose="02050604050505020204" pitchFamily="18" charset="0"/>
                        </a:rPr>
                        <a:t>Expected Threshold</a:t>
                      </a:r>
                    </a:p>
                  </a:txBody>
                  <a:tcPr anchor="ctr">
                    <a:solidFill>
                      <a:srgbClr val="1B4332"/>
                    </a:solidFill>
                  </a:tcPr>
                </a:tc>
                <a:tc>
                  <a:txBody>
                    <a:bodyPr/>
                    <a:lstStyle/>
                    <a:p>
                      <a:pPr algn="ctr">
                        <a:defRPr sz="1100" b="1">
                          <a:solidFill>
                            <a:srgbClr val="FFFFFF"/>
                          </a:solidFill>
                          <a:latin typeface="Bookman Old Style"/>
                        </a:defRPr>
                      </a:pPr>
                      <a:r>
                        <a:rPr sz="1100">
                          <a:latin typeface="Bookman Old Style" panose="02050604050505020204" pitchFamily="18" charset="0"/>
                        </a:rPr>
                        <a:t>Measured Result</a:t>
                      </a:r>
                    </a:p>
                  </a:txBody>
                  <a:tcPr anchor="ctr">
                    <a:solidFill>
                      <a:srgbClr val="1B4332"/>
                    </a:solidFill>
                  </a:tcPr>
                </a:tc>
                <a:tc>
                  <a:txBody>
                    <a:bodyPr/>
                    <a:lstStyle/>
                    <a:p>
                      <a:pPr algn="ctr">
                        <a:defRPr sz="1100" b="1">
                          <a:solidFill>
                            <a:srgbClr val="FFFFFF"/>
                          </a:solidFill>
                          <a:latin typeface="Bookman Old Style"/>
                        </a:defRPr>
                      </a:pPr>
                      <a:r>
                        <a:rPr sz="1100">
                          <a:latin typeface="Bookman Old Style" panose="02050604050505020204" pitchFamily="18" charset="0"/>
                        </a:rPr>
                        <a:t>Status &amp; Evidence</a:t>
                      </a:r>
                    </a:p>
                  </a:txBody>
                  <a:tcPr anchor="ctr">
                    <a:solidFill>
                      <a:srgbClr val="1B4332"/>
                    </a:solidFill>
                  </a:tcPr>
                </a:tc>
                <a:extLst>
                  <a:ext uri="{0D108BD9-81ED-4DB2-BD59-A6C34878D82A}">
                    <a16:rowId xmlns:a16="http://schemas.microsoft.com/office/drawing/2014/main" val="10000"/>
                  </a:ext>
                </a:extLst>
              </a:tr>
              <a:tr h="530352">
                <a:tc>
                  <a:txBody>
                    <a:bodyPr/>
                    <a:lstStyle/>
                    <a:p>
                      <a:pPr algn="l">
                        <a:defRPr sz="1000">
                          <a:solidFill>
                            <a:srgbClr val="1A1A1A"/>
                          </a:solidFill>
                          <a:latin typeface="Bookman Old Style"/>
                        </a:defRPr>
                      </a:pPr>
                      <a:r>
                        <a:rPr sz="1100">
                          <a:latin typeface="Bookman Old Style" panose="02050604050505020204" pitchFamily="18" charset="0"/>
                        </a:rPr>
                        <a:t>SQLite Foreign Key Constraints</a:t>
                      </a:r>
                    </a:p>
                  </a:txBody>
                  <a:tcPr anchor="ctr">
                    <a:solidFill>
                      <a:srgbClr val="FFFFFF"/>
                    </a:solidFill>
                  </a:tcPr>
                </a:tc>
                <a:tc>
                  <a:txBody>
                    <a:bodyPr/>
                    <a:lstStyle/>
                    <a:p>
                      <a:pPr algn="ctr">
                        <a:defRPr sz="1000">
                          <a:solidFill>
                            <a:srgbClr val="1A1A1A"/>
                          </a:solidFill>
                          <a:latin typeface="Bookman Old Style"/>
                        </a:defRPr>
                      </a:pPr>
                      <a:r>
                        <a:rPr sz="1100">
                          <a:latin typeface="Bookman Old Style" panose="02050604050505020204" pitchFamily="18" charset="0"/>
                        </a:rPr>
                        <a:t>100% Enforced (PRAGMA=1)</a:t>
                      </a:r>
                    </a:p>
                  </a:txBody>
                  <a:tcPr anchor="ctr">
                    <a:solidFill>
                      <a:srgbClr val="FFFFFF"/>
                    </a:solidFill>
                  </a:tcPr>
                </a:tc>
                <a:tc>
                  <a:txBody>
                    <a:bodyPr/>
                    <a:lstStyle/>
                    <a:p>
                      <a:r>
                        <a:rPr sz="1100" dirty="0">
                          <a:latin typeface="Bookman Old Style" panose="02050604050505020204" pitchFamily="18" charset="0"/>
                        </a:rPr>
                        <a:t>0 Violations (100% enforced via PRAGMA=1)</a:t>
                      </a:r>
                    </a:p>
                  </a:txBody>
                  <a:tcPr anchor="ctr">
                    <a:solidFill>
                      <a:srgbClr val="FFFFFF"/>
                    </a:solidFill>
                  </a:tcPr>
                </a:tc>
                <a:tc>
                  <a:txBody>
                    <a:bodyPr/>
                    <a:lstStyle/>
                    <a:p>
                      <a:r>
                        <a:rPr sz="1100">
                          <a:latin typeface="Bookman Old Style" panose="02050604050505020204" pitchFamily="18" charset="0"/>
                        </a:rPr>
                        <a:t>PASS (All 2,596 facts resolve to valid dimension PKs)</a:t>
                      </a:r>
                    </a:p>
                  </a:txBody>
                  <a:tcPr anchor="ctr">
                    <a:solidFill>
                      <a:srgbClr val="FFFFFF"/>
                    </a:solidFill>
                  </a:tcPr>
                </a:tc>
                <a:extLst>
                  <a:ext uri="{0D108BD9-81ED-4DB2-BD59-A6C34878D82A}">
                    <a16:rowId xmlns:a16="http://schemas.microsoft.com/office/drawing/2014/main" val="10001"/>
                  </a:ext>
                </a:extLst>
              </a:tr>
              <a:tr h="530352">
                <a:tc>
                  <a:txBody>
                    <a:bodyPr/>
                    <a:lstStyle/>
                    <a:p>
                      <a:pPr algn="l">
                        <a:defRPr sz="1000">
                          <a:solidFill>
                            <a:srgbClr val="1A1A1A"/>
                          </a:solidFill>
                          <a:latin typeface="Bookman Old Style"/>
                        </a:defRPr>
                      </a:pPr>
                      <a:r>
                        <a:rPr sz="1100">
                          <a:latin typeface="Bookman Old Style" panose="02050604050505020204" pitchFamily="18" charset="0"/>
                        </a:rPr>
                        <a:t>Fact Table Primary Key Uniqueness</a:t>
                      </a:r>
                    </a:p>
                  </a:txBody>
                  <a:tcPr anchor="ctr">
                    <a:solidFill>
                      <a:srgbClr val="F8F9FA"/>
                    </a:solidFill>
                  </a:tcPr>
                </a:tc>
                <a:tc>
                  <a:txBody>
                    <a:bodyPr/>
                    <a:lstStyle/>
                    <a:p>
                      <a:pPr algn="ctr">
                        <a:defRPr sz="1000">
                          <a:solidFill>
                            <a:srgbClr val="1A1A1A"/>
                          </a:solidFill>
                          <a:latin typeface="Bookman Old Style"/>
                        </a:defRPr>
                      </a:pPr>
                      <a:r>
                        <a:rPr sz="1100">
                          <a:latin typeface="Bookman Old Style" panose="02050604050505020204" pitchFamily="18" charset="0"/>
                        </a:rPr>
                        <a:t>100% Unique observation_key</a:t>
                      </a:r>
                    </a:p>
                  </a:txBody>
                  <a:tcPr anchor="ctr">
                    <a:solidFill>
                      <a:srgbClr val="F8F9FA"/>
                    </a:solidFill>
                  </a:tcPr>
                </a:tc>
                <a:tc>
                  <a:txBody>
                    <a:bodyPr/>
                    <a:lstStyle/>
                    <a:p>
                      <a:r>
                        <a:rPr sz="1100">
                          <a:latin typeface="Bookman Old Style" panose="02050604050505020204" pitchFamily="18" charset="0"/>
                        </a:rPr>
                        <a:t>2,596 Unique PKs</a:t>
                      </a:r>
                    </a:p>
                  </a:txBody>
                  <a:tcPr anchor="ctr">
                    <a:solidFill>
                      <a:srgbClr val="F8F9FA"/>
                    </a:solidFill>
                  </a:tcPr>
                </a:tc>
                <a:tc>
                  <a:txBody>
                    <a:bodyPr/>
                    <a:lstStyle/>
                    <a:p>
                      <a:r>
                        <a:rPr sz="1100">
                          <a:latin typeface="Bookman Old Style" panose="02050604050505020204" pitchFamily="18" charset="0"/>
                        </a:rPr>
                        <a:t>PASS (Zero orphan or duplicate rows across all 2,596 records)</a:t>
                      </a:r>
                    </a:p>
                  </a:txBody>
                  <a:tcPr anchor="ctr">
                    <a:solidFill>
                      <a:srgbClr val="F8F9FA"/>
                    </a:solidFill>
                  </a:tcPr>
                </a:tc>
                <a:extLst>
                  <a:ext uri="{0D108BD9-81ED-4DB2-BD59-A6C34878D82A}">
                    <a16:rowId xmlns:a16="http://schemas.microsoft.com/office/drawing/2014/main" val="10002"/>
                  </a:ext>
                </a:extLst>
              </a:tr>
              <a:tr h="530352">
                <a:tc>
                  <a:txBody>
                    <a:bodyPr/>
                    <a:lstStyle/>
                    <a:p>
                      <a:pPr algn="l">
                        <a:defRPr sz="1000">
                          <a:solidFill>
                            <a:srgbClr val="1A1A1A"/>
                          </a:solidFill>
                          <a:latin typeface="Bookman Old Style"/>
                        </a:defRPr>
                      </a:pPr>
                      <a:r>
                        <a:rPr sz="1100">
                          <a:latin typeface="Bookman Old Style" panose="02050604050505020204" pitchFamily="18" charset="0"/>
                        </a:rPr>
                        <a:t>Feature Store Column Completeness</a:t>
                      </a:r>
                    </a:p>
                  </a:txBody>
                  <a:tcPr anchor="ctr">
                    <a:solidFill>
                      <a:srgbClr val="FFFFFF"/>
                    </a:solidFill>
                  </a:tcPr>
                </a:tc>
                <a:tc>
                  <a:txBody>
                    <a:bodyPr/>
                    <a:lstStyle/>
                    <a:p>
                      <a:pPr algn="ctr">
                        <a:defRPr sz="1000">
                          <a:solidFill>
                            <a:srgbClr val="1A1A1A"/>
                          </a:solidFill>
                          <a:latin typeface="Bookman Old Style"/>
                        </a:defRPr>
                      </a:pPr>
                      <a:r>
                        <a:rPr sz="1100">
                          <a:latin typeface="Bookman Old Style" panose="02050604050505020204" pitchFamily="18" charset="0"/>
                        </a:rPr>
                        <a:t>44 Required Columns</a:t>
                      </a:r>
                    </a:p>
                  </a:txBody>
                  <a:tcPr anchor="ctr">
                    <a:solidFill>
                      <a:srgbClr val="FFFFFF"/>
                    </a:solidFill>
                  </a:tcPr>
                </a:tc>
                <a:tc>
                  <a:txBody>
                    <a:bodyPr/>
                    <a:lstStyle/>
                    <a:p>
                      <a:pPr algn="ctr">
                        <a:defRPr sz="1000">
                          <a:solidFill>
                            <a:srgbClr val="1A1A1A"/>
                          </a:solidFill>
                          <a:latin typeface="Bookman Old Style"/>
                        </a:defRPr>
                      </a:pPr>
                      <a:r>
                        <a:rPr sz="1100">
                          <a:latin typeface="Bookman Old Style" panose="02050604050505020204" pitchFamily="18" charset="0"/>
                        </a:rPr>
                        <a:t>44 Columns Present</a:t>
                      </a:r>
                    </a:p>
                  </a:txBody>
                  <a:tcPr anchor="ctr">
                    <a:solidFill>
                      <a:srgbClr val="FFFFFF"/>
                    </a:solidFill>
                  </a:tcPr>
                </a:tc>
                <a:tc>
                  <a:txBody>
                    <a:bodyPr/>
                    <a:lstStyle/>
                    <a:p>
                      <a:pPr algn="l">
                        <a:defRPr sz="1000">
                          <a:solidFill>
                            <a:srgbClr val="1A1A1A"/>
                          </a:solidFill>
                          <a:latin typeface="Bookman Old Style"/>
                        </a:defRPr>
                      </a:pPr>
                      <a:r>
                        <a:rPr sz="1100">
                          <a:latin typeface="Bookman Old Style" panose="02050604050505020204" pitchFamily="18" charset="0"/>
                        </a:rPr>
                        <a:t>PASS (Zero missing feature fields)</a:t>
                      </a:r>
                    </a:p>
                  </a:txBody>
                  <a:tcPr anchor="ctr">
                    <a:solidFill>
                      <a:srgbClr val="FFFFFF"/>
                    </a:solidFill>
                  </a:tcPr>
                </a:tc>
                <a:extLst>
                  <a:ext uri="{0D108BD9-81ED-4DB2-BD59-A6C34878D82A}">
                    <a16:rowId xmlns:a16="http://schemas.microsoft.com/office/drawing/2014/main" val="10003"/>
                  </a:ext>
                </a:extLst>
              </a:tr>
              <a:tr h="530352">
                <a:tc>
                  <a:txBody>
                    <a:bodyPr/>
                    <a:lstStyle/>
                    <a:p>
                      <a:pPr algn="l">
                        <a:defRPr sz="1000">
                          <a:solidFill>
                            <a:srgbClr val="1A1A1A"/>
                          </a:solidFill>
                          <a:latin typeface="Bookman Old Style"/>
                        </a:defRPr>
                      </a:pPr>
                      <a:r>
                        <a:rPr sz="1100">
                          <a:latin typeface="Bookman Old Style" panose="02050604050505020204" pitchFamily="18" charset="0"/>
                        </a:rPr>
                        <a:t>Cryptographic Dataset Immutability</a:t>
                      </a:r>
                    </a:p>
                  </a:txBody>
                  <a:tcPr anchor="ctr">
                    <a:solidFill>
                      <a:srgbClr val="F8F9FA"/>
                    </a:solidFill>
                  </a:tcPr>
                </a:tc>
                <a:tc>
                  <a:txBody>
                    <a:bodyPr/>
                    <a:lstStyle/>
                    <a:p>
                      <a:pPr algn="ctr">
                        <a:defRPr sz="1000">
                          <a:solidFill>
                            <a:srgbClr val="1A1A1A"/>
                          </a:solidFill>
                          <a:latin typeface="Bookman Old Style"/>
                        </a:defRPr>
                      </a:pPr>
                      <a:r>
                        <a:rPr sz="1100">
                          <a:latin typeface="Bookman Old Style" panose="02050604050505020204" pitchFamily="18" charset="0"/>
                        </a:rPr>
                        <a:t>Exact SHA-256 match</a:t>
                      </a:r>
                    </a:p>
                  </a:txBody>
                  <a:tcPr anchor="ctr">
                    <a:solidFill>
                      <a:srgbClr val="F8F9FA"/>
                    </a:solidFill>
                  </a:tcPr>
                </a:tc>
                <a:tc>
                  <a:txBody>
                    <a:bodyPr/>
                    <a:lstStyle/>
                    <a:p>
                      <a:pPr algn="ctr">
                        <a:defRPr sz="1000">
                          <a:solidFill>
                            <a:srgbClr val="1A1A1A"/>
                          </a:solidFill>
                          <a:latin typeface="Bookman Old Style"/>
                        </a:defRPr>
                      </a:pPr>
                      <a:r>
                        <a:rPr sz="1100">
                          <a:latin typeface="Bookman Old Style" panose="02050604050505020204" pitchFamily="18" charset="0"/>
                        </a:rPr>
                        <a:t>c7fd...1cb8 &amp; f6ca...093c1</a:t>
                      </a:r>
                    </a:p>
                  </a:txBody>
                  <a:tcPr anchor="ctr">
                    <a:solidFill>
                      <a:srgbClr val="F8F9FA"/>
                    </a:solidFill>
                  </a:tcPr>
                </a:tc>
                <a:tc>
                  <a:txBody>
                    <a:bodyPr/>
                    <a:lstStyle/>
                    <a:p>
                      <a:pPr algn="l">
                        <a:defRPr sz="1000">
                          <a:solidFill>
                            <a:srgbClr val="1A1A1A"/>
                          </a:solidFill>
                          <a:latin typeface="Bookman Old Style"/>
                        </a:defRPr>
                      </a:pPr>
                      <a:r>
                        <a:rPr sz="1100" dirty="0">
                          <a:latin typeface="Bookman Old Style" panose="02050604050505020204" pitchFamily="18" charset="0"/>
                        </a:rPr>
                        <a:t>PASS (Zero post-run file mutations)</a:t>
                      </a:r>
                    </a:p>
                  </a:txBody>
                  <a:tcPr anchor="ctr">
                    <a:solidFill>
                      <a:srgbClr val="F8F9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SQL-Backed OLAP Operations Engine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14 / 24</a:t>
            </a:r>
          </a:p>
        </p:txBody>
      </p:sp>
      <p:sp>
        <p:nvSpPr>
          <p:cNvPr id="7" name="Rounded Rectangle 6"/>
          <p:cNvSpPr/>
          <p:nvPr/>
        </p:nvSpPr>
        <p:spPr>
          <a:xfrm>
            <a:off x="731520" y="137160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4937760" cy="2011680"/>
          </a:xfrm>
          <a:prstGeom prst="rect">
            <a:avLst/>
          </a:prstGeom>
          <a:noFill/>
        </p:spPr>
        <p:txBody>
          <a:bodyPr wrap="square">
            <a:spAutoFit/>
          </a:bodyPr>
          <a:lstStyle/>
          <a:p>
            <a:pPr>
              <a:spcAft>
                <a:spcPts val="400"/>
              </a:spcAft>
              <a:defRPr sz="1150" b="1">
                <a:solidFill>
                  <a:srgbClr val="1B4332"/>
                </a:solidFill>
                <a:latin typeface="Bookman Old Style"/>
              </a:defRPr>
            </a:pPr>
            <a:r>
              <a:t>1. ROLL-UP (Hierarchical Aggregation)</a:t>
            </a:r>
          </a:p>
          <a:p>
            <a:pPr>
              <a:defRPr sz="950">
                <a:solidFill>
                  <a:srgbClr val="1A1A1A"/>
                </a:solidFill>
                <a:latin typeface="Bookman Old Style"/>
              </a:defRPr>
            </a:pPr>
            <a:r>
              <a:t>Ascends hierarchy: Observation -&gt; Crop -&gt; Crop Category.</a:t>
            </a:r>
            <a:br/>
            <a:r>
              <a:t>SQL: SELECT c.crop_category, COUNT(f.observation_key) AS obs, ROUND(AVG(f.lesion_severity_score),2) AS avg_sev</a:t>
            </a:r>
            <a:br/>
            <a:r>
              <a:t>     FROM disease_observation_fact f JOIN dim_crop c USING(crop_key) GROUP BY c.crop_category;</a:t>
            </a:r>
            <a:br/>
            <a:r>
              <a:t>Agronomic Insight: Aggregates across all 2,596 rows (latency: 14.12 ms) into Horticultural (2,123), Cereal (408), Legume (65).</a:t>
            </a:r>
          </a:p>
        </p:txBody>
      </p:sp>
      <p:sp>
        <p:nvSpPr>
          <p:cNvPr id="9" name="Rounded Rectangle 8"/>
          <p:cNvSpPr/>
          <p:nvPr/>
        </p:nvSpPr>
        <p:spPr>
          <a:xfrm>
            <a:off x="6217920" y="1371600"/>
            <a:ext cx="5242255"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508760"/>
            <a:ext cx="4967935" cy="2011680"/>
          </a:xfrm>
          <a:prstGeom prst="rect">
            <a:avLst/>
          </a:prstGeom>
          <a:noFill/>
        </p:spPr>
        <p:txBody>
          <a:bodyPr wrap="square">
            <a:spAutoFit/>
          </a:bodyPr>
          <a:lstStyle/>
          <a:p>
            <a:pPr>
              <a:spcAft>
                <a:spcPts val="400"/>
              </a:spcAft>
              <a:defRPr sz="1150" b="1">
                <a:solidFill>
                  <a:srgbClr val="1B4332"/>
                </a:solidFill>
                <a:latin typeface="Bookman Old Style"/>
              </a:defRPr>
            </a:pPr>
            <a:r>
              <a:t>2. DRILL-DOWN (Hierarchical Decomposition)</a:t>
            </a:r>
          </a:p>
          <a:p>
            <a:pPr>
              <a:defRPr sz="950">
                <a:solidFill>
                  <a:srgbClr val="1A1A1A"/>
                </a:solidFill>
                <a:latin typeface="Bookman Old Style"/>
              </a:defRPr>
            </a:pPr>
            <a:r>
              <a:t>Descends hierarchy: Crop Category -&gt; Pathology Diagnosis -&gt; Specific Pathogen.</a:t>
            </a:r>
            <a:br/>
            <a:r>
              <a:t>SQL: SELECT d.disease_name, d.pathogen_type, COUNT(f.observation_key) AS obs, ROUND(AVG(f.lesion_severity_score),2) AS avg_sev</a:t>
            </a:r>
            <a:br/>
            <a:r>
              <a:t>     FROM disease_observation_fact f JOIN dim_disease d USING(disease_key) GROUP BY d.disease_name;</a:t>
            </a:r>
            <a:br/>
            <a:r>
              <a:t>Agronomic Insight: Decomposes broad foliar symptoms into specific bacterial and fungal agents.</a:t>
            </a:r>
          </a:p>
        </p:txBody>
      </p:sp>
      <p:sp>
        <p:nvSpPr>
          <p:cNvPr id="11" name="Rounded Rectangle 10"/>
          <p:cNvSpPr/>
          <p:nvPr/>
        </p:nvSpPr>
        <p:spPr>
          <a:xfrm>
            <a:off x="731520" y="3840480"/>
            <a:ext cx="33832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977640"/>
            <a:ext cx="3108960" cy="2011680"/>
          </a:xfrm>
          <a:prstGeom prst="rect">
            <a:avLst/>
          </a:prstGeom>
          <a:noFill/>
        </p:spPr>
        <p:txBody>
          <a:bodyPr wrap="square">
            <a:spAutoFit/>
          </a:bodyPr>
          <a:lstStyle/>
          <a:p>
            <a:pPr>
              <a:spcAft>
                <a:spcPts val="400"/>
              </a:spcAft>
              <a:defRPr sz="1100" b="1">
                <a:solidFill>
                  <a:srgbClr val="1B4332"/>
                </a:solidFill>
                <a:latin typeface="Bookman Old Style"/>
              </a:defRPr>
            </a:pPr>
            <a:r>
              <a:t>3A. SLICE (Single Dimension)</a:t>
            </a:r>
          </a:p>
          <a:p>
            <a:pPr>
              <a:defRPr sz="900">
                <a:solidFill>
                  <a:srgbClr val="1A1A1A"/>
                </a:solidFill>
                <a:latin typeface="Bookman Old Style"/>
              </a:defRPr>
            </a:pPr>
            <a:r>
              <a:t>Filters strictly on 1 dimension: WHERE crop_name = 'Rice'.</a:t>
            </a:r>
            <a:br/>
            <a:r>
              <a:t>SQL: SELECT c.crop_name, COUNT(f.observation_key) AS obs, ROUND(AVG(f.lesion_severity_score),2) AS avg_sev FROM disease_observation_fact f JOIN dim_crop c USING(crop_key) WHERE c.crop_name = 'Rice';</a:t>
            </a:r>
            <a:br/>
            <a:r>
              <a:t>Agronomic Value: Isolates host-specific baseline specimens for staple cereal disease analysis.</a:t>
            </a:r>
          </a:p>
        </p:txBody>
      </p:sp>
      <p:sp>
        <p:nvSpPr>
          <p:cNvPr id="13" name="Rounded Rectangle 12"/>
          <p:cNvSpPr/>
          <p:nvPr/>
        </p:nvSpPr>
        <p:spPr>
          <a:xfrm>
            <a:off x="4389120" y="3840480"/>
            <a:ext cx="33832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3977640"/>
            <a:ext cx="3108960" cy="2011680"/>
          </a:xfrm>
          <a:prstGeom prst="rect">
            <a:avLst/>
          </a:prstGeom>
          <a:noFill/>
        </p:spPr>
        <p:txBody>
          <a:bodyPr wrap="square">
            <a:spAutoFit/>
          </a:bodyPr>
          <a:lstStyle/>
          <a:p>
            <a:pPr>
              <a:spcAft>
                <a:spcPts val="400"/>
              </a:spcAft>
              <a:defRPr sz="1100" b="1">
                <a:solidFill>
                  <a:srgbClr val="1B4332"/>
                </a:solidFill>
                <a:latin typeface="Bookman Old Style"/>
              </a:defRPr>
            </a:pPr>
            <a:r>
              <a:t>3B. DICE (Multi-Dimension Sub-Cube)</a:t>
            </a:r>
          </a:p>
          <a:p>
            <a:pPr>
              <a:defRPr sz="900">
                <a:solidFill>
                  <a:srgbClr val="1A1A1A"/>
                </a:solidFill>
                <a:latin typeface="Bookman Old Style"/>
              </a:defRPr>
            </a:pPr>
            <a:r>
              <a:t>Filters across 2+ dimensions: WHERE crop IN ('Tomato','Corn') AND pathogen = 'Fungal'.</a:t>
            </a:r>
            <a:br/>
            <a:r>
              <a:t>SQL: SELECT c.crop_name, d.disease_name, ROUND(AVG(f.lesion_severity_score),2) FROM disease_observation_fact f JOIN dim_crop c USING(crop_key) JOIN dim_disease d USING(disease_key) WHERE c.crop_name IN ('Tomato','Corn') AND d.pathogen_type = 'Fungal';</a:t>
            </a:r>
            <a:br/>
            <a:r>
              <a:t>Agronomic Value: Compares cross-crop fungal vulnerability in commercial row crops.</a:t>
            </a:r>
          </a:p>
        </p:txBody>
      </p:sp>
      <p:sp>
        <p:nvSpPr>
          <p:cNvPr id="15" name="Rounded Rectangle 14"/>
          <p:cNvSpPr/>
          <p:nvPr/>
        </p:nvSpPr>
        <p:spPr>
          <a:xfrm>
            <a:off x="8046720" y="3840480"/>
            <a:ext cx="3413455"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80" y="3977640"/>
            <a:ext cx="3139135" cy="2011680"/>
          </a:xfrm>
          <a:prstGeom prst="rect">
            <a:avLst/>
          </a:prstGeom>
          <a:noFill/>
        </p:spPr>
        <p:txBody>
          <a:bodyPr wrap="square">
            <a:spAutoFit/>
          </a:bodyPr>
          <a:lstStyle/>
          <a:p>
            <a:pPr>
              <a:spcAft>
                <a:spcPts val="400"/>
              </a:spcAft>
              <a:defRPr sz="1100" b="1">
                <a:solidFill>
                  <a:srgbClr val="1B4332"/>
                </a:solidFill>
                <a:latin typeface="Bookman Old Style"/>
              </a:defRPr>
            </a:pPr>
            <a:r>
              <a:t>4. PIVOT (Cross-Tabulation Rotation)</a:t>
            </a:r>
          </a:p>
          <a:p>
            <a:pPr>
              <a:defRPr sz="900">
                <a:solidFill>
                  <a:srgbClr val="1A1A1A"/>
                </a:solidFill>
                <a:latin typeface="Bookman Old Style"/>
              </a:defRPr>
            </a:pPr>
            <a:r>
              <a:t>Cross-tabulates Crop Species (rows) vs Severity Tiers (columns).</a:t>
            </a:r>
            <a:br/>
            <a:r>
              <a:t>Matrix: Low Severity (&lt;0.30), Moderate (0.30–0.60), Severe (&gt;0.60).</a:t>
            </a:r>
            <a:br/>
            <a:r>
              <a:t>Agronomic Value: Exposes structural damage distribution across distinct host plant taxa in a compact 2D reporting matrix.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69277"/>
          </a:xfrm>
          <a:prstGeom prst="rect">
            <a:avLst/>
          </a:prstGeom>
          <a:noFill/>
        </p:spPr>
        <p:txBody>
          <a:bodyPr wrap="square" lIns="0" tIns="0" rIns="0" bIns="0">
            <a:spAutoFit/>
          </a:bodyPr>
          <a:lstStyle/>
          <a:p>
            <a:pPr>
              <a:defRPr sz="1100" b="1">
                <a:solidFill>
                  <a:srgbClr val="2D6A4F"/>
                </a:solidFill>
                <a:latin typeface="Bookman Old Style"/>
              </a:defRPr>
            </a:pPr>
            <a:r>
              <a:rPr>
                <a:latin typeface="Bookman Old Style" panose="02050604050505020204" pitchFamily="18" charset="0"/>
              </a:rPr>
              <a:t>CSI3010: DATA WAREHOUSING &amp; DATA MINING</a:t>
            </a:r>
          </a:p>
        </p:txBody>
      </p:sp>
      <p:sp>
        <p:nvSpPr>
          <p:cNvPr id="3" name="TextBox 2"/>
          <p:cNvSpPr txBox="1"/>
          <p:nvPr/>
        </p:nvSpPr>
        <p:spPr>
          <a:xfrm>
            <a:off x="731520" y="658368"/>
            <a:ext cx="10728655" cy="338554"/>
          </a:xfrm>
          <a:prstGeom prst="rect">
            <a:avLst/>
          </a:prstGeom>
          <a:noFill/>
        </p:spPr>
        <p:txBody>
          <a:bodyPr wrap="square" lIns="0" tIns="0" rIns="0" bIns="0">
            <a:spAutoFit/>
          </a:bodyPr>
          <a:lstStyle/>
          <a:p>
            <a:pPr>
              <a:defRPr sz="2200" b="1">
                <a:solidFill>
                  <a:srgbClr val="1B4332"/>
                </a:solidFill>
                <a:latin typeface="Bookman Old Style"/>
              </a:defRPr>
            </a:pPr>
            <a:r>
              <a:rPr>
                <a:latin typeface="Bookman Old Style" panose="02050604050505020204" pitchFamily="18" charset="0"/>
              </a:rPr>
              <a:t>Physical Warehouse: Actual OLAP Query Outputs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5" name="TextBox 4"/>
          <p:cNvSpPr txBox="1"/>
          <p:nvPr/>
        </p:nvSpPr>
        <p:spPr>
          <a:xfrm>
            <a:off x="731520" y="6446520"/>
            <a:ext cx="8229600" cy="146194"/>
          </a:xfrm>
          <a:prstGeom prst="rect">
            <a:avLst/>
          </a:prstGeom>
          <a:noFill/>
        </p:spPr>
        <p:txBody>
          <a:bodyPr wrap="square" lIns="0" tIns="0" rIns="0" bIns="0">
            <a:spAutoFit/>
          </a:bodyPr>
          <a:lstStyle/>
          <a:p>
            <a:pPr>
              <a:defRPr sz="950">
                <a:solidFill>
                  <a:srgbClr val="5A646E"/>
                </a:solidFill>
                <a:latin typeface="Bookman Old Style"/>
              </a:defRPr>
            </a:pPr>
            <a:r>
              <a:rPr>
                <a:latin typeface="Bookman Old Style" panose="02050604050505020204" pitchFamily="18" charset="0"/>
              </a:rPr>
              <a:t>AgroVision-Mine: Multimodal Data Warehouse &amp; Visual Pattern Mining Framework</a:t>
            </a:r>
          </a:p>
        </p:txBody>
      </p:sp>
      <p:sp>
        <p:nvSpPr>
          <p:cNvPr id="6" name="TextBox 5"/>
          <p:cNvSpPr txBox="1"/>
          <p:nvPr/>
        </p:nvSpPr>
        <p:spPr>
          <a:xfrm>
            <a:off x="9601200" y="6446520"/>
            <a:ext cx="1858975" cy="146194"/>
          </a:xfrm>
          <a:prstGeom prst="rect">
            <a:avLst/>
          </a:prstGeom>
          <a:noFill/>
        </p:spPr>
        <p:txBody>
          <a:bodyPr wrap="square" lIns="0" tIns="0" rIns="0" bIns="0">
            <a:spAutoFit/>
          </a:bodyPr>
          <a:lstStyle/>
          <a:p>
            <a:pPr algn="r">
              <a:defRPr sz="950" b="1">
                <a:solidFill>
                  <a:srgbClr val="2D6A4F"/>
                </a:solidFill>
                <a:latin typeface="Bookman Old Style"/>
              </a:defRPr>
            </a:pPr>
            <a:r>
              <a:rPr>
                <a:latin typeface="Bookman Old Style" panose="02050604050505020204" pitchFamily="18" charset="0"/>
              </a:rPr>
              <a:t>15 / 24</a:t>
            </a:r>
          </a:p>
        </p:txBody>
      </p:sp>
      <p:sp>
        <p:nvSpPr>
          <p:cNvPr id="7" name="Rounded Rectangle 6"/>
          <p:cNvSpPr/>
          <p:nvPr/>
        </p:nvSpPr>
        <p:spPr>
          <a:xfrm>
            <a:off x="731520" y="123444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9" name="Rounded Rectangle 8"/>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ookman Old Style" panose="02050604050505020204" pitchFamily="18" charset="0"/>
            </a:endParaRPr>
          </a:p>
        </p:txBody>
      </p:sp>
      <p:sp>
        <p:nvSpPr>
          <p:cNvPr id="10" name="TextBox 9"/>
          <p:cNvSpPr txBox="1"/>
          <p:nvPr/>
        </p:nvSpPr>
        <p:spPr>
          <a:xfrm>
            <a:off x="6675120" y="1508760"/>
            <a:ext cx="4602175" cy="584775"/>
          </a:xfrm>
          <a:prstGeom prst="rect">
            <a:avLst/>
          </a:prstGeom>
          <a:noFill/>
        </p:spPr>
        <p:txBody>
          <a:bodyPr wrap="square">
            <a:spAutoFit/>
          </a:bodyPr>
          <a:lstStyle/>
          <a:p>
            <a:r>
              <a:rPr sz="1600" dirty="0">
                <a:latin typeface="Bookman Old Style" panose="02050604050505020204" pitchFamily="18" charset="0"/>
              </a:rPr>
              <a:t>ACTUAL QUERY OUTPUTS &amp; DRILL-DOWN BREAKDOWN (2,596 OBSERVATIONS)</a:t>
            </a:r>
          </a:p>
        </p:txBody>
      </p:sp>
      <p:graphicFrame>
        <p:nvGraphicFramePr>
          <p:cNvPr id="11" name="Table 10"/>
          <p:cNvGraphicFramePr>
            <a:graphicFrameLocks noGrp="1"/>
          </p:cNvGraphicFramePr>
          <p:nvPr>
            <p:extLst>
              <p:ext uri="{D42A27DB-BD31-4B8C-83A1-F6EECF244321}">
                <p14:modId xmlns:p14="http://schemas.microsoft.com/office/powerpoint/2010/main" val="907914281"/>
              </p:ext>
            </p:extLst>
          </p:nvPr>
        </p:nvGraphicFramePr>
        <p:xfrm>
          <a:off x="6614160" y="2142608"/>
          <a:ext cx="4754880" cy="2679192"/>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04800">
                <a:tc>
                  <a:txBody>
                    <a:bodyPr/>
                    <a:lstStyle/>
                    <a:p>
                      <a:pPr>
                        <a:defRPr sz="900" b="1"/>
                      </a:pPr>
                      <a:r>
                        <a:rPr sz="1050">
                          <a:latin typeface="Bookman Old Style" panose="02050604050505020204" pitchFamily="18" charset="0"/>
                        </a:rPr>
                        <a:t>Crop Category / Sub-Cube</a:t>
                      </a:r>
                    </a:p>
                  </a:txBody>
                  <a:tcPr marL="54864" marR="54864" marT="36576" marB="36576" anchor="ctr">
                    <a:solidFill>
                      <a:srgbClr val="1B4332"/>
                    </a:solidFill>
                  </a:tcPr>
                </a:tc>
                <a:tc>
                  <a:txBody>
                    <a:bodyPr/>
                    <a:lstStyle/>
                    <a:p>
                      <a:pPr>
                        <a:defRPr sz="900" b="1"/>
                      </a:pPr>
                      <a:r>
                        <a:rPr sz="1050">
                          <a:latin typeface="Bookman Old Style" panose="02050604050505020204" pitchFamily="18" charset="0"/>
                        </a:rPr>
                        <a:t>Taxonomic Scope</a:t>
                      </a:r>
                    </a:p>
                  </a:txBody>
                  <a:tcPr marL="54864" marR="54864" marT="36576" marB="36576" anchor="ctr">
                    <a:solidFill>
                      <a:srgbClr val="1B4332"/>
                    </a:solidFill>
                  </a:tcPr>
                </a:tc>
                <a:tc>
                  <a:txBody>
                    <a:bodyPr/>
                    <a:lstStyle/>
                    <a:p>
                      <a:pPr>
                        <a:defRPr sz="900" b="1"/>
                      </a:pPr>
                      <a:r>
                        <a:rPr sz="1050" dirty="0" err="1">
                          <a:latin typeface="Bookman Old Style" panose="02050604050505020204" pitchFamily="18" charset="0"/>
                        </a:rPr>
                        <a:t>Obs</a:t>
                      </a:r>
                      <a:r>
                        <a:rPr sz="1050" dirty="0">
                          <a:latin typeface="Bookman Old Style" panose="02050604050505020204" pitchFamily="18" charset="0"/>
                        </a:rPr>
                        <a:t> Count</a:t>
                      </a:r>
                    </a:p>
                  </a:txBody>
                  <a:tcPr marL="54864" marR="54864" marT="36576" marB="36576" anchor="ctr">
                    <a:solidFill>
                      <a:srgbClr val="1B4332"/>
                    </a:solidFill>
                  </a:tcPr>
                </a:tc>
                <a:tc>
                  <a:txBody>
                    <a:bodyPr/>
                    <a:lstStyle/>
                    <a:p>
                      <a:pPr>
                        <a:defRPr sz="900" b="1"/>
                      </a:pPr>
                      <a:r>
                        <a:rPr sz="1050">
                          <a:latin typeface="Bookman Old Style" panose="02050604050505020204" pitchFamily="18" charset="0"/>
                        </a:rPr>
                        <a:t>Avg Sev</a:t>
                      </a:r>
                    </a:p>
                  </a:txBody>
                  <a:tcPr marL="54864" marR="54864" marT="36576" marB="36576" anchor="ctr">
                    <a:solidFill>
                      <a:srgbClr val="1B4332"/>
                    </a:solidFill>
                  </a:tcPr>
                </a:tc>
                <a:extLst>
                  <a:ext uri="{0D108BD9-81ED-4DB2-BD59-A6C34878D82A}">
                    <a16:rowId xmlns:a16="http://schemas.microsoft.com/office/drawing/2014/main" val="10000"/>
                  </a:ext>
                </a:extLst>
              </a:tr>
              <a:tr h="304800">
                <a:tc>
                  <a:txBody>
                    <a:bodyPr/>
                    <a:lstStyle/>
                    <a:p>
                      <a:pPr>
                        <a:defRPr sz="850"/>
                      </a:pPr>
                      <a:r>
                        <a:rPr sz="1050">
                          <a:latin typeface="Bookman Old Style" panose="02050604050505020204" pitchFamily="18" charset="0"/>
                        </a:rPr>
                        <a:t>Horticultural Crops</a:t>
                      </a:r>
                    </a:p>
                  </a:txBody>
                  <a:tcPr marL="54864" marR="54864" marT="36576" marB="36576" anchor="ctr">
                    <a:solidFill>
                      <a:srgbClr val="FFFFFF"/>
                    </a:solidFill>
                  </a:tcPr>
                </a:tc>
                <a:tc>
                  <a:txBody>
                    <a:bodyPr/>
                    <a:lstStyle/>
                    <a:p>
                      <a:pPr>
                        <a:defRPr sz="850"/>
                      </a:pPr>
                      <a:r>
                        <a:rPr sz="1050">
                          <a:latin typeface="Bookman Old Style" panose="02050604050505020204" pitchFamily="18" charset="0"/>
                        </a:rPr>
                        <a:t>12 Crops (Tomato, Apple, etc.)</a:t>
                      </a:r>
                    </a:p>
                  </a:txBody>
                  <a:tcPr marL="54864" marR="54864" marT="36576" marB="36576" anchor="ctr">
                    <a:solidFill>
                      <a:srgbClr val="FFFFFF"/>
                    </a:solidFill>
                  </a:tcPr>
                </a:tc>
                <a:tc>
                  <a:txBody>
                    <a:bodyPr/>
                    <a:lstStyle/>
                    <a:p>
                      <a:pPr>
                        <a:defRPr sz="850"/>
                      </a:pPr>
                      <a:r>
                        <a:rPr sz="1050">
                          <a:latin typeface="Bookman Old Style" panose="02050604050505020204" pitchFamily="18" charset="0"/>
                        </a:rPr>
                        <a:t>2,123</a:t>
                      </a:r>
                    </a:p>
                  </a:txBody>
                  <a:tcPr marL="54864" marR="54864" marT="36576" marB="36576" anchor="ctr">
                    <a:solidFill>
                      <a:srgbClr val="FFFFFF"/>
                    </a:solidFill>
                  </a:tcPr>
                </a:tc>
                <a:tc>
                  <a:txBody>
                    <a:bodyPr/>
                    <a:lstStyle/>
                    <a:p>
                      <a:pPr>
                        <a:defRPr sz="850"/>
                      </a:pPr>
                      <a:r>
                        <a:rPr sz="1050">
                          <a:latin typeface="Bookman Old Style" panose="02050604050505020204" pitchFamily="18" charset="0"/>
                        </a:rPr>
                        <a:t>0.35</a:t>
                      </a:r>
                    </a:p>
                  </a:txBody>
                  <a:tcPr marL="54864" marR="54864" marT="36576" marB="36576" anchor="ctr">
                    <a:solidFill>
                      <a:srgbClr val="FFFFFF"/>
                    </a:solidFill>
                  </a:tcPr>
                </a:tc>
                <a:extLst>
                  <a:ext uri="{0D108BD9-81ED-4DB2-BD59-A6C34878D82A}">
                    <a16:rowId xmlns:a16="http://schemas.microsoft.com/office/drawing/2014/main" val="10001"/>
                  </a:ext>
                </a:extLst>
              </a:tr>
              <a:tr h="304800">
                <a:tc>
                  <a:txBody>
                    <a:bodyPr/>
                    <a:lstStyle/>
                    <a:p>
                      <a:pPr>
                        <a:defRPr sz="850"/>
                      </a:pPr>
                      <a:r>
                        <a:rPr sz="1050">
                          <a:latin typeface="Bookman Old Style" panose="02050604050505020204" pitchFamily="18" charset="0"/>
                        </a:rPr>
                        <a:t>Cereal Crops (Corn + Rice)</a:t>
                      </a:r>
                    </a:p>
                  </a:txBody>
                  <a:tcPr marL="54864" marR="54864" marT="36576" marB="36576" anchor="ctr">
                    <a:solidFill>
                      <a:srgbClr val="F8F9FA"/>
                    </a:solidFill>
                  </a:tcPr>
                </a:tc>
                <a:tc>
                  <a:txBody>
                    <a:bodyPr/>
                    <a:lstStyle/>
                    <a:p>
                      <a:pPr>
                        <a:defRPr sz="850"/>
                      </a:pPr>
                      <a:r>
                        <a:rPr sz="1050">
                          <a:latin typeface="Bookman Old Style" panose="02050604050505020204" pitchFamily="18" charset="0"/>
                        </a:rPr>
                        <a:t>Corn (372) + Rice (36)</a:t>
                      </a:r>
                    </a:p>
                  </a:txBody>
                  <a:tcPr marL="54864" marR="54864" marT="36576" marB="36576" anchor="ctr">
                    <a:solidFill>
                      <a:srgbClr val="F8F9FA"/>
                    </a:solidFill>
                  </a:tcPr>
                </a:tc>
                <a:tc>
                  <a:txBody>
                    <a:bodyPr/>
                    <a:lstStyle/>
                    <a:p>
                      <a:pPr>
                        <a:defRPr sz="850"/>
                      </a:pPr>
                      <a:r>
                        <a:rPr sz="1050">
                          <a:latin typeface="Bookman Old Style" panose="02050604050505020204" pitchFamily="18" charset="0"/>
                        </a:rPr>
                        <a:t>408</a:t>
                      </a:r>
                    </a:p>
                  </a:txBody>
                  <a:tcPr marL="54864" marR="54864" marT="36576" marB="36576" anchor="ctr">
                    <a:solidFill>
                      <a:srgbClr val="F8F9FA"/>
                    </a:solidFill>
                  </a:tcPr>
                </a:tc>
                <a:tc>
                  <a:txBody>
                    <a:bodyPr/>
                    <a:lstStyle/>
                    <a:p>
                      <a:pPr>
                        <a:defRPr sz="850"/>
                      </a:pPr>
                      <a:r>
                        <a:rPr sz="1050">
                          <a:latin typeface="Bookman Old Style" panose="02050604050505020204" pitchFamily="18" charset="0"/>
                        </a:rPr>
                        <a:t>0.38</a:t>
                      </a:r>
                    </a:p>
                  </a:txBody>
                  <a:tcPr marL="54864" marR="54864" marT="36576" marB="36576" anchor="ctr">
                    <a:solidFill>
                      <a:srgbClr val="F8F9FA"/>
                    </a:solidFill>
                  </a:tcPr>
                </a:tc>
                <a:extLst>
                  <a:ext uri="{0D108BD9-81ED-4DB2-BD59-A6C34878D82A}">
                    <a16:rowId xmlns:a16="http://schemas.microsoft.com/office/drawing/2014/main" val="10002"/>
                  </a:ext>
                </a:extLst>
              </a:tr>
              <a:tr h="304800">
                <a:tc>
                  <a:txBody>
                    <a:bodyPr/>
                    <a:lstStyle/>
                    <a:p>
                      <a:pPr>
                        <a:defRPr sz="850"/>
                      </a:pPr>
                      <a:r>
                        <a:rPr sz="1050" dirty="0">
                          <a:latin typeface="Bookman Old Style" panose="02050604050505020204" pitchFamily="18" charset="0"/>
                        </a:rPr>
                        <a:t>Legume Crops</a:t>
                      </a:r>
                    </a:p>
                  </a:txBody>
                  <a:tcPr marL="54864" marR="54864" marT="36576" marB="36576" anchor="ctr">
                    <a:solidFill>
                      <a:srgbClr val="FFFFFF"/>
                    </a:solidFill>
                  </a:tcPr>
                </a:tc>
                <a:tc>
                  <a:txBody>
                    <a:bodyPr/>
                    <a:lstStyle/>
                    <a:p>
                      <a:pPr>
                        <a:defRPr sz="850"/>
                      </a:pPr>
                      <a:r>
                        <a:rPr sz="1050" dirty="0">
                          <a:latin typeface="Bookman Old Style" panose="02050604050505020204" pitchFamily="18" charset="0"/>
                        </a:rPr>
                        <a:t>Soybean (Healthy baseline)</a:t>
                      </a:r>
                    </a:p>
                  </a:txBody>
                  <a:tcPr marL="54864" marR="54864" marT="36576" marB="36576" anchor="ctr">
                    <a:solidFill>
                      <a:srgbClr val="FFFFFF"/>
                    </a:solidFill>
                  </a:tcPr>
                </a:tc>
                <a:tc>
                  <a:txBody>
                    <a:bodyPr/>
                    <a:lstStyle/>
                    <a:p>
                      <a:pPr>
                        <a:defRPr sz="850"/>
                      </a:pPr>
                      <a:r>
                        <a:rPr sz="1050">
                          <a:latin typeface="Bookman Old Style" panose="02050604050505020204" pitchFamily="18" charset="0"/>
                        </a:rPr>
                        <a:t>65</a:t>
                      </a:r>
                    </a:p>
                  </a:txBody>
                  <a:tcPr marL="54864" marR="54864" marT="36576" marB="36576" anchor="ctr">
                    <a:solidFill>
                      <a:srgbClr val="FFFFFF"/>
                    </a:solidFill>
                  </a:tcPr>
                </a:tc>
                <a:tc>
                  <a:txBody>
                    <a:bodyPr/>
                    <a:lstStyle/>
                    <a:p>
                      <a:pPr>
                        <a:defRPr sz="850"/>
                      </a:pPr>
                      <a:r>
                        <a:rPr sz="1050">
                          <a:latin typeface="Bookman Old Style" panose="02050604050505020204" pitchFamily="18" charset="0"/>
                        </a:rPr>
                        <a:t>0.00</a:t>
                      </a:r>
                    </a:p>
                  </a:txBody>
                  <a:tcPr marL="54864" marR="54864" marT="36576" marB="36576" anchor="ctr">
                    <a:solidFill>
                      <a:srgbClr val="FFFFFF"/>
                    </a:solidFill>
                  </a:tcPr>
                </a:tc>
                <a:extLst>
                  <a:ext uri="{0D108BD9-81ED-4DB2-BD59-A6C34878D82A}">
                    <a16:rowId xmlns:a16="http://schemas.microsoft.com/office/drawing/2014/main" val="10003"/>
                  </a:ext>
                </a:extLst>
              </a:tr>
              <a:tr h="304800">
                <a:tc>
                  <a:txBody>
                    <a:bodyPr/>
                    <a:lstStyle/>
                    <a:p>
                      <a:pPr>
                        <a:defRPr sz="850"/>
                      </a:pPr>
                      <a:r>
                        <a:rPr sz="1050">
                          <a:latin typeface="Bookman Old Style" panose="02050604050505020204" pitchFamily="18" charset="0"/>
                        </a:rPr>
                        <a:t>Authenticated Rice Subset</a:t>
                      </a:r>
                    </a:p>
                  </a:txBody>
                  <a:tcPr marL="54864" marR="54864" marT="36576" marB="36576" anchor="ctr">
                    <a:solidFill>
                      <a:srgbClr val="F8F9FA"/>
                    </a:solidFill>
                  </a:tcPr>
                </a:tc>
                <a:tc>
                  <a:txBody>
                    <a:bodyPr/>
                    <a:lstStyle/>
                    <a:p>
                      <a:pPr>
                        <a:defRPr sz="850"/>
                      </a:pPr>
                      <a:r>
                        <a:rPr sz="1050">
                          <a:latin typeface="Bookman Old Style" panose="02050604050505020204" pitchFamily="18" charset="0"/>
                        </a:rPr>
                        <a:t>ICAR Pathology Benchmark</a:t>
                      </a:r>
                    </a:p>
                  </a:txBody>
                  <a:tcPr marL="54864" marR="54864" marT="36576" marB="36576" anchor="ctr">
                    <a:solidFill>
                      <a:srgbClr val="F8F9FA"/>
                    </a:solidFill>
                  </a:tcPr>
                </a:tc>
                <a:tc>
                  <a:txBody>
                    <a:bodyPr/>
                    <a:lstStyle/>
                    <a:p>
                      <a:pPr>
                        <a:defRPr sz="850"/>
                      </a:pPr>
                      <a:r>
                        <a:rPr sz="1050">
                          <a:latin typeface="Bookman Old Style" panose="02050604050505020204" pitchFamily="18" charset="0"/>
                        </a:rPr>
                        <a:t>36</a:t>
                      </a:r>
                    </a:p>
                  </a:txBody>
                  <a:tcPr marL="54864" marR="54864" marT="36576" marB="36576" anchor="ctr">
                    <a:solidFill>
                      <a:srgbClr val="F8F9FA"/>
                    </a:solidFill>
                  </a:tcPr>
                </a:tc>
                <a:tc>
                  <a:txBody>
                    <a:bodyPr/>
                    <a:lstStyle/>
                    <a:p>
                      <a:pPr>
                        <a:defRPr sz="850"/>
                      </a:pPr>
                      <a:r>
                        <a:rPr sz="1050">
                          <a:latin typeface="Bookman Old Style" panose="02050604050505020204" pitchFamily="18" charset="0"/>
                        </a:rPr>
                        <a:t>0.34</a:t>
                      </a:r>
                    </a:p>
                  </a:txBody>
                  <a:tcPr marL="54864" marR="54864" marT="36576" marB="36576" anchor="ctr">
                    <a:solidFill>
                      <a:srgbClr val="F8F9FA"/>
                    </a:solidFill>
                  </a:tcPr>
                </a:tc>
                <a:extLst>
                  <a:ext uri="{0D108BD9-81ED-4DB2-BD59-A6C34878D82A}">
                    <a16:rowId xmlns:a16="http://schemas.microsoft.com/office/drawing/2014/main" val="10004"/>
                  </a:ext>
                </a:extLst>
              </a:tr>
              <a:tr h="304800">
                <a:tc>
                  <a:txBody>
                    <a:bodyPr/>
                    <a:lstStyle/>
                    <a:p>
                      <a:pPr>
                        <a:defRPr sz="850"/>
                      </a:pPr>
                      <a:r>
                        <a:rPr sz="1050">
                          <a:latin typeface="Bookman Old Style" panose="02050604050505020204" pitchFamily="18" charset="0"/>
                        </a:rPr>
                        <a:t>Total Unified Warehouse</a:t>
                      </a:r>
                    </a:p>
                  </a:txBody>
                  <a:tcPr marL="54864" marR="54864" marT="36576" marB="36576" anchor="ctr">
                    <a:solidFill>
                      <a:srgbClr val="FFFFFF"/>
                    </a:solidFill>
                  </a:tcPr>
                </a:tc>
                <a:tc>
                  <a:txBody>
                    <a:bodyPr/>
                    <a:lstStyle/>
                    <a:p>
                      <a:pPr>
                        <a:defRPr sz="850"/>
                      </a:pPr>
                      <a:r>
                        <a:rPr sz="1050">
                          <a:latin typeface="Bookman Old Style" panose="02050604050505020204" pitchFamily="18" charset="0"/>
                        </a:rPr>
                        <a:t>14 Crops / 19 Conditions</a:t>
                      </a:r>
                    </a:p>
                  </a:txBody>
                  <a:tcPr marL="54864" marR="54864" marT="36576" marB="36576" anchor="ctr">
                    <a:solidFill>
                      <a:srgbClr val="FFFFFF"/>
                    </a:solidFill>
                  </a:tcPr>
                </a:tc>
                <a:tc>
                  <a:txBody>
                    <a:bodyPr/>
                    <a:lstStyle/>
                    <a:p>
                      <a:pPr>
                        <a:defRPr sz="850"/>
                      </a:pPr>
                      <a:r>
                        <a:rPr sz="1050" dirty="0">
                          <a:latin typeface="Bookman Old Style" panose="02050604050505020204" pitchFamily="18" charset="0"/>
                        </a:rPr>
                        <a:t>2,596</a:t>
                      </a:r>
                    </a:p>
                  </a:txBody>
                  <a:tcPr marL="54864" marR="54864" marT="36576" marB="36576" anchor="ctr">
                    <a:solidFill>
                      <a:srgbClr val="FFFFFF"/>
                    </a:solidFill>
                  </a:tcPr>
                </a:tc>
                <a:tc>
                  <a:txBody>
                    <a:bodyPr/>
                    <a:lstStyle/>
                    <a:p>
                      <a:pPr>
                        <a:defRPr sz="850"/>
                      </a:pPr>
                      <a:r>
                        <a:rPr sz="1050" dirty="0">
                          <a:latin typeface="Bookman Old Style" panose="02050604050505020204" pitchFamily="18" charset="0"/>
                        </a:rPr>
                        <a:t>0.35</a:t>
                      </a:r>
                    </a:p>
                  </a:txBody>
                  <a:tcPr marL="54864" marR="54864"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2" name="Rounded Rectangle 11"/>
          <p:cNvSpPr/>
          <p:nvPr/>
        </p:nvSpPr>
        <p:spPr>
          <a:xfrm>
            <a:off x="6614160" y="4870873"/>
            <a:ext cx="4754880" cy="902344"/>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Bookman Old Style" panose="02050604050505020204" pitchFamily="18" charset="0"/>
            </a:endParaRPr>
          </a:p>
        </p:txBody>
      </p:sp>
      <p:sp>
        <p:nvSpPr>
          <p:cNvPr id="13" name="TextBox 12"/>
          <p:cNvSpPr txBox="1"/>
          <p:nvPr/>
        </p:nvSpPr>
        <p:spPr>
          <a:xfrm>
            <a:off x="6690207" y="4978646"/>
            <a:ext cx="4572000" cy="484748"/>
          </a:xfrm>
          <a:prstGeom prst="rect">
            <a:avLst/>
          </a:prstGeom>
          <a:noFill/>
        </p:spPr>
        <p:txBody>
          <a:bodyPr wrap="square">
            <a:spAutoFit/>
          </a:bodyPr>
          <a:lstStyle/>
          <a:p>
            <a:pPr>
              <a:defRPr sz="850"/>
            </a:pPr>
            <a:r>
              <a:rPr dirty="0">
                <a:latin typeface="Bookman Old Style" panose="02050604050505020204" pitchFamily="18" charset="0"/>
              </a:rPr>
              <a:t>*Agronomic Note on Unified Warehouse: All 36 ICAR rice observations (12 Bacterial Leaf Blight, 12 Brown Spot, 12 Leaf Smut) are fully preserved and integrated into the cereal cube (408 observations) within the unified 2,596-record warehouse.</a:t>
            </a:r>
          </a:p>
        </p:txBody>
      </p:sp>
      <p:pic>
        <p:nvPicPr>
          <p:cNvPr id="14" name="Picture 13" descr="olap_roll_down_unified.png"/>
          <p:cNvPicPr>
            <a:picLocks noChangeAspect="1"/>
          </p:cNvPicPr>
          <p:nvPr/>
        </p:nvPicPr>
        <p:blipFill>
          <a:blip r:embed="rId2"/>
          <a:stretch>
            <a:fillRect/>
          </a:stretch>
        </p:blipFill>
        <p:spPr>
          <a:xfrm>
            <a:off x="822960" y="1850000"/>
            <a:ext cx="5303520" cy="240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Visual Pattern Mining: Dual-K Clustering Evaluation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16 / 24</a:t>
            </a:r>
          </a:p>
        </p:txBody>
      </p:sp>
      <p:sp>
        <p:nvSpPr>
          <p:cNvPr id="7" name="Rounded Rectangle 6"/>
          <p:cNvSpPr/>
          <p:nvPr/>
        </p:nvSpPr>
        <p:spPr>
          <a:xfrm>
            <a:off x="731520" y="1371600"/>
            <a:ext cx="54864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5120640" cy="4389120"/>
          </a:xfrm>
          <a:prstGeom prst="rect">
            <a:avLst/>
          </a:prstGeom>
          <a:noFill/>
        </p:spPr>
        <p:txBody>
          <a:bodyPr wrap="square">
            <a:spAutoFit/>
          </a:bodyPr>
          <a:lstStyle/>
          <a:p>
            <a:pPr>
              <a:spcAft>
                <a:spcPts val="600"/>
              </a:spcAft>
              <a:defRPr sz="1200" b="1">
                <a:solidFill>
                  <a:srgbClr val="1B4332"/>
                </a:solidFill>
                <a:latin typeface="Bookman Old Style"/>
              </a:defRPr>
            </a:pPr>
            <a:r>
              <a:t>MULTI-K EVALUATION ON 32 STANDARDIZED FEATURES</a:t>
            </a:r>
          </a:p>
        </p:txBody>
      </p:sp>
      <p:graphicFrame>
        <p:nvGraphicFramePr>
          <p:cNvPr id="9" name="Table 8"/>
          <p:cNvGraphicFramePr>
            <a:graphicFrameLocks noGrp="1"/>
          </p:cNvGraphicFramePr>
          <p:nvPr/>
        </p:nvGraphicFramePr>
        <p:xfrm>
          <a:off x="822960" y="1920240"/>
          <a:ext cx="5303520" cy="24079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96240">
                <a:tc>
                  <a:txBody>
                    <a:bodyPr/>
                    <a:lstStyle/>
                    <a:p>
                      <a:pPr algn="ctr">
                        <a:defRPr sz="1100" b="1">
                          <a:solidFill>
                            <a:srgbClr val="FFFFFF"/>
                          </a:solidFill>
                          <a:latin typeface="Bookman Old Style"/>
                        </a:defRPr>
                      </a:pPr>
                      <a:r>
                        <a:t>K Value</a:t>
                      </a:r>
                    </a:p>
                  </a:txBody>
                  <a:tcPr anchor="ctr">
                    <a:solidFill>
                      <a:srgbClr val="1B4332"/>
                    </a:solidFill>
                  </a:tcPr>
                </a:tc>
                <a:tc>
                  <a:txBody>
                    <a:bodyPr/>
                    <a:lstStyle/>
                    <a:p>
                      <a:pPr algn="ctr">
                        <a:defRPr sz="1100" b="1">
                          <a:solidFill>
                            <a:srgbClr val="FFFFFF"/>
                          </a:solidFill>
                          <a:latin typeface="Bookman Old Style"/>
                        </a:defRPr>
                      </a:pPr>
                      <a:r>
                        <a:t>Silhouette (↑)</a:t>
                      </a:r>
                    </a:p>
                  </a:txBody>
                  <a:tcPr anchor="ctr">
                    <a:solidFill>
                      <a:srgbClr val="1B4332"/>
                    </a:solidFill>
                  </a:tcPr>
                </a:tc>
                <a:tc>
                  <a:txBody>
                    <a:bodyPr/>
                    <a:lstStyle/>
                    <a:p>
                      <a:pPr algn="ctr">
                        <a:defRPr sz="1100" b="1">
                          <a:solidFill>
                            <a:srgbClr val="FFFFFF"/>
                          </a:solidFill>
                          <a:latin typeface="Bookman Old Style"/>
                        </a:defRPr>
                      </a:pPr>
                      <a:r>
                        <a:t>Davies-Bouldin (↓)</a:t>
                      </a:r>
                    </a:p>
                  </a:txBody>
                  <a:tcPr anchor="ctr">
                    <a:solidFill>
                      <a:srgbClr val="1B4332"/>
                    </a:solidFill>
                  </a:tcPr>
                </a:tc>
                <a:tc>
                  <a:txBody>
                    <a:bodyPr/>
                    <a:lstStyle/>
                    <a:p>
                      <a:pPr algn="ctr">
                        <a:defRPr sz="1100" b="1">
                          <a:solidFill>
                            <a:srgbClr val="FFFFFF"/>
                          </a:solidFill>
                          <a:latin typeface="Bookman Old Style"/>
                        </a:defRPr>
                      </a:pPr>
                      <a:r>
                        <a:t>Calinski-Harabasz (↑)</a:t>
                      </a:r>
                    </a:p>
                  </a:txBody>
                  <a:tcPr anchor="ctr">
                    <a:solidFill>
                      <a:srgbClr val="1B4332"/>
                    </a:solidFill>
                  </a:tcPr>
                </a:tc>
                <a:extLst>
                  <a:ext uri="{0D108BD9-81ED-4DB2-BD59-A6C34878D82A}">
                    <a16:rowId xmlns:a16="http://schemas.microsoft.com/office/drawing/2014/main" val="10000"/>
                  </a:ext>
                </a:extLst>
              </a:tr>
              <a:tr h="396240">
                <a:tc>
                  <a:txBody>
                    <a:bodyPr/>
                    <a:lstStyle/>
                    <a:p>
                      <a:pPr algn="ctr">
                        <a:defRPr sz="950">
                          <a:solidFill>
                            <a:srgbClr val="1A1A1A"/>
                          </a:solidFill>
                          <a:latin typeface="Bookman Old Style"/>
                        </a:defRPr>
                      </a:pPr>
                      <a:r>
                        <a:t>K = 2 (Best)</a:t>
                      </a:r>
                    </a:p>
                  </a:txBody>
                  <a:tcPr anchor="ctr">
                    <a:solidFill>
                      <a:srgbClr val="FFFFFF"/>
                    </a:solidFill>
                  </a:tcPr>
                </a:tc>
                <a:tc>
                  <a:txBody>
                    <a:bodyPr/>
                    <a:lstStyle/>
                    <a:p>
                      <a:pPr algn="ctr">
                        <a:defRPr sz="950">
                          <a:solidFill>
                            <a:srgbClr val="1A1A1A"/>
                          </a:solidFill>
                          <a:latin typeface="Bookman Old Style"/>
                        </a:defRPr>
                      </a:pPr>
                      <a:r>
                        <a:t>0.4060</a:t>
                      </a:r>
                    </a:p>
                  </a:txBody>
                  <a:tcPr anchor="ctr">
                    <a:solidFill>
                      <a:srgbClr val="FFFFFF"/>
                    </a:solidFill>
                  </a:tcPr>
                </a:tc>
                <a:tc>
                  <a:txBody>
                    <a:bodyPr/>
                    <a:lstStyle/>
                    <a:p>
                      <a:pPr algn="ctr">
                        <a:defRPr sz="950">
                          <a:solidFill>
                            <a:srgbClr val="1A1A1A"/>
                          </a:solidFill>
                          <a:latin typeface="Bookman Old Style"/>
                        </a:defRPr>
                      </a:pPr>
                      <a:r>
                        <a:t>1.0990</a:t>
                      </a:r>
                    </a:p>
                  </a:txBody>
                  <a:tcPr anchor="ctr">
                    <a:solidFill>
                      <a:srgbClr val="FFFFFF"/>
                    </a:solidFill>
                  </a:tcPr>
                </a:tc>
                <a:tc>
                  <a:txBody>
                    <a:bodyPr/>
                    <a:lstStyle/>
                    <a:p>
                      <a:pPr algn="ctr">
                        <a:defRPr sz="950">
                          <a:solidFill>
                            <a:srgbClr val="1A1A1A"/>
                          </a:solidFill>
                          <a:latin typeface="Bookman Old Style"/>
                        </a:defRPr>
                      </a:pPr>
                      <a:r>
                        <a:t>1,154.38</a:t>
                      </a:r>
                    </a:p>
                  </a:txBody>
                  <a:tcPr anchor="ctr">
                    <a:solidFill>
                      <a:srgbClr val="FFFFFF"/>
                    </a:solidFill>
                  </a:tcPr>
                </a:tc>
                <a:extLst>
                  <a:ext uri="{0D108BD9-81ED-4DB2-BD59-A6C34878D82A}">
                    <a16:rowId xmlns:a16="http://schemas.microsoft.com/office/drawing/2014/main" val="10001"/>
                  </a:ext>
                </a:extLst>
              </a:tr>
              <a:tr h="396240">
                <a:tc>
                  <a:txBody>
                    <a:bodyPr/>
                    <a:lstStyle/>
                    <a:p>
                      <a:pPr algn="ctr">
                        <a:defRPr sz="950">
                          <a:solidFill>
                            <a:srgbClr val="1A1A1A"/>
                          </a:solidFill>
                          <a:latin typeface="Bookman Old Style"/>
                        </a:defRPr>
                      </a:pPr>
                      <a:r>
                        <a:t>K = 3</a:t>
                      </a:r>
                    </a:p>
                  </a:txBody>
                  <a:tcPr anchor="ctr">
                    <a:solidFill>
                      <a:srgbClr val="F8F9FA"/>
                    </a:solidFill>
                  </a:tcPr>
                </a:tc>
                <a:tc>
                  <a:txBody>
                    <a:bodyPr/>
                    <a:lstStyle/>
                    <a:p>
                      <a:pPr algn="ctr">
                        <a:defRPr sz="950">
                          <a:solidFill>
                            <a:srgbClr val="1A1A1A"/>
                          </a:solidFill>
                          <a:latin typeface="Bookman Old Style"/>
                        </a:defRPr>
                      </a:pPr>
                      <a:r>
                        <a:t>0.1821</a:t>
                      </a:r>
                    </a:p>
                  </a:txBody>
                  <a:tcPr anchor="ctr">
                    <a:solidFill>
                      <a:srgbClr val="F8F9FA"/>
                    </a:solidFill>
                  </a:tcPr>
                </a:tc>
                <a:tc>
                  <a:txBody>
                    <a:bodyPr/>
                    <a:lstStyle/>
                    <a:p>
                      <a:pPr algn="ctr">
                        <a:defRPr sz="950">
                          <a:solidFill>
                            <a:srgbClr val="1A1A1A"/>
                          </a:solidFill>
                          <a:latin typeface="Bookman Old Style"/>
                        </a:defRPr>
                      </a:pPr>
                      <a:r>
                        <a:t>1.7629</a:t>
                      </a:r>
                    </a:p>
                  </a:txBody>
                  <a:tcPr anchor="ctr">
                    <a:solidFill>
                      <a:srgbClr val="F8F9FA"/>
                    </a:solidFill>
                  </a:tcPr>
                </a:tc>
                <a:tc>
                  <a:txBody>
                    <a:bodyPr/>
                    <a:lstStyle/>
                    <a:p>
                      <a:pPr algn="ctr">
                        <a:defRPr sz="950">
                          <a:solidFill>
                            <a:srgbClr val="1A1A1A"/>
                          </a:solidFill>
                          <a:latin typeface="Bookman Old Style"/>
                        </a:defRPr>
                      </a:pPr>
                      <a:r>
                        <a:t>820.65</a:t>
                      </a:r>
                    </a:p>
                  </a:txBody>
                  <a:tcPr anchor="ctr">
                    <a:solidFill>
                      <a:srgbClr val="F8F9FA"/>
                    </a:solidFill>
                  </a:tcPr>
                </a:tc>
                <a:extLst>
                  <a:ext uri="{0D108BD9-81ED-4DB2-BD59-A6C34878D82A}">
                    <a16:rowId xmlns:a16="http://schemas.microsoft.com/office/drawing/2014/main" val="10002"/>
                  </a:ext>
                </a:extLst>
              </a:tr>
              <a:tr h="396240">
                <a:tc>
                  <a:txBody>
                    <a:bodyPr/>
                    <a:lstStyle/>
                    <a:p>
                      <a:pPr algn="ctr">
                        <a:defRPr sz="950">
                          <a:solidFill>
                            <a:srgbClr val="1A1A1A"/>
                          </a:solidFill>
                          <a:latin typeface="Bookman Old Style"/>
                        </a:defRPr>
                      </a:pPr>
                      <a:r>
                        <a:t>K = 4 (Subpart)</a:t>
                      </a:r>
                    </a:p>
                  </a:txBody>
                  <a:tcPr anchor="ctr">
                    <a:solidFill>
                      <a:srgbClr val="FFFFFF"/>
                    </a:solidFill>
                  </a:tcPr>
                </a:tc>
                <a:tc>
                  <a:txBody>
                    <a:bodyPr/>
                    <a:lstStyle/>
                    <a:p>
                      <a:pPr algn="ctr">
                        <a:defRPr sz="950">
                          <a:solidFill>
                            <a:srgbClr val="1A1A1A"/>
                          </a:solidFill>
                          <a:latin typeface="Bookman Old Style"/>
                        </a:defRPr>
                      </a:pPr>
                      <a:r>
                        <a:t>0.1651</a:t>
                      </a:r>
                    </a:p>
                  </a:txBody>
                  <a:tcPr anchor="ctr">
                    <a:solidFill>
                      <a:srgbClr val="FFFFFF"/>
                    </a:solidFill>
                  </a:tcPr>
                </a:tc>
                <a:tc>
                  <a:txBody>
                    <a:bodyPr/>
                    <a:lstStyle/>
                    <a:p>
                      <a:pPr algn="ctr">
                        <a:defRPr sz="950">
                          <a:solidFill>
                            <a:srgbClr val="1A1A1A"/>
                          </a:solidFill>
                          <a:latin typeface="Bookman Old Style"/>
                        </a:defRPr>
                      </a:pPr>
                      <a:r>
                        <a:t>1.8339 / 1.6210*</a:t>
                      </a:r>
                    </a:p>
                  </a:txBody>
                  <a:tcPr anchor="ctr">
                    <a:solidFill>
                      <a:srgbClr val="FFFFFF"/>
                    </a:solidFill>
                  </a:tcPr>
                </a:tc>
                <a:tc>
                  <a:txBody>
                    <a:bodyPr/>
                    <a:lstStyle/>
                    <a:p>
                      <a:pPr algn="ctr">
                        <a:defRPr sz="950">
                          <a:solidFill>
                            <a:srgbClr val="1A1A1A"/>
                          </a:solidFill>
                          <a:latin typeface="Bookman Old Style"/>
                        </a:defRPr>
                      </a:pPr>
                      <a:r>
                        <a:t>674.33</a:t>
                      </a:r>
                    </a:p>
                  </a:txBody>
                  <a:tcPr anchor="ctr">
                    <a:solidFill>
                      <a:srgbClr val="FFFFFF"/>
                    </a:solidFill>
                  </a:tcPr>
                </a:tc>
                <a:extLst>
                  <a:ext uri="{0D108BD9-81ED-4DB2-BD59-A6C34878D82A}">
                    <a16:rowId xmlns:a16="http://schemas.microsoft.com/office/drawing/2014/main" val="10003"/>
                  </a:ext>
                </a:extLst>
              </a:tr>
              <a:tr h="396240">
                <a:tc>
                  <a:txBody>
                    <a:bodyPr/>
                    <a:lstStyle/>
                    <a:p>
                      <a:pPr algn="ctr">
                        <a:defRPr sz="950">
                          <a:solidFill>
                            <a:srgbClr val="1A1A1A"/>
                          </a:solidFill>
                          <a:latin typeface="Bookman Old Style"/>
                        </a:defRPr>
                      </a:pPr>
                      <a:r>
                        <a:t>K = 5</a:t>
                      </a:r>
                    </a:p>
                  </a:txBody>
                  <a:tcPr anchor="ctr">
                    <a:solidFill>
                      <a:srgbClr val="F8F9FA"/>
                    </a:solidFill>
                  </a:tcPr>
                </a:tc>
                <a:tc>
                  <a:txBody>
                    <a:bodyPr/>
                    <a:lstStyle/>
                    <a:p>
                      <a:pPr algn="ctr">
                        <a:defRPr sz="950">
                          <a:solidFill>
                            <a:srgbClr val="1A1A1A"/>
                          </a:solidFill>
                          <a:latin typeface="Bookman Old Style"/>
                        </a:defRPr>
                      </a:pPr>
                      <a:r>
                        <a:t>0.1623</a:t>
                      </a:r>
                    </a:p>
                  </a:txBody>
                  <a:tcPr anchor="ctr">
                    <a:solidFill>
                      <a:srgbClr val="F8F9FA"/>
                    </a:solidFill>
                  </a:tcPr>
                </a:tc>
                <a:tc>
                  <a:txBody>
                    <a:bodyPr/>
                    <a:lstStyle/>
                    <a:p>
                      <a:pPr algn="ctr">
                        <a:defRPr sz="950">
                          <a:solidFill>
                            <a:srgbClr val="1A1A1A"/>
                          </a:solidFill>
                          <a:latin typeface="Bookman Old Style"/>
                        </a:defRPr>
                      </a:pPr>
                      <a:r>
                        <a:t>1.7326</a:t>
                      </a:r>
                    </a:p>
                  </a:txBody>
                  <a:tcPr anchor="ctr">
                    <a:solidFill>
                      <a:srgbClr val="F8F9FA"/>
                    </a:solidFill>
                  </a:tcPr>
                </a:tc>
                <a:tc>
                  <a:txBody>
                    <a:bodyPr/>
                    <a:lstStyle/>
                    <a:p>
                      <a:pPr algn="ctr">
                        <a:defRPr sz="950">
                          <a:solidFill>
                            <a:srgbClr val="1A1A1A"/>
                          </a:solidFill>
                          <a:latin typeface="Bookman Old Style"/>
                        </a:defRPr>
                      </a:pPr>
                      <a:r>
                        <a:t>589.29</a:t>
                      </a:r>
                    </a:p>
                  </a:txBody>
                  <a:tcPr anchor="ctr">
                    <a:solidFill>
                      <a:srgbClr val="F8F9FA"/>
                    </a:solidFill>
                  </a:tcPr>
                </a:tc>
                <a:extLst>
                  <a:ext uri="{0D108BD9-81ED-4DB2-BD59-A6C34878D82A}">
                    <a16:rowId xmlns:a16="http://schemas.microsoft.com/office/drawing/2014/main" val="10004"/>
                  </a:ext>
                </a:extLst>
              </a:tr>
              <a:tr h="396240">
                <a:tc>
                  <a:txBody>
                    <a:bodyPr/>
                    <a:lstStyle/>
                    <a:p>
                      <a:pPr algn="ctr">
                        <a:defRPr sz="950">
                          <a:solidFill>
                            <a:srgbClr val="1A1A1A"/>
                          </a:solidFill>
                          <a:latin typeface="Bookman Old Style"/>
                        </a:defRPr>
                      </a:pPr>
                      <a:r>
                        <a:t>K = 6</a:t>
                      </a:r>
                    </a:p>
                  </a:txBody>
                  <a:tcPr anchor="ctr">
                    <a:solidFill>
                      <a:srgbClr val="FFFFFF"/>
                    </a:solidFill>
                  </a:tcPr>
                </a:tc>
                <a:tc>
                  <a:txBody>
                    <a:bodyPr/>
                    <a:lstStyle/>
                    <a:p>
                      <a:pPr algn="ctr">
                        <a:defRPr sz="950">
                          <a:solidFill>
                            <a:srgbClr val="1A1A1A"/>
                          </a:solidFill>
                          <a:latin typeface="Bookman Old Style"/>
                        </a:defRPr>
                      </a:pPr>
                      <a:r>
                        <a:t>0.1648</a:t>
                      </a:r>
                    </a:p>
                  </a:txBody>
                  <a:tcPr anchor="ctr">
                    <a:solidFill>
                      <a:srgbClr val="FFFFFF"/>
                    </a:solidFill>
                  </a:tcPr>
                </a:tc>
                <a:tc>
                  <a:txBody>
                    <a:bodyPr/>
                    <a:lstStyle/>
                    <a:p>
                      <a:pPr algn="ctr">
                        <a:defRPr sz="950">
                          <a:solidFill>
                            <a:srgbClr val="1A1A1A"/>
                          </a:solidFill>
                          <a:latin typeface="Bookman Old Style"/>
                        </a:defRPr>
                      </a:pPr>
                      <a:r>
                        <a:t>1.6312</a:t>
                      </a:r>
                    </a:p>
                  </a:txBody>
                  <a:tcPr anchor="ctr">
                    <a:solidFill>
                      <a:srgbClr val="FFFFFF"/>
                    </a:solidFill>
                  </a:tcPr>
                </a:tc>
                <a:tc>
                  <a:txBody>
                    <a:bodyPr/>
                    <a:lstStyle/>
                    <a:p>
                      <a:pPr algn="ctr">
                        <a:defRPr sz="950">
                          <a:solidFill>
                            <a:srgbClr val="1A1A1A"/>
                          </a:solidFill>
                          <a:latin typeface="Bookman Old Style"/>
                        </a:defRPr>
                      </a:pPr>
                      <a:r>
                        <a:t>529.40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822960" y="4389120"/>
            <a:ext cx="5303520" cy="1645920"/>
          </a:xfrm>
          <a:prstGeom prst="rect">
            <a:avLst/>
          </a:prstGeom>
          <a:noFill/>
        </p:spPr>
        <p:txBody>
          <a:bodyPr wrap="square">
            <a:spAutoFit/>
          </a:bodyPr>
          <a:lstStyle/>
          <a:p>
            <a:pPr>
              <a:spcAft>
                <a:spcPts val="300"/>
              </a:spcAft>
            </a:pPr>
            <a:r>
              <a:rPr sz="1000" b="1">
                <a:solidFill>
                  <a:srgbClr val="1B4332"/>
                </a:solidFill>
                <a:latin typeface="Bookman Old Style"/>
              </a:rPr>
              <a:t>• K=2 Supported Solution: </a:t>
            </a:r>
            <a:r>
              <a:rPr sz="1000">
                <a:solidFill>
                  <a:srgbClr val="1A1A1A"/>
                </a:solidFill>
                <a:latin typeface="Bookman Old Style"/>
              </a:rPr>
              <a:t>Cluster 0 (2,150 images, 82.8%) vs Cluster 1 (446 images, 17.2%). Distinguishes dark, dense foliage from high-luminance, pale backgrounds.</a:t>
            </a:r>
          </a:p>
          <a:p>
            <a:pPr>
              <a:spcAft>
                <a:spcPts val="300"/>
              </a:spcAft>
            </a:pPr>
            <a:r>
              <a:rPr sz="1000" b="1">
                <a:solidFill>
                  <a:srgbClr val="1B4332"/>
                </a:solidFill>
                <a:latin typeface="Bookman Old Style"/>
              </a:rPr>
              <a:t>• Reconciling K=4 DB Index: </a:t>
            </a:r>
            <a:r>
              <a:rPr sz="1000">
                <a:solidFill>
                  <a:srgbClr val="1A1A1A"/>
                </a:solidFill>
                <a:latin typeface="Bookman Old Style"/>
              </a:rPr>
              <a:t>*Authoritative multi-K evaluation calculates DB=1.8339 on the full 32-feature matrix; 1.6210 was recorded in an exploratory subpartition report.</a:t>
            </a:r>
          </a:p>
          <a:p>
            <a:pPr>
              <a:spcAft>
                <a:spcPts val="0"/>
              </a:spcAft>
            </a:pPr>
            <a:r>
              <a:rPr sz="1000" b="1">
                <a:solidFill>
                  <a:srgbClr val="1B4332"/>
                </a:solidFill>
                <a:latin typeface="Bookman Old Style"/>
              </a:rPr>
              <a:t>• Multi-Seed Stability: </a:t>
            </a:r>
            <a:r>
              <a:rPr sz="1000">
                <a:solidFill>
                  <a:srgbClr val="1A1A1A"/>
                </a:solidFill>
                <a:latin typeface="Bookman Old Style"/>
              </a:rPr>
              <a:t>Pairwise Adjusted Rand Index ARI = 1.0000 across seeds [0, 1, 42, 100, 999].</a:t>
            </a:r>
          </a:p>
        </p:txBody>
      </p:sp>
      <p:sp>
        <p:nvSpPr>
          <p:cNvPr id="11" name="Rounded Rectangle 10"/>
          <p:cNvSpPr/>
          <p:nvPr/>
        </p:nvSpPr>
        <p:spPr>
          <a:xfrm>
            <a:off x="6492240" y="1371600"/>
            <a:ext cx="49679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a:extLst>
              <a:ext uri="{FF2B5EF4-FFF2-40B4-BE49-F238E27FC236}">
                <a16:creationId xmlns:a16="http://schemas.microsoft.com/office/drawing/2014/main" id="{C2C5210A-861C-651F-D8F8-CF1FFA152A2C}"/>
              </a:ext>
            </a:extLst>
          </p:cNvPr>
          <p:cNvPicPr>
            <a:picLocks noChangeAspect="1"/>
          </p:cNvPicPr>
          <p:nvPr/>
        </p:nvPicPr>
        <p:blipFill>
          <a:blip r:embed="rId2"/>
          <a:stretch>
            <a:fillRect/>
          </a:stretch>
        </p:blipFill>
        <p:spPr>
          <a:xfrm>
            <a:off x="6492240" y="2432304"/>
            <a:ext cx="4941824" cy="27797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Dimensionality Reduction: 2D PCA Loadings Analysis</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17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800"/>
              </a:spcAft>
              <a:defRPr sz="1300" b="1">
                <a:solidFill>
                  <a:srgbClr val="1B4332"/>
                </a:solidFill>
                <a:latin typeface="Bookman Old Style"/>
              </a:defRPr>
            </a:pPr>
            <a:r>
              <a:t>2D PCA PROJECTION LOADINGS &amp; VARIANCE</a:t>
            </a:r>
          </a:p>
          <a:p>
            <a:pPr>
              <a:spcAft>
                <a:spcPts val="600"/>
              </a:spcAft>
            </a:pPr>
            <a:r>
              <a:rPr sz="1200" b="1">
                <a:solidFill>
                  <a:srgbClr val="1B4332"/>
                </a:solidFill>
                <a:latin typeface="Bookman Old Style"/>
              </a:rPr>
              <a:t>• Cumulative Explained Variance: </a:t>
            </a:r>
            <a:r>
              <a:rPr sz="1200">
                <a:solidFill>
                  <a:srgbClr val="1A1A1A"/>
                </a:solidFill>
                <a:latin typeface="Bookman Old Style"/>
              </a:rPr>
              <a:t>52.11% across 2 principal components (PC1 = 38.56%, PC2 = 13.55%). Sufficient to visualize global cluster geometry.</a:t>
            </a:r>
          </a:p>
          <a:p>
            <a:pPr>
              <a:spcAft>
                <a:spcPts val="600"/>
              </a:spcAft>
            </a:pPr>
            <a:r>
              <a:rPr sz="1200" b="1">
                <a:solidFill>
                  <a:srgbClr val="1B4332"/>
                </a:solidFill>
                <a:latin typeface="Bookman Old Style"/>
              </a:rPr>
              <a:t>• Physical Interpretation of PC1 (38.56%): </a:t>
            </a:r>
            <a:r>
              <a:rPr sz="1200">
                <a:solidFill>
                  <a:srgbClr val="1A1A1A"/>
                </a:solidFill>
                <a:latin typeface="Bookman Old Style"/>
              </a:rPr>
              <a:t>Strongly positive on foliar luminance (rgb_r_mean, rgb_g_mean, hsv_v_mean) and strongly negative on contour perimeter and greenness. Distinguishes pale chlorotic/scanner images from dense green leaves.</a:t>
            </a:r>
          </a:p>
          <a:p>
            <a:pPr>
              <a:spcAft>
                <a:spcPts val="600"/>
              </a:spcAft>
            </a:pPr>
            <a:r>
              <a:rPr sz="1200" b="1">
                <a:solidFill>
                  <a:srgbClr val="1B4332"/>
                </a:solidFill>
                <a:latin typeface="Bookman Old Style"/>
              </a:rPr>
              <a:t>• Physical Interpretation of PC2 (13.55%): </a:t>
            </a:r>
            <a:r>
              <a:rPr sz="1200">
                <a:solidFill>
                  <a:srgbClr val="1A1A1A"/>
                </a:solidFill>
                <a:latin typeface="Bookman Old Style"/>
              </a:rPr>
              <a:t>Strongly positive on GLCM contrast and dissimilarity, strongly negative on GLCM homogeneity and energy. Captures surface mottling, necrotic lesions, and texture roughness.</a:t>
            </a:r>
          </a:p>
          <a:p>
            <a:pPr>
              <a:spcAft>
                <a:spcPts val="600"/>
              </a:spcAft>
            </a:pPr>
            <a:r>
              <a:rPr sz="1200" b="1">
                <a:solidFill>
                  <a:srgbClr val="1B4332"/>
                </a:solidFill>
                <a:latin typeface="Bookman Old Style"/>
              </a:rPr>
              <a:t>• Epistemological Boundary: </a:t>
            </a:r>
            <a:r>
              <a:rPr sz="1200">
                <a:solidFill>
                  <a:srgbClr val="1A1A1A"/>
                </a:solidFill>
                <a:latin typeface="Bookman Old Style"/>
              </a:rPr>
              <a:t>PCA is an unsupervised orthogonal linear transformation. It illustrates macroscopic geometric separation but cannot establish biological pathology.</a:t>
            </a:r>
          </a:p>
        </p:txBody>
      </p:sp>
      <p:sp>
        <p:nvSpPr>
          <p:cNvPr id="9" name="Rounded Rectangle 8"/>
          <p:cNvSpPr/>
          <p:nvPr/>
        </p:nvSpPr>
        <p:spPr>
          <a:xfrm>
            <a:off x="6217920" y="1371600"/>
            <a:ext cx="524225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600"/>
              </a:spcAft>
              <a:defRPr sz="1200" b="1">
                <a:solidFill>
                  <a:srgbClr val="1B4332"/>
                </a:solidFill>
                <a:latin typeface="Bookman Old Style"/>
              </a:defRPr>
            </a:pPr>
            <a:r>
              <a:t>EMPIRICAL COMPONENT LOADINGS TABLE</a:t>
            </a:r>
          </a:p>
        </p:txBody>
      </p:sp>
      <p:graphicFrame>
        <p:nvGraphicFramePr>
          <p:cNvPr id="11" name="Table 10"/>
          <p:cNvGraphicFramePr>
            <a:graphicFrameLocks noGrp="1"/>
          </p:cNvGraphicFramePr>
          <p:nvPr/>
        </p:nvGraphicFramePr>
        <p:xfrm>
          <a:off x="6355080" y="1920240"/>
          <a:ext cx="4937760" cy="21031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525780">
                <a:tc>
                  <a:txBody>
                    <a:bodyPr/>
                    <a:lstStyle/>
                    <a:p>
                      <a:pPr algn="ctr">
                        <a:defRPr sz="1100" b="1">
                          <a:solidFill>
                            <a:srgbClr val="FFFFFF"/>
                          </a:solidFill>
                          <a:latin typeface="Bookman Old Style"/>
                        </a:defRPr>
                      </a:pPr>
                      <a:r>
                        <a:t>Component</a:t>
                      </a:r>
                    </a:p>
                  </a:txBody>
                  <a:tcPr anchor="ctr">
                    <a:solidFill>
                      <a:srgbClr val="1B4332"/>
                    </a:solidFill>
                  </a:tcPr>
                </a:tc>
                <a:tc>
                  <a:txBody>
                    <a:bodyPr/>
                    <a:lstStyle/>
                    <a:p>
                      <a:pPr algn="ctr">
                        <a:defRPr sz="1100" b="1">
                          <a:solidFill>
                            <a:srgbClr val="FFFFFF"/>
                          </a:solidFill>
                          <a:latin typeface="Bookman Old Style"/>
                        </a:defRPr>
                      </a:pPr>
                      <a:r>
                        <a:t>Variance</a:t>
                      </a:r>
                    </a:p>
                  </a:txBody>
                  <a:tcPr anchor="ctr">
                    <a:solidFill>
                      <a:srgbClr val="1B4332"/>
                    </a:solidFill>
                  </a:tcPr>
                </a:tc>
                <a:tc>
                  <a:txBody>
                    <a:bodyPr/>
                    <a:lstStyle/>
                    <a:p>
                      <a:pPr algn="ctr">
                        <a:defRPr sz="1100" b="1">
                          <a:solidFill>
                            <a:srgbClr val="FFFFFF"/>
                          </a:solidFill>
                          <a:latin typeface="Bookman Old Style"/>
                        </a:defRPr>
                      </a:pPr>
                      <a:r>
                        <a:t>Top Positive Loading</a:t>
                      </a:r>
                    </a:p>
                  </a:txBody>
                  <a:tcPr anchor="ctr">
                    <a:solidFill>
                      <a:srgbClr val="1B4332"/>
                    </a:solidFill>
                  </a:tcPr>
                </a:tc>
                <a:tc>
                  <a:txBody>
                    <a:bodyPr/>
                    <a:lstStyle/>
                    <a:p>
                      <a:pPr algn="ctr">
                        <a:defRPr sz="1100" b="1">
                          <a:solidFill>
                            <a:srgbClr val="FFFFFF"/>
                          </a:solidFill>
                          <a:latin typeface="Bookman Old Style"/>
                        </a:defRPr>
                      </a:pPr>
                      <a:r>
                        <a:t>Top Negative Loading</a:t>
                      </a:r>
                    </a:p>
                  </a:txBody>
                  <a:tcPr anchor="ctr">
                    <a:solidFill>
                      <a:srgbClr val="1B4332"/>
                    </a:solidFill>
                  </a:tcPr>
                </a:tc>
                <a:extLst>
                  <a:ext uri="{0D108BD9-81ED-4DB2-BD59-A6C34878D82A}">
                    <a16:rowId xmlns:a16="http://schemas.microsoft.com/office/drawing/2014/main" val="10000"/>
                  </a:ext>
                </a:extLst>
              </a:tr>
              <a:tr h="525780">
                <a:tc>
                  <a:txBody>
                    <a:bodyPr/>
                    <a:lstStyle/>
                    <a:p>
                      <a:pPr algn="ctr">
                        <a:defRPr sz="900">
                          <a:solidFill>
                            <a:srgbClr val="1A1A1A"/>
                          </a:solidFill>
                          <a:latin typeface="Bookman Old Style"/>
                        </a:defRPr>
                      </a:pPr>
                      <a:r>
                        <a:t>PC1</a:t>
                      </a:r>
                    </a:p>
                  </a:txBody>
                  <a:tcPr anchor="ctr">
                    <a:solidFill>
                      <a:srgbClr val="FFFFFF"/>
                    </a:solidFill>
                  </a:tcPr>
                </a:tc>
                <a:tc>
                  <a:txBody>
                    <a:bodyPr/>
                    <a:lstStyle/>
                    <a:p>
                      <a:pPr algn="ctr">
                        <a:defRPr sz="900">
                          <a:solidFill>
                            <a:srgbClr val="1A1A1A"/>
                          </a:solidFill>
                          <a:latin typeface="Bookman Old Style"/>
                        </a:defRPr>
                      </a:pPr>
                      <a:r>
                        <a:t>38.56%</a:t>
                      </a:r>
                    </a:p>
                  </a:txBody>
                  <a:tcPr anchor="ctr">
                    <a:solidFill>
                      <a:srgbClr val="FFFFFF"/>
                    </a:solidFill>
                  </a:tcPr>
                </a:tc>
                <a:tc>
                  <a:txBody>
                    <a:bodyPr/>
                    <a:lstStyle/>
                    <a:p>
                      <a:pPr algn="l">
                        <a:defRPr sz="900">
                          <a:solidFill>
                            <a:srgbClr val="1A1A1A"/>
                          </a:solidFill>
                          <a:latin typeface="Bookman Old Style"/>
                        </a:defRPr>
                      </a:pPr>
                      <a:r>
                        <a:t>rgb_r_mean (+0.252)</a:t>
                      </a:r>
                      <a:br/>
                      <a:r>
                        <a:t>glcm_asm (+0.248)</a:t>
                      </a:r>
                    </a:p>
                  </a:txBody>
                  <a:tcPr anchor="ctr">
                    <a:solidFill>
                      <a:srgbClr val="FFFFFF"/>
                    </a:solidFill>
                  </a:tcPr>
                </a:tc>
                <a:tc>
                  <a:txBody>
                    <a:bodyPr/>
                    <a:lstStyle/>
                    <a:p>
                      <a:pPr algn="l">
                        <a:defRPr sz="900">
                          <a:solidFill>
                            <a:srgbClr val="1A1A1A"/>
                          </a:solidFill>
                          <a:latin typeface="Bookman Old Style"/>
                        </a:defRPr>
                      </a:pPr>
                      <a:r>
                        <a:t>perimeter (-0.231)</a:t>
                      </a:r>
                      <a:br/>
                      <a:r>
                        <a:t>hsv_s_mean (-0.219)</a:t>
                      </a:r>
                    </a:p>
                  </a:txBody>
                  <a:tcPr anchor="ctr">
                    <a:solidFill>
                      <a:srgbClr val="FFFFFF"/>
                    </a:solidFill>
                  </a:tcPr>
                </a:tc>
                <a:extLst>
                  <a:ext uri="{0D108BD9-81ED-4DB2-BD59-A6C34878D82A}">
                    <a16:rowId xmlns:a16="http://schemas.microsoft.com/office/drawing/2014/main" val="10001"/>
                  </a:ext>
                </a:extLst>
              </a:tr>
              <a:tr h="525780">
                <a:tc>
                  <a:txBody>
                    <a:bodyPr/>
                    <a:lstStyle/>
                    <a:p>
                      <a:pPr algn="ctr">
                        <a:defRPr sz="900">
                          <a:solidFill>
                            <a:srgbClr val="1A1A1A"/>
                          </a:solidFill>
                          <a:latin typeface="Bookman Old Style"/>
                        </a:defRPr>
                      </a:pPr>
                      <a:r>
                        <a:t>PC2</a:t>
                      </a:r>
                    </a:p>
                  </a:txBody>
                  <a:tcPr anchor="ctr">
                    <a:solidFill>
                      <a:srgbClr val="F8F9FA"/>
                    </a:solidFill>
                  </a:tcPr>
                </a:tc>
                <a:tc>
                  <a:txBody>
                    <a:bodyPr/>
                    <a:lstStyle/>
                    <a:p>
                      <a:pPr algn="ctr">
                        <a:defRPr sz="900">
                          <a:solidFill>
                            <a:srgbClr val="1A1A1A"/>
                          </a:solidFill>
                          <a:latin typeface="Bookman Old Style"/>
                        </a:defRPr>
                      </a:pPr>
                      <a:r>
                        <a:t>13.55%</a:t>
                      </a:r>
                    </a:p>
                  </a:txBody>
                  <a:tcPr anchor="ctr">
                    <a:solidFill>
                      <a:srgbClr val="F8F9FA"/>
                    </a:solidFill>
                  </a:tcPr>
                </a:tc>
                <a:tc>
                  <a:txBody>
                    <a:bodyPr/>
                    <a:lstStyle/>
                    <a:p>
                      <a:pPr algn="l">
                        <a:defRPr sz="900">
                          <a:solidFill>
                            <a:srgbClr val="1A1A1A"/>
                          </a:solidFill>
                          <a:latin typeface="Bookman Old Style"/>
                        </a:defRPr>
                      </a:pPr>
                      <a:r>
                        <a:t>glcm_contrast (+0.384)</a:t>
                      </a:r>
                      <a:br/>
                      <a:r>
                        <a:t>dissimilarity (+0.379)</a:t>
                      </a:r>
                    </a:p>
                  </a:txBody>
                  <a:tcPr anchor="ctr">
                    <a:solidFill>
                      <a:srgbClr val="F8F9FA"/>
                    </a:solidFill>
                  </a:tcPr>
                </a:tc>
                <a:tc>
                  <a:txBody>
                    <a:bodyPr/>
                    <a:lstStyle/>
                    <a:p>
                      <a:pPr algn="l">
                        <a:defRPr sz="900">
                          <a:solidFill>
                            <a:srgbClr val="1A1A1A"/>
                          </a:solidFill>
                          <a:latin typeface="Bookman Old Style"/>
                        </a:defRPr>
                      </a:pPr>
                      <a:r>
                        <a:t>homogeneity (-0.362)</a:t>
                      </a:r>
                      <a:br/>
                      <a:r>
                        <a:t>glcm_energy (-0.315)</a:t>
                      </a:r>
                    </a:p>
                  </a:txBody>
                  <a:tcPr anchor="ctr">
                    <a:solidFill>
                      <a:srgbClr val="F8F9FA"/>
                    </a:solidFill>
                  </a:tcPr>
                </a:tc>
                <a:extLst>
                  <a:ext uri="{0D108BD9-81ED-4DB2-BD59-A6C34878D82A}">
                    <a16:rowId xmlns:a16="http://schemas.microsoft.com/office/drawing/2014/main" val="10002"/>
                  </a:ext>
                </a:extLst>
              </a:tr>
              <a:tr h="525780">
                <a:tc>
                  <a:txBody>
                    <a:bodyPr/>
                    <a:lstStyle/>
                    <a:p>
                      <a:pPr algn="ctr">
                        <a:defRPr sz="900">
                          <a:solidFill>
                            <a:srgbClr val="1A1A1A"/>
                          </a:solidFill>
                          <a:latin typeface="Bookman Old Style"/>
                        </a:defRPr>
                      </a:pPr>
                      <a:r>
                        <a:t>Total 2D</a:t>
                      </a:r>
                    </a:p>
                  </a:txBody>
                  <a:tcPr anchor="ctr">
                    <a:solidFill>
                      <a:srgbClr val="FFFFFF"/>
                    </a:solidFill>
                  </a:tcPr>
                </a:tc>
                <a:tc>
                  <a:txBody>
                    <a:bodyPr/>
                    <a:lstStyle/>
                    <a:p>
                      <a:pPr algn="ctr">
                        <a:defRPr sz="900">
                          <a:solidFill>
                            <a:srgbClr val="1A1A1A"/>
                          </a:solidFill>
                          <a:latin typeface="Bookman Old Style"/>
                        </a:defRPr>
                      </a:pPr>
                      <a:r>
                        <a:t>52.11%</a:t>
                      </a:r>
                    </a:p>
                  </a:txBody>
                  <a:tcPr anchor="ctr">
                    <a:solidFill>
                      <a:srgbClr val="FFFFFF"/>
                    </a:solidFill>
                  </a:tcPr>
                </a:tc>
                <a:tc>
                  <a:txBody>
                    <a:bodyPr/>
                    <a:lstStyle/>
                    <a:p>
                      <a:pPr algn="l">
                        <a:defRPr sz="900">
                          <a:solidFill>
                            <a:srgbClr val="1A1A1A"/>
                          </a:solidFill>
                          <a:latin typeface="Bookman Old Style"/>
                        </a:defRPr>
                      </a:pPr>
                      <a:r>
                        <a:t>Covers 16.6x of single-feature baseline</a:t>
                      </a:r>
                    </a:p>
                  </a:txBody>
                  <a:tcPr anchor="ctr">
                    <a:solidFill>
                      <a:srgbClr val="FFFFFF"/>
                    </a:solidFill>
                  </a:tcPr>
                </a:tc>
                <a:tc>
                  <a:txBody>
                    <a:bodyPr/>
                    <a:lstStyle/>
                    <a:p>
                      <a:pPr algn="l">
                        <a:defRPr sz="900">
                          <a:solidFill>
                            <a:srgbClr val="1A1A1A"/>
                          </a:solidFill>
                          <a:latin typeface="Bookman Old Style"/>
                        </a:defRPr>
                      </a:pPr>
                      <a:r>
                        <a:t>Orthogonal 2D Space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6355080" y="4206240"/>
            <a:ext cx="4937760" cy="17830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297680"/>
            <a:ext cx="4663440" cy="1600200"/>
          </a:xfrm>
          <a:prstGeom prst="rect">
            <a:avLst/>
          </a:prstGeom>
          <a:noFill/>
        </p:spPr>
        <p:txBody>
          <a:bodyPr wrap="square">
            <a:spAutoFit/>
          </a:bodyPr>
          <a:lstStyle/>
          <a:p>
            <a:pPr>
              <a:defRPr sz="950" b="1">
                <a:solidFill>
                  <a:srgbClr val="1B4332"/>
                </a:solidFill>
                <a:latin typeface="Bookman Old Style"/>
              </a:defRPr>
            </a:pPr>
            <a:r>
              <a:t>CLUSTER DISTRIBUTIONS &amp; SOURCE DOMAIN SHIFT</a:t>
            </a:r>
            <a:br/>
            <a:r>
              <a:t>• Cluster 0 (N=2,150): Centered around negative PC1 / moderate PC2 (dense in-field PlantDoc foliar imagery).</a:t>
            </a:r>
            <a:br/>
            <a:r>
              <a:t>• Cluster 1 (N=446): High positive PC1 space. 32 of 36 ICAR Rice scans map here due to white scanner background reflection.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Association Rule Mining: Mode A vs Mode B</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18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3216265"/>
          </a:xfrm>
          <a:prstGeom prst="rect">
            <a:avLst/>
          </a:prstGeom>
          <a:noFill/>
        </p:spPr>
        <p:txBody>
          <a:bodyPr wrap="square">
            <a:spAutoFit/>
          </a:bodyPr>
          <a:lstStyle/>
          <a:p>
            <a:pPr>
              <a:spcAft>
                <a:spcPts val="600"/>
              </a:spcAft>
              <a:defRPr sz="1200" b="1">
                <a:solidFill>
                  <a:srgbClr val="1B4332"/>
                </a:solidFill>
                <a:latin typeface="Bookman Old Style"/>
              </a:defRPr>
            </a:pPr>
            <a:r>
              <a:rPr sz="1400" dirty="0">
                <a:solidFill>
                  <a:srgbClr val="475B53"/>
                </a:solidFill>
              </a:rPr>
              <a:t>MODE A: VISUAL-ONLY UNSUPERVISED MINING</a:t>
            </a:r>
          </a:p>
          <a:p>
            <a:pPr>
              <a:spcAft>
                <a:spcPts val="600"/>
              </a:spcAft>
            </a:pPr>
            <a:r>
              <a:rPr sz="1200" b="1" dirty="0">
                <a:solidFill>
                  <a:srgbClr val="1B4332"/>
                </a:solidFill>
                <a:latin typeface="Bookman Old Style"/>
              </a:rPr>
              <a:t>• Input Discretization: </a:t>
            </a:r>
            <a:r>
              <a:rPr sz="1200" dirty="0">
                <a:solidFill>
                  <a:srgbClr val="1A1A1A"/>
                </a:solidFill>
                <a:latin typeface="Bookman Old Style"/>
              </a:rPr>
              <a:t>Equal-frequency tertile binning (Low, Medium, High) across 12 explainable visual descriptors.</a:t>
            </a:r>
          </a:p>
          <a:p>
            <a:pPr>
              <a:spcAft>
                <a:spcPts val="600"/>
              </a:spcAft>
            </a:pPr>
            <a:r>
              <a:rPr sz="1200" b="1" dirty="0">
                <a:solidFill>
                  <a:srgbClr val="1B4332"/>
                </a:solidFill>
                <a:latin typeface="Bookman Old Style"/>
              </a:rPr>
              <a:t>• Declared Baseline Thresholds: </a:t>
            </a:r>
            <a:r>
              <a:rPr sz="1200" dirty="0">
                <a:solidFill>
                  <a:srgbClr val="1A1A1A"/>
                </a:solidFill>
                <a:latin typeface="Bookman Old Style"/>
              </a:rPr>
              <a:t>Min Support = 0.15 (15.0%), Min Confidence = 0.60 (60.0%), Min Lift = 1.0.</a:t>
            </a:r>
          </a:p>
          <a:p>
            <a:pPr>
              <a:spcAft>
                <a:spcPts val="600"/>
              </a:spcAft>
            </a:pPr>
            <a:r>
              <a:rPr sz="1200" b="1" dirty="0">
                <a:solidFill>
                  <a:srgbClr val="1B4332"/>
                </a:solidFill>
                <a:latin typeface="Bookman Old Style"/>
              </a:rPr>
              <a:t>• Algorithmic Parity (FP-Growth vs </a:t>
            </a:r>
            <a:r>
              <a:rPr sz="1200" b="1" dirty="0" err="1">
                <a:solidFill>
                  <a:srgbClr val="1B4332"/>
                </a:solidFill>
                <a:latin typeface="Bookman Old Style"/>
              </a:rPr>
              <a:t>Apriori</a:t>
            </a:r>
            <a:r>
              <a:rPr sz="1200" b="1" dirty="0">
                <a:solidFill>
                  <a:srgbClr val="1B4332"/>
                </a:solidFill>
                <a:latin typeface="Bookman Old Style"/>
              </a:rPr>
              <a:t>): </a:t>
            </a:r>
            <a:r>
              <a:rPr sz="1200" dirty="0">
                <a:solidFill>
                  <a:srgbClr val="1A1A1A"/>
                </a:solidFill>
                <a:latin typeface="Bookman Old Style"/>
              </a:rPr>
              <a:t>Both algorithms produce exactly 223 frequent </a:t>
            </a:r>
            <a:r>
              <a:rPr sz="1200" dirty="0" err="1">
                <a:solidFill>
                  <a:srgbClr val="1A1A1A"/>
                </a:solidFill>
                <a:latin typeface="Bookman Old Style"/>
              </a:rPr>
              <a:t>itemsets</a:t>
            </a:r>
            <a:r>
              <a:rPr sz="1200" dirty="0">
                <a:solidFill>
                  <a:srgbClr val="1A1A1A"/>
                </a:solidFill>
                <a:latin typeface="Bookman Old Style"/>
              </a:rPr>
              <a:t> and 880 rules. Maximum absolute metric difference Δ = 0.00000000.</a:t>
            </a:r>
          </a:p>
          <a:p>
            <a:pPr>
              <a:spcAft>
                <a:spcPts val="600"/>
              </a:spcAft>
            </a:pPr>
            <a:r>
              <a:rPr sz="1200" b="1" dirty="0">
                <a:solidFill>
                  <a:srgbClr val="1B4332"/>
                </a:solidFill>
                <a:latin typeface="Bookman Old Style"/>
              </a:rPr>
              <a:t>• Representative Rule 1: </a:t>
            </a:r>
            <a:r>
              <a:rPr sz="1200" dirty="0" err="1">
                <a:solidFill>
                  <a:srgbClr val="1A1A1A"/>
                </a:solidFill>
                <a:latin typeface="Bookman Old Style"/>
              </a:rPr>
              <a:t>glcm_contrast_High</a:t>
            </a:r>
            <a:r>
              <a:rPr sz="1200" dirty="0">
                <a:solidFill>
                  <a:srgbClr val="1A1A1A"/>
                </a:solidFill>
                <a:latin typeface="Bookman Old Style"/>
              </a:rPr>
              <a:t> AND </a:t>
            </a:r>
            <a:r>
              <a:rPr sz="1200" dirty="0" err="1">
                <a:solidFill>
                  <a:srgbClr val="1A1A1A"/>
                </a:solidFill>
                <a:latin typeface="Bookman Old Style"/>
              </a:rPr>
              <a:t>contour_perimeter_High</a:t>
            </a:r>
            <a:r>
              <a:rPr sz="1200" dirty="0">
                <a:solidFill>
                  <a:srgbClr val="1A1A1A"/>
                </a:solidFill>
                <a:latin typeface="Bookman Old Style"/>
              </a:rPr>
              <a:t> → </a:t>
            </a:r>
            <a:r>
              <a:rPr sz="1200" dirty="0" err="1">
                <a:solidFill>
                  <a:srgbClr val="1A1A1A"/>
                </a:solidFill>
                <a:latin typeface="Bookman Old Style"/>
              </a:rPr>
              <a:t>glcm_energy_Low</a:t>
            </a:r>
            <a:r>
              <a:rPr sz="1200" dirty="0">
                <a:solidFill>
                  <a:srgbClr val="1A1A1A"/>
                </a:solidFill>
                <a:latin typeface="Bookman Old Style"/>
              </a:rPr>
              <a:t>
(Support = 0.1506, Confidence = 0.8728, Lift = 4.2429).</a:t>
            </a:r>
          </a:p>
          <a:p>
            <a:pPr>
              <a:spcAft>
                <a:spcPts val="600"/>
              </a:spcAft>
            </a:pPr>
            <a:r>
              <a:rPr sz="1200" b="1" dirty="0">
                <a:solidFill>
                  <a:srgbClr val="1B4332"/>
                </a:solidFill>
                <a:latin typeface="Bookman Old Style"/>
              </a:rPr>
              <a:t>• Representative Rule 2: </a:t>
            </a:r>
            <a:r>
              <a:rPr sz="1200" dirty="0" err="1">
                <a:solidFill>
                  <a:srgbClr val="1A1A1A"/>
                </a:solidFill>
                <a:latin typeface="Bookman Old Style"/>
              </a:rPr>
              <a:t>contour_perimeter_High</a:t>
            </a:r>
            <a:r>
              <a:rPr sz="1200" dirty="0">
                <a:solidFill>
                  <a:srgbClr val="1A1A1A"/>
                </a:solidFill>
                <a:latin typeface="Bookman Old Style"/>
              </a:rPr>
              <a:t> AND </a:t>
            </a:r>
            <a:r>
              <a:rPr sz="1200" dirty="0" err="1">
                <a:solidFill>
                  <a:srgbClr val="1A1A1A"/>
                </a:solidFill>
                <a:latin typeface="Bookman Old Style"/>
              </a:rPr>
              <a:t>glcm_energy_Low</a:t>
            </a:r>
            <a:r>
              <a:rPr sz="1200" dirty="0">
                <a:solidFill>
                  <a:srgbClr val="1A1A1A"/>
                </a:solidFill>
                <a:latin typeface="Bookman Old Style"/>
              </a:rPr>
              <a:t> → </a:t>
            </a:r>
            <a:r>
              <a:rPr sz="1200" dirty="0" err="1">
                <a:solidFill>
                  <a:srgbClr val="1A1A1A"/>
                </a:solidFill>
                <a:latin typeface="Bookman Old Style"/>
              </a:rPr>
              <a:t>glcm_contrast_High</a:t>
            </a:r>
            <a:r>
              <a:rPr sz="1200" dirty="0">
                <a:solidFill>
                  <a:srgbClr val="1A1A1A"/>
                </a:solidFill>
                <a:latin typeface="Bookman Old Style"/>
              </a:rPr>
              <a:t>
(Support = 0.1506, Confidence = 0.8907, Lift = 4.2270).</a:t>
            </a:r>
          </a:p>
        </p:txBody>
      </p:sp>
      <p:sp>
        <p:nvSpPr>
          <p:cNvPr id="9" name="Rounded Rectangle 8"/>
          <p:cNvSpPr/>
          <p:nvPr/>
        </p:nvSpPr>
        <p:spPr>
          <a:xfrm>
            <a:off x="6217920" y="1371600"/>
            <a:ext cx="5242255" cy="4754880"/>
          </a:xfrm>
          <a:prstGeom prst="roundRect">
            <a:avLst/>
          </a:prstGeom>
          <a:solidFill>
            <a:schemeClr val="bg1"/>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062651"/>
          </a:xfrm>
          <a:prstGeom prst="rect">
            <a:avLst/>
          </a:prstGeom>
          <a:noFill/>
        </p:spPr>
        <p:txBody>
          <a:bodyPr wrap="square">
            <a:spAutoFit/>
          </a:bodyPr>
          <a:lstStyle/>
          <a:p>
            <a:r>
              <a:rPr sz="1400" b="1" dirty="0">
                <a:solidFill>
                  <a:srgbClr val="475B53"/>
                </a:solidFill>
                <a:latin typeface="Bookman Old Style" panose="02050604050505020204" pitchFamily="18" charset="0"/>
              </a:rPr>
              <a:t>MODE B: LABEL-CONDITIONED EXPLORATORY MINING</a:t>
            </a:r>
            <a:endParaRPr lang="en-US" sz="1400" b="1" dirty="0">
              <a:solidFill>
                <a:srgbClr val="475B53"/>
              </a:solidFill>
              <a:latin typeface="Bookman Old Style" panose="02050604050505020204" pitchFamily="18" charset="0"/>
            </a:endParaRPr>
          </a:p>
          <a:p>
            <a:endParaRPr sz="1400" b="1" dirty="0">
              <a:solidFill>
                <a:srgbClr val="475B53"/>
              </a:solidFill>
              <a:latin typeface="Bookman Old Style" panose="02050604050505020204" pitchFamily="18" charset="0"/>
            </a:endParaRPr>
          </a:p>
          <a:p>
            <a:r>
              <a:rPr sz="1200" b="1" dirty="0">
                <a:solidFill>
                  <a:srgbClr val="475B53"/>
                </a:solidFill>
                <a:latin typeface="Bookman Old Style" panose="02050604050505020204" pitchFamily="18" charset="0"/>
              </a:rPr>
              <a:t>• Purpose &amp; Transaction Matrix: </a:t>
            </a:r>
            <a:r>
              <a:rPr sz="1200" dirty="0">
                <a:latin typeface="Bookman Old Style" panose="02050604050505020204" pitchFamily="18" charset="0"/>
              </a:rPr>
              <a:t>Appends condition status (Healthy, Diseased) and pathogen type to visual items for exploratory pattern inspection.</a:t>
            </a:r>
            <a:endParaRPr lang="en-US" sz="1200" dirty="0">
              <a:latin typeface="Bookman Old Style" panose="02050604050505020204" pitchFamily="18" charset="0"/>
            </a:endParaRPr>
          </a:p>
          <a:p>
            <a:endParaRPr sz="1200" dirty="0">
              <a:latin typeface="Bookman Old Style" panose="02050604050505020204" pitchFamily="18" charset="0"/>
            </a:endParaRPr>
          </a:p>
          <a:p>
            <a:r>
              <a:rPr sz="1200" dirty="0">
                <a:latin typeface="Bookman Old Style" panose="02050604050505020204" pitchFamily="18" charset="0"/>
              </a:rPr>
              <a:t>• </a:t>
            </a:r>
            <a:r>
              <a:rPr sz="1200" b="1" dirty="0">
                <a:solidFill>
                  <a:srgbClr val="475B53"/>
                </a:solidFill>
                <a:latin typeface="Bookman Old Style" panose="02050604050505020204" pitchFamily="18" charset="0"/>
              </a:rPr>
              <a:t>Reconciling Rule Counts (285 total vs 276 filtered vs 272 draft): </a:t>
            </a:r>
            <a:r>
              <a:rPr sz="1200" dirty="0">
                <a:latin typeface="Bookman Old Style" panose="02050604050505020204" pitchFamily="18" charset="0"/>
              </a:rPr>
              <a:t>At </a:t>
            </a:r>
            <a:r>
              <a:rPr sz="1200" dirty="0" err="1">
                <a:latin typeface="Bookman Old Style" panose="02050604050505020204" pitchFamily="18" charset="0"/>
              </a:rPr>
              <a:t>min_support</a:t>
            </a:r>
            <a:r>
              <a:rPr sz="1200" dirty="0">
                <a:latin typeface="Bookman Old Style" panose="02050604050505020204" pitchFamily="18" charset="0"/>
              </a:rPr>
              <a:t>=0.15 and </a:t>
            </a:r>
            <a:r>
              <a:rPr sz="1200" dirty="0" err="1">
                <a:latin typeface="Bookman Old Style" panose="02050604050505020204" pitchFamily="18" charset="0"/>
              </a:rPr>
              <a:t>min_confidence</a:t>
            </a:r>
            <a:r>
              <a:rPr sz="1200" dirty="0">
                <a:latin typeface="Bookman Old Style" panose="02050604050505020204" pitchFamily="18" charset="0"/>
              </a:rPr>
              <a:t>=0.60, Mode B mines exactly 285 total rules. Filtering by lift &gt;= 1.0 yields 276 rules. The obsolete 272 count was an earlier historical draft omitting condition-only rules.</a:t>
            </a:r>
            <a:endParaRPr lang="en-US" sz="1200" dirty="0">
              <a:latin typeface="Bookman Old Style" panose="02050604050505020204" pitchFamily="18" charset="0"/>
            </a:endParaRPr>
          </a:p>
          <a:p>
            <a:endParaRPr sz="1200" dirty="0">
              <a:latin typeface="Bookman Old Style" panose="02050604050505020204" pitchFamily="18" charset="0"/>
            </a:endParaRPr>
          </a:p>
          <a:p>
            <a:r>
              <a:rPr sz="1200" b="1" dirty="0">
                <a:solidFill>
                  <a:srgbClr val="475B53"/>
                </a:solidFill>
                <a:latin typeface="Bookman Old Style" panose="02050604050505020204" pitchFamily="18" charset="0"/>
              </a:rPr>
              <a:t>• Representative Rule: </a:t>
            </a:r>
            <a:r>
              <a:rPr sz="1200" dirty="0" err="1">
                <a:latin typeface="Bookman Old Style" panose="02050604050505020204" pitchFamily="18" charset="0"/>
              </a:rPr>
              <a:t>condition_Healthy</a:t>
            </a:r>
            <a:r>
              <a:rPr sz="1200" dirty="0">
                <a:latin typeface="Bookman Old Style" panose="02050604050505020204" pitchFamily="18" charset="0"/>
              </a:rPr>
              <a:t> AND </a:t>
            </a:r>
            <a:r>
              <a:rPr sz="1200" dirty="0" err="1">
                <a:latin typeface="Bookman Old Style" panose="02050604050505020204" pitchFamily="18" charset="0"/>
              </a:rPr>
              <a:t>contour_perimeter_Low</a:t>
            </a:r>
            <a:r>
              <a:rPr sz="1200" dirty="0">
                <a:latin typeface="Bookman Old Style" panose="02050604050505020204" pitchFamily="18" charset="0"/>
              </a:rPr>
              <a:t> -&gt; </a:t>
            </a:r>
            <a:r>
              <a:rPr sz="1200" dirty="0" err="1">
                <a:latin typeface="Bookman Old Style" panose="02050604050505020204" pitchFamily="18" charset="0"/>
              </a:rPr>
              <a:t>contour_circularity_High</a:t>
            </a:r>
            <a:r>
              <a:rPr sz="1200" dirty="0">
                <a:latin typeface="Bookman Old Style" panose="02050604050505020204" pitchFamily="18" charset="0"/>
              </a:rPr>
              <a:t> AND </a:t>
            </a:r>
            <a:r>
              <a:rPr sz="1200" dirty="0" err="1">
                <a:latin typeface="Bookman Old Style" panose="02050604050505020204" pitchFamily="18" charset="0"/>
              </a:rPr>
              <a:t>pathogen_Unknown</a:t>
            </a:r>
            <a:r>
              <a:rPr sz="1200" dirty="0">
                <a:latin typeface="Bookman Old Style" panose="02050604050505020204" pitchFamily="18" charset="0"/>
              </a:rPr>
              <a:t> (Support = 0.1529, Confidence = 0.9636, Lift = 6.0132).</a:t>
            </a:r>
            <a:endParaRPr lang="en-US" sz="1200" dirty="0">
              <a:latin typeface="Bookman Old Style" panose="02050604050505020204" pitchFamily="18" charset="0"/>
            </a:endParaRPr>
          </a:p>
          <a:p>
            <a:endParaRPr sz="1200" dirty="0">
              <a:latin typeface="Bookman Old Style" panose="02050604050505020204" pitchFamily="18" charset="0"/>
            </a:endParaRPr>
          </a:p>
          <a:p>
            <a:r>
              <a:rPr sz="1200" b="1" dirty="0">
                <a:solidFill>
                  <a:srgbClr val="475B53"/>
                </a:solidFill>
                <a:latin typeface="Bookman Old Style" panose="02050604050505020204" pitchFamily="18" charset="0"/>
              </a:rPr>
              <a:t>• Critical Causality Disclaimer:</a:t>
            </a:r>
            <a:r>
              <a:rPr sz="1200" dirty="0">
                <a:latin typeface="Bookman Old Style" panose="02050604050505020204" pitchFamily="18" charset="0"/>
              </a:rPr>
              <a:t> Association rules capture statistical co-occurrences in the current labeled collection. They do NOT establish biological or pathological causation.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Image Analysis &amp; Inference Workbench</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19 / 24</a:t>
            </a:r>
          </a:p>
        </p:txBody>
      </p:sp>
      <p:sp>
        <p:nvSpPr>
          <p:cNvPr id="7" name="Rounded Rectangle 6"/>
          <p:cNvSpPr/>
          <p:nvPr/>
        </p:nvSpPr>
        <p:spPr>
          <a:xfrm>
            <a:off x="731520" y="1371600"/>
            <a:ext cx="594360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949440" y="1371600"/>
            <a:ext cx="4510735"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0" y="1554480"/>
            <a:ext cx="4144975" cy="4389120"/>
          </a:xfrm>
          <a:prstGeom prst="rect">
            <a:avLst/>
          </a:prstGeom>
          <a:noFill/>
        </p:spPr>
        <p:txBody>
          <a:bodyPr wrap="square">
            <a:spAutoFit/>
          </a:bodyPr>
          <a:lstStyle/>
          <a:p>
            <a:pPr>
              <a:spcAft>
                <a:spcPts val="600"/>
              </a:spcAft>
              <a:defRPr sz="1200" b="1">
                <a:solidFill>
                  <a:srgbClr val="1B4332"/>
                </a:solidFill>
                <a:latin typeface="Bookman Old Style"/>
              </a:defRPr>
            </a:pPr>
            <a:r>
              <a:t>WORKBENCH INGESTION &amp; INFERENCE FLOW</a:t>
            </a:r>
          </a:p>
          <a:p>
            <a:pPr>
              <a:spcAft>
                <a:spcPts val="600"/>
              </a:spcAft>
            </a:pPr>
            <a:r>
              <a:rPr sz="1200" b="1">
                <a:solidFill>
                  <a:srgbClr val="1B4332"/>
                </a:solidFill>
                <a:latin typeface="Bookman Old Style"/>
              </a:rPr>
              <a:t>1. In-Memory Ingestion: </a:t>
            </a:r>
            <a:r>
              <a:rPr sz="1200">
                <a:solidFill>
                  <a:srgbClr val="1A1A1A"/>
                </a:solidFill>
                <a:latin typeface="Bookman Old Style"/>
              </a:rPr>
              <a:t>Uploaded images (JPG/PNG) are validated, EXIF-transposed, and resized to 256x256 without persisting to frozen dataset files.</a:t>
            </a:r>
          </a:p>
          <a:p>
            <a:pPr>
              <a:spcAft>
                <a:spcPts val="600"/>
              </a:spcAft>
            </a:pPr>
            <a:r>
              <a:rPr sz="1200" b="1">
                <a:solidFill>
                  <a:srgbClr val="1B4332"/>
                </a:solidFill>
                <a:latin typeface="Bookman Old Style"/>
              </a:rPr>
              <a:t>2. Real-Time Feature Extraction: </a:t>
            </a:r>
            <a:r>
              <a:rPr sz="1200">
                <a:solidFill>
                  <a:srgbClr val="1A1A1A"/>
                </a:solidFill>
                <a:latin typeface="Bookman Old Style"/>
              </a:rPr>
              <a:t>Extracts 32 continuous descriptors in &lt;150ms. Supports interactive toggling between Raw and Standardized values.</a:t>
            </a:r>
          </a:p>
          <a:p>
            <a:pPr>
              <a:spcAft>
                <a:spcPts val="600"/>
              </a:spcAft>
            </a:pPr>
            <a:r>
              <a:rPr sz="1200" b="1">
                <a:solidFill>
                  <a:srgbClr val="1B4332"/>
                </a:solidFill>
                <a:latin typeface="Bookman Old Style"/>
              </a:rPr>
              <a:t>3. Fitted Cluster Projection: </a:t>
            </a:r>
            <a:r>
              <a:rPr sz="1200">
                <a:solidFill>
                  <a:srgbClr val="1A1A1A"/>
                </a:solidFill>
                <a:latin typeface="Bookman Old Style"/>
              </a:rPr>
              <a:t>Assigns specimen into fitted K=2 and K=4 models using saved reference scalers and centroids.</a:t>
            </a:r>
          </a:p>
          <a:p>
            <a:pPr>
              <a:spcAft>
                <a:spcPts val="600"/>
              </a:spcAft>
            </a:pPr>
            <a:r>
              <a:rPr sz="1200" b="1">
                <a:solidFill>
                  <a:srgbClr val="1B4332"/>
                </a:solidFill>
                <a:latin typeface="Bookman Old Style"/>
              </a:rPr>
              <a:t>4. Nearest Reference Retrieval: </a:t>
            </a:r>
            <a:r>
              <a:rPr sz="1200">
                <a:solidFill>
                  <a:srgbClr val="1A1A1A"/>
                </a:solidFill>
                <a:latin typeface="Bookman Old Style"/>
              </a:rPr>
              <a:t>Calculates 32D standardized Euclidean distance against all 2,596 authentic reference specimens.</a:t>
            </a:r>
          </a:p>
          <a:p>
            <a:pPr>
              <a:spcAft>
                <a:spcPts val="600"/>
              </a:spcAft>
            </a:pPr>
            <a:r>
              <a:rPr sz="1200" b="1">
                <a:solidFill>
                  <a:srgbClr val="1B4332"/>
                </a:solidFill>
                <a:latin typeface="Bookman Old Style"/>
              </a:rPr>
              <a:t>5. Strict Diagnostic Disclaimer: </a:t>
            </a:r>
            <a:r>
              <a:rPr sz="1200">
                <a:solidFill>
                  <a:srgbClr val="1A1A1A"/>
                </a:solidFill>
                <a:latin typeface="Bookman Old Style"/>
              </a:rPr>
              <a:t>Prominent UI warning: Visual similarity does NOT constitute disease diagnosis. Proximity index 1/(1+d) is an uncalibrated geometric heuristic.</a:t>
            </a:r>
          </a:p>
        </p:txBody>
      </p:sp>
      <p:pic>
        <p:nvPicPr>
          <p:cNvPr id="11" name="Picture 10" descr="08_image_analysis_workbench.png"/>
          <p:cNvPicPr>
            <a:picLocks noChangeAspect="1"/>
          </p:cNvPicPr>
          <p:nvPr/>
        </p:nvPicPr>
        <p:blipFill>
          <a:blip r:embed="rId2"/>
          <a:stretch>
            <a:fillRect/>
          </a:stretch>
        </p:blipFill>
        <p:spPr>
          <a:xfrm>
            <a:off x="731520" y="2015109"/>
            <a:ext cx="5943599" cy="33432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Interactive Dashboard: React 18 + TypeScript GUI</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20 / 24</a:t>
            </a:r>
          </a:p>
        </p:txBody>
      </p:sp>
      <p:sp>
        <p:nvSpPr>
          <p:cNvPr id="7" name="Rounded Rectangle 6"/>
          <p:cNvSpPr/>
          <p:nvPr/>
        </p:nvSpPr>
        <p:spPr>
          <a:xfrm>
            <a:off x="731520" y="137160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03320" y="155448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DATASET EXPLORER (/dataset)</a:t>
            </a:r>
          </a:p>
          <a:p>
            <a:pPr>
              <a:defRPr sz="950">
                <a:solidFill>
                  <a:srgbClr val="1A1A1A"/>
                </a:solidFill>
                <a:latin typeface="Bookman Old Style"/>
              </a:defRPr>
            </a:pPr>
            <a:r>
              <a:t>Card Grid and Table views; case-insensitive crop filters (Tomato = 743); modal specimen detail inspection.</a:t>
            </a:r>
          </a:p>
        </p:txBody>
      </p:sp>
      <p:sp>
        <p:nvSpPr>
          <p:cNvPr id="10" name="Rounded Rectangle 9"/>
          <p:cNvSpPr/>
          <p:nvPr/>
        </p:nvSpPr>
        <p:spPr>
          <a:xfrm>
            <a:off x="6217920" y="137160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89720" y="155448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DATA WAREHOUSE SCHEMA (/warehouse)</a:t>
            </a:r>
          </a:p>
          <a:p>
            <a:pPr>
              <a:defRPr sz="950">
                <a:solidFill>
                  <a:srgbClr val="1A1A1A"/>
                </a:solidFill>
                <a:latin typeface="Bookman Old Style"/>
              </a:defRPr>
            </a:pPr>
            <a:r>
              <a:t>Star schema topology; Central Observation Fact Table badge; relational foreign key integrity cards.</a:t>
            </a:r>
          </a:p>
        </p:txBody>
      </p:sp>
      <p:sp>
        <p:nvSpPr>
          <p:cNvPr id="13" name="Rounded Rectangle 12"/>
          <p:cNvSpPr/>
          <p:nvPr/>
        </p:nvSpPr>
        <p:spPr>
          <a:xfrm>
            <a:off x="731520" y="384048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03320" y="402336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OLAP ANALYTICS CONSOLE (/olap)</a:t>
            </a:r>
          </a:p>
          <a:p>
            <a:pPr>
              <a:defRPr sz="950">
                <a:solidFill>
                  <a:srgbClr val="1A1A1A"/>
                </a:solidFill>
                <a:latin typeface="Bookman Old Style"/>
              </a:defRPr>
            </a:pPr>
            <a:r>
              <a:t>Interactive SQL execution for Roll-up, Drill-down, Slice (Crop), Dice (Crop x Pathogen), Pivot (Crop x Severity).</a:t>
            </a:r>
          </a:p>
        </p:txBody>
      </p:sp>
      <p:sp>
        <p:nvSpPr>
          <p:cNvPr id="16" name="Rounded Rectangle 15"/>
          <p:cNvSpPr/>
          <p:nvPr/>
        </p:nvSpPr>
        <p:spPr>
          <a:xfrm>
            <a:off x="6217920" y="3840480"/>
            <a:ext cx="5212080" cy="2286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89720" y="4023360"/>
            <a:ext cx="2103120" cy="2011680"/>
          </a:xfrm>
          <a:prstGeom prst="rect">
            <a:avLst/>
          </a:prstGeom>
          <a:noFill/>
        </p:spPr>
        <p:txBody>
          <a:bodyPr wrap="square">
            <a:spAutoFit/>
          </a:bodyPr>
          <a:lstStyle/>
          <a:p>
            <a:pPr>
              <a:spcAft>
                <a:spcPts val="400"/>
              </a:spcAft>
              <a:defRPr sz="1100" b="1">
                <a:solidFill>
                  <a:srgbClr val="1B4332"/>
                </a:solidFill>
                <a:latin typeface="Bookman Old Style"/>
              </a:defRPr>
            </a:pPr>
            <a:r>
              <a:t>ASSOCIATION RULES (/association-rules)</a:t>
            </a:r>
          </a:p>
          <a:p>
            <a:pPr>
              <a:defRPr sz="950">
                <a:solidFill>
                  <a:srgbClr val="1A1A1A"/>
                </a:solidFill>
                <a:latin typeface="Bookman Old Style"/>
              </a:defRPr>
            </a:pPr>
            <a:r>
              <a:t>Mode A (880 rules) and Mode B (276 filtered rules) with interactive support/confidence slider adjustments.</a:t>
            </a:r>
          </a:p>
        </p:txBody>
      </p:sp>
      <p:pic>
        <p:nvPicPr>
          <p:cNvPr id="19" name="Picture 18" descr="02_dataset_explorer.png"/>
          <p:cNvPicPr>
            <a:picLocks noChangeAspect="1"/>
          </p:cNvPicPr>
          <p:nvPr/>
        </p:nvPicPr>
        <p:blipFill>
          <a:blip r:embed="rId2"/>
          <a:stretch>
            <a:fillRect/>
          </a:stretch>
        </p:blipFill>
        <p:spPr>
          <a:xfrm>
            <a:off x="868680" y="1737360"/>
            <a:ext cx="2743200" cy="1714500"/>
          </a:xfrm>
          <a:prstGeom prst="rect">
            <a:avLst/>
          </a:prstGeom>
        </p:spPr>
      </p:pic>
      <p:pic>
        <p:nvPicPr>
          <p:cNvPr id="20" name="Picture 19" descr="04_data_warehouse.png"/>
          <p:cNvPicPr>
            <a:picLocks noChangeAspect="1"/>
          </p:cNvPicPr>
          <p:nvPr/>
        </p:nvPicPr>
        <p:blipFill>
          <a:blip r:embed="rId3"/>
          <a:stretch>
            <a:fillRect/>
          </a:stretch>
        </p:blipFill>
        <p:spPr>
          <a:xfrm>
            <a:off x="6355080" y="1737360"/>
            <a:ext cx="2743200" cy="1714500"/>
          </a:xfrm>
          <a:prstGeom prst="rect">
            <a:avLst/>
          </a:prstGeom>
        </p:spPr>
      </p:pic>
      <p:pic>
        <p:nvPicPr>
          <p:cNvPr id="21" name="Picture 20" descr="05_olap_analytics.png"/>
          <p:cNvPicPr>
            <a:picLocks noChangeAspect="1"/>
          </p:cNvPicPr>
          <p:nvPr/>
        </p:nvPicPr>
        <p:blipFill>
          <a:blip r:embed="rId4"/>
          <a:stretch>
            <a:fillRect/>
          </a:stretch>
        </p:blipFill>
        <p:spPr>
          <a:xfrm>
            <a:off x="868680" y="4206240"/>
            <a:ext cx="2743200" cy="1714500"/>
          </a:xfrm>
          <a:prstGeom prst="rect">
            <a:avLst/>
          </a:prstGeom>
        </p:spPr>
      </p:pic>
      <p:pic>
        <p:nvPicPr>
          <p:cNvPr id="22" name="Picture 21" descr="07_association_rules.png"/>
          <p:cNvPicPr>
            <a:picLocks noChangeAspect="1"/>
          </p:cNvPicPr>
          <p:nvPr/>
        </p:nvPicPr>
        <p:blipFill>
          <a:blip r:embed="rId5"/>
          <a:stretch>
            <a:fillRect/>
          </a:stretch>
        </p:blipFill>
        <p:spPr>
          <a:xfrm>
            <a:off x="6355080" y="4206240"/>
            <a:ext cx="2743200" cy="1714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Testing &amp; Validation: Multi-Tier Verification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21 / 24</a:t>
            </a:r>
          </a:p>
        </p:txBody>
      </p:sp>
      <p:sp>
        <p:nvSpPr>
          <p:cNvPr id="7" name="Rounded Rectangle 6"/>
          <p:cNvSpPr/>
          <p:nvPr/>
        </p:nvSpPr>
        <p:spPr>
          <a:xfrm>
            <a:off x="731520" y="1371600"/>
            <a:ext cx="10728655" cy="91440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463040"/>
            <a:ext cx="10362895" cy="523220"/>
          </a:xfrm>
          <a:prstGeom prst="rect">
            <a:avLst/>
          </a:prstGeom>
          <a:noFill/>
        </p:spPr>
        <p:txBody>
          <a:bodyPr wrap="square">
            <a:spAutoFit/>
          </a:bodyPr>
          <a:lstStyle/>
          <a:p>
            <a:r>
              <a:rPr sz="1400" dirty="0">
                <a:latin typeface="Bookman Old Style" panose="02050604050505020204" pitchFamily="18" charset="0"/>
              </a:rPr>
              <a:t>104 AUTOMATED TESTS PASSED (100% SUCCESS RATE, 0 FAILURES, 1 DEPRECATION WARNING)</a:t>
            </a:r>
          </a:p>
          <a:p>
            <a:r>
              <a:rPr sz="1400" dirty="0">
                <a:latin typeface="Bookman Old Style" panose="02050604050505020204" pitchFamily="18" charset="0"/>
              </a:rPr>
              <a:t>Rigorous separation into 4 distinct verification tiers ensures end-to-end reproducibility.</a:t>
            </a:r>
          </a:p>
        </p:txBody>
      </p:sp>
      <p:graphicFrame>
        <p:nvGraphicFramePr>
          <p:cNvPr id="9" name="Table 8"/>
          <p:cNvGraphicFramePr>
            <a:graphicFrameLocks noGrp="1"/>
          </p:cNvGraphicFramePr>
          <p:nvPr>
            <p:extLst>
              <p:ext uri="{D42A27DB-BD31-4B8C-83A1-F6EECF244321}">
                <p14:modId xmlns:p14="http://schemas.microsoft.com/office/powerpoint/2010/main" val="2912934108"/>
              </p:ext>
            </p:extLst>
          </p:nvPr>
        </p:nvGraphicFramePr>
        <p:xfrm>
          <a:off x="731520" y="2468880"/>
          <a:ext cx="10728655" cy="3657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731520">
                <a:tc>
                  <a:txBody>
                    <a:bodyPr/>
                    <a:lstStyle/>
                    <a:p>
                      <a:pPr algn="ctr">
                        <a:defRPr sz="1100" b="1">
                          <a:solidFill>
                            <a:srgbClr val="FFFFFF"/>
                          </a:solidFill>
                          <a:latin typeface="Bookman Old Style"/>
                        </a:defRPr>
                      </a:pPr>
                      <a:r>
                        <a:rPr sz="1200" dirty="0">
                          <a:latin typeface="Bookman Old Style" panose="02050604050505020204" pitchFamily="18" charset="0"/>
                        </a:rPr>
                        <a:t>Verification Tier</a:t>
                      </a:r>
                    </a:p>
                  </a:txBody>
                  <a:tcPr anchor="ctr">
                    <a:solidFill>
                      <a:srgbClr val="1B4332"/>
                    </a:solidFill>
                  </a:tcPr>
                </a:tc>
                <a:tc>
                  <a:txBody>
                    <a:bodyPr/>
                    <a:lstStyle/>
                    <a:p>
                      <a:pPr algn="ctr">
                        <a:defRPr sz="1100" b="1">
                          <a:solidFill>
                            <a:srgbClr val="FFFFFF"/>
                          </a:solidFill>
                          <a:latin typeface="Bookman Old Style"/>
                        </a:defRPr>
                      </a:pPr>
                      <a:r>
                        <a:rPr sz="1200" dirty="0">
                          <a:latin typeface="Bookman Old Style" panose="02050604050505020204" pitchFamily="18" charset="0"/>
                        </a:rPr>
                        <a:t>Test Count / Scope</a:t>
                      </a:r>
                    </a:p>
                  </a:txBody>
                  <a:tcPr anchor="ctr">
                    <a:solidFill>
                      <a:srgbClr val="1B4332"/>
                    </a:solidFill>
                  </a:tcPr>
                </a:tc>
                <a:tc>
                  <a:txBody>
                    <a:bodyPr/>
                    <a:lstStyle/>
                    <a:p>
                      <a:pPr algn="ctr">
                        <a:defRPr sz="1100" b="1">
                          <a:solidFill>
                            <a:srgbClr val="FFFFFF"/>
                          </a:solidFill>
                          <a:latin typeface="Bookman Old Style"/>
                        </a:defRPr>
                      </a:pPr>
                      <a:r>
                        <a:rPr sz="1200" dirty="0">
                          <a:latin typeface="Bookman Old Style" panose="02050604050505020204" pitchFamily="18" charset="0"/>
                        </a:rPr>
                        <a:t>Key Behaviors Tested</a:t>
                      </a:r>
                    </a:p>
                  </a:txBody>
                  <a:tcPr anchor="ctr">
                    <a:solidFill>
                      <a:srgbClr val="1B4332"/>
                    </a:solidFill>
                  </a:tcPr>
                </a:tc>
                <a:tc>
                  <a:txBody>
                    <a:bodyPr/>
                    <a:lstStyle/>
                    <a:p>
                      <a:pPr algn="ctr">
                        <a:defRPr sz="1100" b="1">
                          <a:solidFill>
                            <a:srgbClr val="FFFFFF"/>
                          </a:solidFill>
                          <a:latin typeface="Bookman Old Style"/>
                        </a:defRPr>
                      </a:pPr>
                      <a:r>
                        <a:rPr sz="1200" dirty="0">
                          <a:latin typeface="Bookman Old Style" panose="02050604050505020204" pitchFamily="18" charset="0"/>
                        </a:rPr>
                        <a:t>Observed Outcome &amp; Evidence</a:t>
                      </a:r>
                    </a:p>
                  </a:txBody>
                  <a:tcPr anchor="ctr">
                    <a:solidFill>
                      <a:srgbClr val="1B4332"/>
                    </a:solidFill>
                  </a:tcPr>
                </a:tc>
                <a:extLst>
                  <a:ext uri="{0D108BD9-81ED-4DB2-BD59-A6C34878D82A}">
                    <a16:rowId xmlns:a16="http://schemas.microsoft.com/office/drawing/2014/main" val="10000"/>
                  </a:ext>
                </a:extLst>
              </a:tr>
              <a:tr h="731520">
                <a:tc>
                  <a:txBody>
                    <a:bodyPr/>
                    <a:lstStyle/>
                    <a:p>
                      <a:pPr algn="l">
                        <a:defRPr sz="1000">
                          <a:solidFill>
                            <a:srgbClr val="1A1A1A"/>
                          </a:solidFill>
                          <a:latin typeface="Bookman Old Style"/>
                        </a:defRPr>
                      </a:pPr>
                      <a:r>
                        <a:rPr sz="1000" dirty="0">
                          <a:latin typeface="Bookman Old Style" panose="02050604050505020204" pitchFamily="18" charset="0"/>
                        </a:rPr>
                        <a:t>Automated Unit &amp; Integration</a:t>
                      </a:r>
                    </a:p>
                  </a:txBody>
                  <a:tcPr anchor="ctr">
                    <a:solidFill>
                      <a:srgbClr val="FFFFFF"/>
                    </a:solidFill>
                  </a:tcPr>
                </a:tc>
                <a:tc>
                  <a:txBody>
                    <a:bodyPr/>
                    <a:lstStyle/>
                    <a:p>
                      <a:pPr algn="ctr">
                        <a:defRPr sz="1000">
                          <a:solidFill>
                            <a:srgbClr val="1A1A1A"/>
                          </a:solidFill>
                          <a:latin typeface="Bookman Old Style"/>
                        </a:defRPr>
                      </a:pPr>
                      <a:r>
                        <a:rPr sz="1000">
                          <a:latin typeface="Bookman Old Style" panose="02050604050505020204" pitchFamily="18" charset="0"/>
                        </a:rPr>
                        <a:t>94 Tests (pytest)</a:t>
                      </a:r>
                    </a:p>
                  </a:txBody>
                  <a:tcPr anchor="ctr">
                    <a:solidFill>
                      <a:srgbClr val="FFFFFF"/>
                    </a:solidFill>
                  </a:tcPr>
                </a:tc>
                <a:tc>
                  <a:txBody>
                    <a:bodyPr/>
                    <a:lstStyle/>
                    <a:p>
                      <a:pPr algn="l">
                        <a:defRPr sz="1000">
                          <a:solidFill>
                            <a:srgbClr val="1A1A1A"/>
                          </a:solidFill>
                          <a:latin typeface="Bookman Old Style"/>
                        </a:defRPr>
                      </a:pPr>
                      <a:r>
                        <a:rPr sz="1000">
                          <a:latin typeface="Bookman Old Style" panose="02050604050505020204" pitchFamily="18" charset="0"/>
                        </a:rPr>
                        <a:t>ETL idempotency, GLCM textures, SQLite FK constraints, clustering reproducibility</a:t>
                      </a:r>
                    </a:p>
                  </a:txBody>
                  <a:tcPr anchor="ctr">
                    <a:solidFill>
                      <a:srgbClr val="FFFFFF"/>
                    </a:solidFill>
                  </a:tcPr>
                </a:tc>
                <a:tc>
                  <a:txBody>
                    <a:bodyPr/>
                    <a:lstStyle/>
                    <a:p>
                      <a:r>
                        <a:rPr sz="1000" dirty="0">
                          <a:latin typeface="Bookman Old Style" panose="02050604050505020204" pitchFamily="18" charset="0"/>
                        </a:rPr>
                        <a:t>94 / 94 Passed in 34.12s (1 Starlette deprecation warning)</a:t>
                      </a:r>
                    </a:p>
                  </a:txBody>
                  <a:tcPr anchor="ctr">
                    <a:solidFill>
                      <a:srgbClr val="FFFFFF"/>
                    </a:solidFill>
                  </a:tcPr>
                </a:tc>
                <a:extLst>
                  <a:ext uri="{0D108BD9-81ED-4DB2-BD59-A6C34878D82A}">
                    <a16:rowId xmlns:a16="http://schemas.microsoft.com/office/drawing/2014/main" val="10001"/>
                  </a:ext>
                </a:extLst>
              </a:tr>
              <a:tr h="731520">
                <a:tc>
                  <a:txBody>
                    <a:bodyPr/>
                    <a:lstStyle/>
                    <a:p>
                      <a:pPr algn="l">
                        <a:defRPr sz="1000">
                          <a:solidFill>
                            <a:srgbClr val="1A1A1A"/>
                          </a:solidFill>
                          <a:latin typeface="Bookman Old Style"/>
                        </a:defRPr>
                      </a:pPr>
                      <a:r>
                        <a:rPr sz="1000">
                          <a:latin typeface="Bookman Old Style" panose="02050604050505020204" pitchFamily="18" charset="0"/>
                        </a:rPr>
                        <a:t>Real Browser Testing (Playwright)</a:t>
                      </a:r>
                    </a:p>
                  </a:txBody>
                  <a:tcPr anchor="ctr">
                    <a:solidFill>
                      <a:srgbClr val="F8F9FA"/>
                    </a:solidFill>
                  </a:tcPr>
                </a:tc>
                <a:tc>
                  <a:txBody>
                    <a:bodyPr/>
                    <a:lstStyle/>
                    <a:p>
                      <a:pPr algn="ctr">
                        <a:defRPr sz="1000">
                          <a:solidFill>
                            <a:srgbClr val="1A1A1A"/>
                          </a:solidFill>
                          <a:latin typeface="Bookman Old Style"/>
                        </a:defRPr>
                      </a:pPr>
                      <a:r>
                        <a:rPr sz="1000">
                          <a:latin typeface="Bookman Old Style" panose="02050604050505020204" pitchFamily="18" charset="0"/>
                        </a:rPr>
                        <a:t>10 Tests (Playwright)</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Drove local Google Chrome across all 9 pages; filters, modal inspect, image upload/replace</a:t>
                      </a:r>
                    </a:p>
                  </a:txBody>
                  <a:tcPr anchor="ctr">
                    <a:solidFill>
                      <a:srgbClr val="F8F9FA"/>
                    </a:solidFill>
                  </a:tcPr>
                </a:tc>
                <a:tc>
                  <a:txBody>
                    <a:bodyPr/>
                    <a:lstStyle/>
                    <a:p>
                      <a:r>
                        <a:rPr sz="1000">
                          <a:latin typeface="Bookman Old Style" panose="02050604050505020204" pitchFamily="18" charset="0"/>
                        </a:rPr>
                        <a:t>10 / 10 Passed in 30.57s across all 9 pages (Playwright + Chrome)</a:t>
                      </a:r>
                    </a:p>
                  </a:txBody>
                  <a:tcPr anchor="ctr">
                    <a:solidFill>
                      <a:srgbClr val="F8F9FA"/>
                    </a:solidFill>
                  </a:tcPr>
                </a:tc>
                <a:extLst>
                  <a:ext uri="{0D108BD9-81ED-4DB2-BD59-A6C34878D82A}">
                    <a16:rowId xmlns:a16="http://schemas.microsoft.com/office/drawing/2014/main" val="10002"/>
                  </a:ext>
                </a:extLst>
              </a:tr>
              <a:tr h="731520">
                <a:tc>
                  <a:txBody>
                    <a:bodyPr/>
                    <a:lstStyle/>
                    <a:p>
                      <a:pPr algn="l">
                        <a:defRPr sz="1000">
                          <a:solidFill>
                            <a:srgbClr val="1A1A1A"/>
                          </a:solidFill>
                          <a:latin typeface="Bookman Old Style"/>
                        </a:defRPr>
                      </a:pPr>
                      <a:r>
                        <a:rPr sz="1000">
                          <a:latin typeface="Bookman Old Style" panose="02050604050505020204" pitchFamily="18" charset="0"/>
                        </a:rPr>
                        <a:t>API Smoke &amp; Contract Tests</a:t>
                      </a:r>
                    </a:p>
                  </a:txBody>
                  <a:tcPr anchor="ctr">
                    <a:solidFill>
                      <a:srgbClr val="FFFFFF"/>
                    </a:solidFill>
                  </a:tcPr>
                </a:tc>
                <a:tc>
                  <a:txBody>
                    <a:bodyPr/>
                    <a:lstStyle/>
                    <a:p>
                      <a:pPr algn="ctr">
                        <a:defRPr sz="1000">
                          <a:solidFill>
                            <a:srgbClr val="1A1A1A"/>
                          </a:solidFill>
                          <a:latin typeface="Bookman Old Style"/>
                        </a:defRPr>
                      </a:pPr>
                      <a:r>
                        <a:rPr sz="1000">
                          <a:latin typeface="Bookman Old Style" panose="02050604050505020204" pitchFamily="18" charset="0"/>
                        </a:rPr>
                        <a:t>9 Endpoints (FastAPI)</a:t>
                      </a:r>
                    </a:p>
                  </a:txBody>
                  <a:tcPr anchor="ctr">
                    <a:solidFill>
                      <a:srgbClr val="FFFFFF"/>
                    </a:solidFill>
                  </a:tcPr>
                </a:tc>
                <a:tc>
                  <a:txBody>
                    <a:bodyPr/>
                    <a:lstStyle/>
                    <a:p>
                      <a:pPr algn="l">
                        <a:defRPr sz="1000">
                          <a:solidFill>
                            <a:srgbClr val="1A1A1A"/>
                          </a:solidFill>
                          <a:latin typeface="Bookman Old Style"/>
                        </a:defRPr>
                      </a:pPr>
                      <a:r>
                        <a:rPr sz="1000">
                          <a:latin typeface="Bookman Old Style" panose="02050604050505020204" pitchFamily="18" charset="0"/>
                        </a:rPr>
                        <a:t>Health, overview, dataset (Tomato=743), schema, OLAP SQL, clustering, rules, analyze</a:t>
                      </a:r>
                    </a:p>
                  </a:txBody>
                  <a:tcPr anchor="ctr">
                    <a:solidFill>
                      <a:srgbClr val="FFFFFF"/>
                    </a:solidFill>
                  </a:tcPr>
                </a:tc>
                <a:tc>
                  <a:txBody>
                    <a:bodyPr/>
                    <a:lstStyle/>
                    <a:p>
                      <a:r>
                        <a:rPr sz="1000">
                          <a:latin typeface="Bookman Old Style" panose="02050604050505020204" pitchFamily="18" charset="0"/>
                        </a:rPr>
                        <a:t>9 / 9 Live Endpoints 200 OK; Zero HTTP 500 exceptions</a:t>
                      </a:r>
                    </a:p>
                  </a:txBody>
                  <a:tcPr anchor="ctr">
                    <a:solidFill>
                      <a:srgbClr val="FFFFFF"/>
                    </a:solidFill>
                  </a:tcPr>
                </a:tc>
                <a:extLst>
                  <a:ext uri="{0D108BD9-81ED-4DB2-BD59-A6C34878D82A}">
                    <a16:rowId xmlns:a16="http://schemas.microsoft.com/office/drawing/2014/main" val="10003"/>
                  </a:ext>
                </a:extLst>
              </a:tr>
              <a:tr h="731520">
                <a:tc>
                  <a:txBody>
                    <a:bodyPr/>
                    <a:lstStyle/>
                    <a:p>
                      <a:pPr algn="l">
                        <a:defRPr sz="1000">
                          <a:solidFill>
                            <a:srgbClr val="1A1A1A"/>
                          </a:solidFill>
                          <a:latin typeface="Bookman Old Style"/>
                        </a:defRPr>
                      </a:pPr>
                      <a:r>
                        <a:rPr sz="1000">
                          <a:latin typeface="Bookman Old Style" panose="02050604050505020204" pitchFamily="18" charset="0"/>
                        </a:rPr>
                        <a:t>Production Build Compilation</a:t>
                      </a:r>
                    </a:p>
                  </a:txBody>
                  <a:tcPr anchor="ctr">
                    <a:solidFill>
                      <a:srgbClr val="F8F9FA"/>
                    </a:solidFill>
                  </a:tcPr>
                </a:tc>
                <a:tc>
                  <a:txBody>
                    <a:bodyPr/>
                    <a:lstStyle/>
                    <a:p>
                      <a:pPr algn="ctr">
                        <a:defRPr sz="1000">
                          <a:solidFill>
                            <a:srgbClr val="1A1A1A"/>
                          </a:solidFill>
                          <a:latin typeface="Bookman Old Style"/>
                        </a:defRPr>
                      </a:pPr>
                      <a:r>
                        <a:rPr sz="1000">
                          <a:latin typeface="Bookman Old Style" panose="02050604050505020204" pitchFamily="18" charset="0"/>
                        </a:rPr>
                        <a:t>Vite + TypeScript</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Full production bundle compilation (tsc -b &amp;&amp; vite build) of 31 modules</a:t>
                      </a:r>
                    </a:p>
                  </a:txBody>
                  <a:tcPr anchor="ctr">
                    <a:solidFill>
                      <a:srgbClr val="F8F9FA"/>
                    </a:solidFill>
                  </a:tcPr>
                </a:tc>
                <a:tc>
                  <a:txBody>
                    <a:bodyPr/>
                    <a:lstStyle/>
                    <a:p>
                      <a:r>
                        <a:rPr sz="1000" dirty="0">
                          <a:latin typeface="Bookman Old Style" panose="02050604050505020204" pitchFamily="18" charset="0"/>
                        </a:rPr>
                        <a:t>Built in 201ms (0 errors); Assets: CSS (39.2 kB), JS (370.2 kB)</a:t>
                      </a:r>
                    </a:p>
                  </a:txBody>
                  <a:tcPr anchor="ctr">
                    <a:solidFill>
                      <a:srgbClr val="F8F9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System Performance: Software &amp; Mining Telemetry</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22 / 24</a:t>
            </a:r>
          </a:p>
        </p:txBody>
      </p:sp>
      <p:graphicFrame>
        <p:nvGraphicFramePr>
          <p:cNvPr id="7" name="Table 6"/>
          <p:cNvGraphicFramePr>
            <a:graphicFrameLocks noGrp="1"/>
          </p:cNvGraphicFramePr>
          <p:nvPr>
            <p:extLst>
              <p:ext uri="{D42A27DB-BD31-4B8C-83A1-F6EECF244321}">
                <p14:modId xmlns:p14="http://schemas.microsoft.com/office/powerpoint/2010/main" val="2541622447"/>
              </p:ext>
            </p:extLst>
          </p:nvPr>
        </p:nvGraphicFramePr>
        <p:xfrm>
          <a:off x="731520" y="1371600"/>
          <a:ext cx="10728655" cy="47548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679268">
                <a:tc>
                  <a:txBody>
                    <a:bodyPr/>
                    <a:lstStyle/>
                    <a:p>
                      <a:pPr algn="ctr">
                        <a:defRPr sz="1100" b="1">
                          <a:solidFill>
                            <a:srgbClr val="FFFFFF"/>
                          </a:solidFill>
                          <a:latin typeface="Bookman Old Style"/>
                        </a:defRPr>
                      </a:pPr>
                      <a:r>
                        <a:rPr sz="1050" dirty="0">
                          <a:latin typeface="Bookman Old Style" panose="02050604050505020204" pitchFamily="18" charset="0"/>
                        </a:rPr>
                        <a:t>Performance Benchmark</a:t>
                      </a:r>
                    </a:p>
                  </a:txBody>
                  <a:tcPr anchor="ctr">
                    <a:solidFill>
                      <a:srgbClr val="1B4332"/>
                    </a:solidFill>
                  </a:tcPr>
                </a:tc>
                <a:tc>
                  <a:txBody>
                    <a:bodyPr/>
                    <a:lstStyle/>
                    <a:p>
                      <a:pPr algn="ctr">
                        <a:defRPr sz="1100" b="1">
                          <a:solidFill>
                            <a:srgbClr val="FFFFFF"/>
                          </a:solidFill>
                          <a:latin typeface="Bookman Old Style"/>
                        </a:defRPr>
                      </a:pPr>
                      <a:r>
                        <a:rPr sz="1050" dirty="0">
                          <a:latin typeface="Bookman Old Style" panose="02050604050505020204" pitchFamily="18" charset="0"/>
                        </a:rPr>
                        <a:t>Measured Telemetry</a:t>
                      </a:r>
                    </a:p>
                  </a:txBody>
                  <a:tcPr anchor="ctr">
                    <a:solidFill>
                      <a:srgbClr val="1B4332"/>
                    </a:solidFill>
                  </a:tcPr>
                </a:tc>
                <a:tc>
                  <a:txBody>
                    <a:bodyPr/>
                    <a:lstStyle/>
                    <a:p>
                      <a:pPr algn="ctr">
                        <a:defRPr sz="1100" b="1">
                          <a:solidFill>
                            <a:srgbClr val="FFFFFF"/>
                          </a:solidFill>
                          <a:latin typeface="Bookman Old Style"/>
                        </a:defRPr>
                      </a:pPr>
                      <a:r>
                        <a:rPr sz="1050" dirty="0">
                          <a:latin typeface="Bookman Old Style" panose="02050604050505020204" pitchFamily="18" charset="0"/>
                        </a:rPr>
                        <a:t>Measurement Environment &amp; Scope</a:t>
                      </a:r>
                    </a:p>
                  </a:txBody>
                  <a:tcPr anchor="ctr">
                    <a:solidFill>
                      <a:srgbClr val="1B4332"/>
                    </a:solidFill>
                  </a:tcPr>
                </a:tc>
                <a:tc>
                  <a:txBody>
                    <a:bodyPr/>
                    <a:lstStyle/>
                    <a:p>
                      <a:pPr algn="ctr">
                        <a:defRPr sz="1100" b="1">
                          <a:solidFill>
                            <a:srgbClr val="FFFFFF"/>
                          </a:solidFill>
                          <a:latin typeface="Bookman Old Style"/>
                        </a:defRPr>
                      </a:pPr>
                      <a:r>
                        <a:rPr sz="1050" dirty="0">
                          <a:latin typeface="Bookman Old Style" panose="02050604050505020204" pitchFamily="18" charset="0"/>
                        </a:rPr>
                        <a:t>Evaluation Assessment</a:t>
                      </a:r>
                    </a:p>
                  </a:txBody>
                  <a:tcPr anchor="ctr">
                    <a:solidFill>
                      <a:srgbClr val="1B4332"/>
                    </a:solidFill>
                  </a:tcPr>
                </a:tc>
                <a:extLst>
                  <a:ext uri="{0D108BD9-81ED-4DB2-BD59-A6C34878D82A}">
                    <a16:rowId xmlns:a16="http://schemas.microsoft.com/office/drawing/2014/main" val="10000"/>
                  </a:ext>
                </a:extLst>
              </a:tr>
              <a:tr h="679268">
                <a:tc>
                  <a:txBody>
                    <a:bodyPr/>
                    <a:lstStyle/>
                    <a:p>
                      <a:pPr algn="l">
                        <a:defRPr sz="1000">
                          <a:solidFill>
                            <a:srgbClr val="1A1A1A"/>
                          </a:solidFill>
                          <a:latin typeface="Bookman Old Style"/>
                        </a:defRPr>
                      </a:pPr>
                      <a:r>
                        <a:rPr sz="1000" dirty="0">
                          <a:latin typeface="Bookman Old Style" panose="02050604050505020204" pitchFamily="18" charset="0"/>
                        </a:rPr>
                        <a:t>OLAP Analytical Query Latency</a:t>
                      </a:r>
                    </a:p>
                  </a:txBody>
                  <a:tcPr anchor="ctr">
                    <a:solidFill>
                      <a:srgbClr val="FFFFFF"/>
                    </a:solidFill>
                  </a:tcPr>
                </a:tc>
                <a:tc>
                  <a:txBody>
                    <a:bodyPr/>
                    <a:lstStyle/>
                    <a:p>
                      <a:r>
                        <a:rPr sz="1000">
                          <a:latin typeface="Bookman Old Style" panose="02050604050505020204" pitchFamily="18" charset="0"/>
                        </a:rPr>
                        <a:t>1.5 ms – 14.1 ms per query</a:t>
                      </a:r>
                    </a:p>
                  </a:txBody>
                  <a:tcPr anchor="ctr">
                    <a:solidFill>
                      <a:srgbClr val="FFFFFF"/>
                    </a:solidFill>
                  </a:tcPr>
                </a:tc>
                <a:tc>
                  <a:txBody>
                    <a:bodyPr/>
                    <a:lstStyle/>
                    <a:p>
                      <a:r>
                        <a:rPr sz="1000">
                          <a:latin typeface="Bookman Old Style" panose="02050604050505020204" pitchFamily="18" charset="0"/>
                        </a:rPr>
                        <a:t>Roll-up: 14.12ms (2,596 rows); Drill-down: 2.21ms; Slice: 1.56ms; Dice: 1.54ms; Pivot: 2.15ms</a:t>
                      </a:r>
                    </a:p>
                  </a:txBody>
                  <a:tcPr anchor="ctr">
                    <a:solidFill>
                      <a:srgbClr val="FFFFFF"/>
                    </a:solidFill>
                  </a:tcPr>
                </a:tc>
                <a:tc>
                  <a:txBody>
                    <a:bodyPr/>
                    <a:lstStyle/>
                    <a:p>
                      <a:pPr algn="l">
                        <a:defRPr sz="1000">
                          <a:solidFill>
                            <a:srgbClr val="1A1A1A"/>
                          </a:solidFill>
                          <a:latin typeface="Bookman Old Style"/>
                        </a:defRPr>
                      </a:pPr>
                      <a:r>
                        <a:rPr sz="1000">
                          <a:latin typeface="Bookman Old Style" panose="02050604050505020204" pitchFamily="18" charset="0"/>
                        </a:rPr>
                        <a:t>Real-time interactive dashboard responsiveness</a:t>
                      </a:r>
                    </a:p>
                  </a:txBody>
                  <a:tcPr anchor="ctr">
                    <a:solidFill>
                      <a:srgbClr val="FFFFFF"/>
                    </a:solidFill>
                  </a:tcPr>
                </a:tc>
                <a:extLst>
                  <a:ext uri="{0D108BD9-81ED-4DB2-BD59-A6C34878D82A}">
                    <a16:rowId xmlns:a16="http://schemas.microsoft.com/office/drawing/2014/main" val="10001"/>
                  </a:ext>
                </a:extLst>
              </a:tr>
              <a:tr h="679268">
                <a:tc>
                  <a:txBody>
                    <a:bodyPr/>
                    <a:lstStyle/>
                    <a:p>
                      <a:pPr algn="l">
                        <a:defRPr sz="1000">
                          <a:solidFill>
                            <a:srgbClr val="1A1A1A"/>
                          </a:solidFill>
                          <a:latin typeface="Bookman Old Style"/>
                        </a:defRPr>
                      </a:pPr>
                      <a:r>
                        <a:rPr sz="1000">
                          <a:latin typeface="Bookman Old Style" panose="02050604050505020204" pitchFamily="18" charset="0"/>
                        </a:rPr>
                        <a:t>Single-Image Extraction Latency</a:t>
                      </a:r>
                    </a:p>
                  </a:txBody>
                  <a:tcPr anchor="ctr">
                    <a:solidFill>
                      <a:srgbClr val="F8F9FA"/>
                    </a:solidFill>
                  </a:tcPr>
                </a:tc>
                <a:tc>
                  <a:txBody>
                    <a:bodyPr/>
                    <a:lstStyle/>
                    <a:p>
                      <a:r>
                        <a:rPr sz="1000">
                          <a:latin typeface="Bookman Old Style" panose="02050604050505020204" pitchFamily="18" charset="0"/>
                        </a:rPr>
                        <a:t>~150 ms per image</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In-memory decoding, 256x256 resizing, 32 continuous descriptors extracted</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Rapid feedback loop for live specimen workbench</a:t>
                      </a:r>
                    </a:p>
                  </a:txBody>
                  <a:tcPr anchor="ctr">
                    <a:solidFill>
                      <a:srgbClr val="F8F9FA"/>
                    </a:solidFill>
                  </a:tcPr>
                </a:tc>
                <a:extLst>
                  <a:ext uri="{0D108BD9-81ED-4DB2-BD59-A6C34878D82A}">
                    <a16:rowId xmlns:a16="http://schemas.microsoft.com/office/drawing/2014/main" val="10002"/>
                  </a:ext>
                </a:extLst>
              </a:tr>
              <a:tr h="679268">
                <a:tc>
                  <a:txBody>
                    <a:bodyPr/>
                    <a:lstStyle/>
                    <a:p>
                      <a:pPr algn="l">
                        <a:defRPr sz="1000">
                          <a:solidFill>
                            <a:srgbClr val="1A1A1A"/>
                          </a:solidFill>
                          <a:latin typeface="Bookman Old Style"/>
                        </a:defRPr>
                      </a:pPr>
                      <a:r>
                        <a:rPr sz="1000">
                          <a:latin typeface="Bookman Old Style" panose="02050604050505020204" pitchFamily="18" charset="0"/>
                        </a:rPr>
                        <a:t>K-Means Clustering Runtime</a:t>
                      </a:r>
                    </a:p>
                  </a:txBody>
                  <a:tcPr anchor="ctr">
                    <a:solidFill>
                      <a:srgbClr val="FFFFFF"/>
                    </a:solidFill>
                  </a:tcPr>
                </a:tc>
                <a:tc>
                  <a:txBody>
                    <a:bodyPr/>
                    <a:lstStyle/>
                    <a:p>
                      <a:r>
                        <a:rPr sz="1000">
                          <a:latin typeface="Bookman Old Style" panose="02050604050505020204" pitchFamily="18" charset="0"/>
                        </a:rPr>
                        <a:t>0.085 seconds</a:t>
                      </a:r>
                    </a:p>
                  </a:txBody>
                  <a:tcPr anchor="ctr">
                    <a:solidFill>
                      <a:srgbClr val="FFFFFF"/>
                    </a:solidFill>
                  </a:tcPr>
                </a:tc>
                <a:tc>
                  <a:txBody>
                    <a:bodyPr/>
                    <a:lstStyle/>
                    <a:p>
                      <a:pPr algn="l">
                        <a:defRPr sz="1000">
                          <a:solidFill>
                            <a:srgbClr val="1A1A1A"/>
                          </a:solidFill>
                          <a:latin typeface="Bookman Old Style"/>
                        </a:defRPr>
                      </a:pPr>
                      <a:r>
                        <a:rPr sz="1000">
                          <a:latin typeface="Bookman Old Style" panose="02050604050505020204" pitchFamily="18" charset="0"/>
                        </a:rPr>
                        <a:t>Scikit-learn K-Means on 2,596 x 32 standardized matrix (K=2 to 8)</a:t>
                      </a:r>
                    </a:p>
                  </a:txBody>
                  <a:tcPr anchor="ctr">
                    <a:solidFill>
                      <a:srgbClr val="FFFFFF"/>
                    </a:solidFill>
                  </a:tcPr>
                </a:tc>
                <a:tc>
                  <a:txBody>
                    <a:bodyPr/>
                    <a:lstStyle/>
                    <a:p>
                      <a:pPr algn="l">
                        <a:defRPr sz="1000">
                          <a:solidFill>
                            <a:srgbClr val="1A1A1A"/>
                          </a:solidFill>
                          <a:latin typeface="Bookman Old Style"/>
                        </a:defRPr>
                      </a:pPr>
                      <a:r>
                        <a:rPr sz="1000">
                          <a:latin typeface="Bookman Old Style" panose="02050604050505020204" pitchFamily="18" charset="0"/>
                        </a:rPr>
                        <a:t>Fast retrainability and parameter tuning</a:t>
                      </a:r>
                    </a:p>
                  </a:txBody>
                  <a:tcPr anchor="ctr">
                    <a:solidFill>
                      <a:srgbClr val="FFFFFF"/>
                    </a:solidFill>
                  </a:tcPr>
                </a:tc>
                <a:extLst>
                  <a:ext uri="{0D108BD9-81ED-4DB2-BD59-A6C34878D82A}">
                    <a16:rowId xmlns:a16="http://schemas.microsoft.com/office/drawing/2014/main" val="10003"/>
                  </a:ext>
                </a:extLst>
              </a:tr>
              <a:tr h="679268">
                <a:tc>
                  <a:txBody>
                    <a:bodyPr/>
                    <a:lstStyle/>
                    <a:p>
                      <a:pPr algn="l">
                        <a:defRPr sz="1000">
                          <a:solidFill>
                            <a:srgbClr val="1A1A1A"/>
                          </a:solidFill>
                          <a:latin typeface="Bookman Old Style"/>
                        </a:defRPr>
                      </a:pPr>
                      <a:r>
                        <a:rPr sz="1000">
                          <a:latin typeface="Bookman Old Style" panose="02050604050505020204" pitchFamily="18" charset="0"/>
                        </a:rPr>
                        <a:t>Frequent Pattern Mining Runtime</a:t>
                      </a:r>
                    </a:p>
                  </a:txBody>
                  <a:tcPr anchor="ctr">
                    <a:solidFill>
                      <a:srgbClr val="F8F9FA"/>
                    </a:solidFill>
                  </a:tcPr>
                </a:tc>
                <a:tc>
                  <a:txBody>
                    <a:bodyPr/>
                    <a:lstStyle/>
                    <a:p>
                      <a:pPr algn="ctr">
                        <a:defRPr sz="1000">
                          <a:solidFill>
                            <a:srgbClr val="1A1A1A"/>
                          </a:solidFill>
                          <a:latin typeface="Bookman Old Style"/>
                        </a:defRPr>
                      </a:pPr>
                      <a:r>
                        <a:rPr sz="1000">
                          <a:latin typeface="Bookman Old Style" panose="02050604050505020204" pitchFamily="18" charset="0"/>
                        </a:rPr>
                        <a:t>FP-Growth: 0.066s</a:t>
                      </a:r>
                      <a:br>
                        <a:rPr sz="1000">
                          <a:latin typeface="Bookman Old Style" panose="02050604050505020204" pitchFamily="18" charset="0"/>
                        </a:rPr>
                      </a:br>
                      <a:r>
                        <a:rPr sz="1000">
                          <a:latin typeface="Bookman Old Style" panose="02050604050505020204" pitchFamily="18" charset="0"/>
                        </a:rPr>
                        <a:t>Apriori: 0.012s</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12 discretized features, min_support=0.15, min_confidence=0.60 (880 rules)</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Sub-second execution; exact metric parity</a:t>
                      </a:r>
                    </a:p>
                  </a:txBody>
                  <a:tcPr anchor="ctr">
                    <a:solidFill>
                      <a:srgbClr val="F8F9FA"/>
                    </a:solidFill>
                  </a:tcPr>
                </a:tc>
                <a:extLst>
                  <a:ext uri="{0D108BD9-81ED-4DB2-BD59-A6C34878D82A}">
                    <a16:rowId xmlns:a16="http://schemas.microsoft.com/office/drawing/2014/main" val="10004"/>
                  </a:ext>
                </a:extLst>
              </a:tr>
              <a:tr h="679268">
                <a:tc>
                  <a:txBody>
                    <a:bodyPr/>
                    <a:lstStyle/>
                    <a:p>
                      <a:pPr algn="l">
                        <a:defRPr sz="1000">
                          <a:solidFill>
                            <a:srgbClr val="1A1A1A"/>
                          </a:solidFill>
                          <a:latin typeface="Bookman Old Style"/>
                        </a:defRPr>
                      </a:pPr>
                      <a:r>
                        <a:rPr sz="1000">
                          <a:latin typeface="Bookman Old Style" panose="02050604050505020204" pitchFamily="18" charset="0"/>
                        </a:rPr>
                        <a:t>Complete Test Suite Execution</a:t>
                      </a:r>
                    </a:p>
                  </a:txBody>
                  <a:tcPr anchor="ctr">
                    <a:solidFill>
                      <a:srgbClr val="FFFFFF"/>
                    </a:solidFill>
                  </a:tcPr>
                </a:tc>
                <a:tc>
                  <a:txBody>
                    <a:bodyPr/>
                    <a:lstStyle/>
                    <a:p>
                      <a:r>
                        <a:rPr sz="1000">
                          <a:latin typeface="Bookman Old Style" panose="02050604050505020204" pitchFamily="18" charset="0"/>
                        </a:rPr>
                        <a:t>41.18 seconds</a:t>
                      </a:r>
                    </a:p>
                  </a:txBody>
                  <a:tcPr anchor="ctr">
                    <a:solidFill>
                      <a:srgbClr val="FFFFFF"/>
                    </a:solidFill>
                  </a:tcPr>
                </a:tc>
                <a:tc>
                  <a:txBody>
                    <a:bodyPr/>
                    <a:lstStyle/>
                    <a:p>
                      <a:r>
                        <a:rPr sz="1000">
                          <a:latin typeface="Bookman Old Style" panose="02050604050505020204" pitchFamily="18" charset="0"/>
                        </a:rPr>
                        <a:t>104 automated tests (94 unit/integration + 10 Playwright browser tests)</a:t>
                      </a:r>
                    </a:p>
                  </a:txBody>
                  <a:tcPr anchor="ctr">
                    <a:solidFill>
                      <a:srgbClr val="FFFFFF"/>
                    </a:solidFill>
                  </a:tcPr>
                </a:tc>
                <a:tc>
                  <a:txBody>
                    <a:bodyPr/>
                    <a:lstStyle/>
                    <a:p>
                      <a:pPr algn="l">
                        <a:defRPr sz="1000">
                          <a:solidFill>
                            <a:srgbClr val="1A1A1A"/>
                          </a:solidFill>
                          <a:latin typeface="Bookman Old Style"/>
                        </a:defRPr>
                      </a:pPr>
                      <a:r>
                        <a:rPr sz="1000">
                          <a:latin typeface="Bookman Old Style" panose="02050604050505020204" pitchFamily="18" charset="0"/>
                        </a:rPr>
                        <a:t>CI/CD-ready rapid verification cycle</a:t>
                      </a:r>
                    </a:p>
                  </a:txBody>
                  <a:tcPr anchor="ctr">
                    <a:solidFill>
                      <a:srgbClr val="FFFFFF"/>
                    </a:solidFill>
                  </a:tcPr>
                </a:tc>
                <a:extLst>
                  <a:ext uri="{0D108BD9-81ED-4DB2-BD59-A6C34878D82A}">
                    <a16:rowId xmlns:a16="http://schemas.microsoft.com/office/drawing/2014/main" val="10005"/>
                  </a:ext>
                </a:extLst>
              </a:tr>
              <a:tr h="679272">
                <a:tc>
                  <a:txBody>
                    <a:bodyPr/>
                    <a:lstStyle/>
                    <a:p>
                      <a:pPr algn="l">
                        <a:defRPr sz="1000">
                          <a:solidFill>
                            <a:srgbClr val="1A1A1A"/>
                          </a:solidFill>
                          <a:latin typeface="Bookman Old Style"/>
                        </a:defRPr>
                      </a:pPr>
                      <a:r>
                        <a:rPr sz="1000">
                          <a:latin typeface="Bookman Old Style" panose="02050604050505020204" pitchFamily="18" charset="0"/>
                        </a:rPr>
                        <a:t>Supervised Classification Accuracy</a:t>
                      </a:r>
                    </a:p>
                  </a:txBody>
                  <a:tcPr anchor="ctr">
                    <a:solidFill>
                      <a:srgbClr val="F8F9FA"/>
                    </a:solidFill>
                  </a:tcPr>
                </a:tc>
                <a:tc>
                  <a:txBody>
                    <a:bodyPr/>
                    <a:lstStyle/>
                    <a:p>
                      <a:pPr algn="ctr">
                        <a:defRPr sz="1000">
                          <a:solidFill>
                            <a:srgbClr val="1A1A1A"/>
                          </a:solidFill>
                          <a:latin typeface="Bookman Old Style"/>
                        </a:defRPr>
                      </a:pPr>
                      <a:r>
                        <a:rPr sz="1000">
                          <a:latin typeface="Bookman Old Style" panose="02050604050505020204" pitchFamily="18" charset="0"/>
                        </a:rPr>
                        <a:t>NOT REPORTED</a:t>
                      </a:r>
                      <a:br>
                        <a:rPr sz="1000">
                          <a:latin typeface="Bookman Old Style" panose="02050604050505020204" pitchFamily="18" charset="0"/>
                        </a:rPr>
                      </a:br>
                      <a:r>
                        <a:rPr sz="1000">
                          <a:latin typeface="Bookman Old Style" panose="02050604050505020204" pitchFamily="18" charset="0"/>
                        </a:rPr>
                        <a:t>(Scientifically Unsupported)</a:t>
                      </a:r>
                    </a:p>
                  </a:txBody>
                  <a:tcPr anchor="ctr">
                    <a:solidFill>
                      <a:srgbClr val="F8F9FA"/>
                    </a:solidFill>
                  </a:tcPr>
                </a:tc>
                <a:tc>
                  <a:txBody>
                    <a:bodyPr/>
                    <a:lstStyle/>
                    <a:p>
                      <a:pPr algn="l">
                        <a:defRPr sz="1000">
                          <a:solidFill>
                            <a:srgbClr val="1A1A1A"/>
                          </a:solidFill>
                          <a:latin typeface="Bookman Old Style"/>
                        </a:defRPr>
                      </a:pPr>
                      <a:r>
                        <a:rPr sz="1000">
                          <a:latin typeface="Bookman Old Style" panose="02050604050505020204" pitchFamily="18" charset="0"/>
                        </a:rPr>
                        <a:t>Formal feasibility audit: dataset exhibits severe taxonomic confounding and imbalance</a:t>
                      </a:r>
                    </a:p>
                  </a:txBody>
                  <a:tcPr anchor="ctr">
                    <a:solidFill>
                      <a:srgbClr val="F8F9FA"/>
                    </a:solidFill>
                  </a:tcPr>
                </a:tc>
                <a:tc>
                  <a:txBody>
                    <a:bodyPr/>
                    <a:lstStyle/>
                    <a:p>
                      <a:pPr algn="l">
                        <a:defRPr sz="1000">
                          <a:solidFill>
                            <a:srgbClr val="1A1A1A"/>
                          </a:solidFill>
                          <a:latin typeface="Bookman Old Style"/>
                        </a:defRPr>
                      </a:pPr>
                      <a:r>
                        <a:rPr sz="1000" dirty="0">
                          <a:latin typeface="Bookman Old Style" panose="02050604050505020204" pitchFamily="18" charset="0"/>
                        </a:rPr>
                        <a:t>Honest academic stance: visual pattern mining retained</a:t>
                      </a:r>
                    </a:p>
                  </a:txBody>
                  <a:tcPr anchor="ctr">
                    <a:solidFill>
                      <a:srgbClr val="F8F9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Impact, Feasibility Evaluation &amp; Scientific Scope</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23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800"/>
              </a:spcAft>
              <a:defRPr sz="1300" b="1">
                <a:solidFill>
                  <a:srgbClr val="1B4332"/>
                </a:solidFill>
                <a:latin typeface="Bookman Old Style"/>
              </a:defRPr>
            </a:pPr>
            <a:r>
              <a:t>PRACTICAL VALUE &amp; USE CASES</a:t>
            </a:r>
          </a:p>
          <a:p>
            <a:pPr>
              <a:spcAft>
                <a:spcPts val="600"/>
              </a:spcAft>
            </a:pPr>
            <a:r>
              <a:rPr sz="1200" b="1">
                <a:solidFill>
                  <a:srgbClr val="1B4332"/>
                </a:solidFill>
                <a:latin typeface="Bookman Old Style"/>
              </a:rPr>
              <a:t>• Research Image Cataloging: </a:t>
            </a:r>
            <a:r>
              <a:rPr sz="1200">
                <a:solidFill>
                  <a:srgbClr val="1A1A1A"/>
                </a:solidFill>
                <a:latin typeface="Bookman Old Style"/>
              </a:rPr>
              <a:t>Provides agricultural extension services and universities with a structured Kimball warehouse for multimodal image collections.</a:t>
            </a:r>
          </a:p>
          <a:p>
            <a:pPr>
              <a:spcAft>
                <a:spcPts val="600"/>
              </a:spcAft>
            </a:pPr>
            <a:r>
              <a:rPr sz="1200" b="1">
                <a:solidFill>
                  <a:srgbClr val="1B4332"/>
                </a:solidFill>
                <a:latin typeface="Bookman Old Style"/>
              </a:rPr>
              <a:t>• Quality Assurance for Agronomic Datasets: </a:t>
            </a:r>
            <a:r>
              <a:rPr sz="1200">
                <a:solidFill>
                  <a:srgbClr val="1A1A1A"/>
                </a:solidFill>
                <a:latin typeface="Bookman Old Style"/>
              </a:rPr>
              <a:t>Automated quality gates prevent corrupt, distorted, or duplicate images from contaminating research archives.</a:t>
            </a:r>
          </a:p>
          <a:p>
            <a:pPr>
              <a:spcAft>
                <a:spcPts val="600"/>
              </a:spcAft>
            </a:pPr>
            <a:r>
              <a:rPr sz="1200" b="1">
                <a:solidFill>
                  <a:srgbClr val="1B4332"/>
                </a:solidFill>
                <a:latin typeface="Bookman Old Style"/>
              </a:rPr>
              <a:t>• Multi-Angle OLAP Slicing: </a:t>
            </a:r>
            <a:r>
              <a:rPr sz="1200">
                <a:solidFill>
                  <a:srgbClr val="1A1A1A"/>
                </a:solidFill>
                <a:latin typeface="Bookman Old Style"/>
              </a:rPr>
              <a:t>Allows researchers to query foliar severity distributions across botanical families, pathogen types, and acquisition settings.</a:t>
            </a:r>
          </a:p>
          <a:p>
            <a:pPr>
              <a:spcAft>
                <a:spcPts val="600"/>
              </a:spcAft>
            </a:pPr>
            <a:r>
              <a:rPr sz="1200" b="1">
                <a:solidFill>
                  <a:srgbClr val="1B4332"/>
                </a:solidFill>
                <a:latin typeface="Bookman Old Style"/>
              </a:rPr>
              <a:t>• Reference Specimen Retrieval: </a:t>
            </a:r>
            <a:r>
              <a:rPr sz="1200">
                <a:solidFill>
                  <a:srgbClr val="1A1A1A"/>
                </a:solidFill>
                <a:latin typeface="Bookman Old Style"/>
              </a:rPr>
              <a:t>Enables field workers to retrieve visually similar historical specimens with transparent 32D distance metrics.</a:t>
            </a:r>
          </a:p>
        </p:txBody>
      </p:sp>
      <p:sp>
        <p:nvSpPr>
          <p:cNvPr id="9" name="Rounded Rectangle 8"/>
          <p:cNvSpPr/>
          <p:nvPr/>
        </p:nvSpPr>
        <p:spPr>
          <a:xfrm>
            <a:off x="6217920" y="1371600"/>
            <a:ext cx="5242255" cy="47548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800"/>
              </a:spcAft>
              <a:defRPr sz="1200" b="1">
                <a:solidFill>
                  <a:srgbClr val="1B4332"/>
                </a:solidFill>
                <a:latin typeface="Bookman Old Style"/>
              </a:defRPr>
            </a:pPr>
            <a:r>
              <a:t>WHY SUPERVISED CLASSIFICATION IS UNSUPPORTED</a:t>
            </a:r>
          </a:p>
          <a:p>
            <a:pPr>
              <a:spcAft>
                <a:spcPts val="600"/>
              </a:spcAft>
            </a:pPr>
            <a:r>
              <a:rPr sz="1200" b="1">
                <a:solidFill>
                  <a:srgbClr val="1B4332"/>
                </a:solidFill>
                <a:latin typeface="Bookman Old Style"/>
              </a:rPr>
              <a:t>1. Taxonomic Shortcut Confounding: </a:t>
            </a:r>
            <a:r>
              <a:rPr sz="1200">
                <a:solidFill>
                  <a:srgbClr val="1A1A1A"/>
                </a:solidFill>
                <a:latin typeface="Bookman Old Style"/>
              </a:rPr>
              <a:t>7 crops are 100% healthy-only (Blueberry, Raspberry, Peach, Strawberry, Soybean, Cherry) and 1 crop is 100% diseased-only (Squash). Classifiers learn leaf morphology, NOT disease.</a:t>
            </a:r>
          </a:p>
          <a:p>
            <a:pPr>
              <a:spcAft>
                <a:spcPts val="600"/>
              </a:spcAft>
            </a:pPr>
            <a:r>
              <a:rPr sz="1200" b="1">
                <a:solidFill>
                  <a:srgbClr val="1B4332"/>
                </a:solidFill>
                <a:latin typeface="Bookman Old Style"/>
              </a:rPr>
              <a:t>2. Extreme Class Imbalance: </a:t>
            </a:r>
            <a:r>
              <a:rPr sz="1200">
                <a:solidFill>
                  <a:srgbClr val="1A1A1A"/>
                </a:solidFill>
                <a:latin typeface="Bookman Old Style"/>
              </a:rPr>
              <a:t>Support ranges from N=190 (Corn Blight) down to N=2 (Tomato Spider Mite). 8 classes have &lt;20 specimens, making stratified 3-way train/val/test splits statistically unviable.</a:t>
            </a:r>
          </a:p>
          <a:p>
            <a:pPr>
              <a:spcAft>
                <a:spcPts val="600"/>
              </a:spcAft>
            </a:pPr>
            <a:r>
              <a:rPr sz="1200" b="1">
                <a:solidFill>
                  <a:srgbClr val="1B4332"/>
                </a:solidFill>
                <a:latin typeface="Bookman Old Style"/>
              </a:rPr>
              <a:t>3. Cross-Source Domain Shift: </a:t>
            </a:r>
            <a:r>
              <a:rPr sz="1200">
                <a:solidFill>
                  <a:srgbClr val="1A1A1A"/>
                </a:solidFill>
                <a:latin typeface="Bookman Old Style"/>
              </a:rPr>
              <a:t>Rice (N=36) is from studio flatbed scanners (ICAR), while 2,560 images are in-field smartphone photos (PlantDoc). Sensor artifacts dominate visual features.</a:t>
            </a:r>
          </a:p>
          <a:p>
            <a:pPr>
              <a:spcAft>
                <a:spcPts val="600"/>
              </a:spcAft>
            </a:pPr>
            <a:r>
              <a:rPr sz="1200" b="1">
                <a:solidFill>
                  <a:srgbClr val="1B4332"/>
                </a:solidFill>
                <a:latin typeface="Bookman Old Style"/>
              </a:rPr>
              <a:t>4. Representational Limits: </a:t>
            </a:r>
            <a:r>
              <a:rPr sz="1200">
                <a:solidFill>
                  <a:srgbClr val="1A1A1A"/>
                </a:solidFill>
                <a:latin typeface="Bookman Old Style"/>
              </a:rPr>
              <a:t>Global color/texture moments lack localized spatial attention required for clinical pathology diagnosis.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D6A4F"/>
                </a:solidFill>
                <a:latin typeface="Bookman Old Style"/>
              </a:defRPr>
            </a:pPr>
            <a:r>
              <a:t>CSI3010: DATA WAREHOUSING &amp; DATA MINING</a:t>
            </a:r>
          </a:p>
        </p:txBody>
      </p:sp>
      <p:sp>
        <p:nvSpPr>
          <p:cNvPr id="3" name="TextBox 2"/>
          <p:cNvSpPr txBox="1"/>
          <p:nvPr/>
        </p:nvSpPr>
        <p:spPr>
          <a:xfrm>
            <a:off x="731520" y="658368"/>
            <a:ext cx="10728655" cy="548640"/>
          </a:xfrm>
          <a:prstGeom prst="rect">
            <a:avLst/>
          </a:prstGeom>
          <a:noFill/>
        </p:spPr>
        <p:txBody>
          <a:bodyPr wrap="square" lIns="0" tIns="0" rIns="0" bIns="0">
            <a:spAutoFit/>
          </a:bodyPr>
          <a:lstStyle/>
          <a:p>
            <a:pPr>
              <a:defRPr sz="2200" b="1">
                <a:solidFill>
                  <a:srgbClr val="1B4332"/>
                </a:solidFill>
                <a:latin typeface="Bookman Old Style"/>
              </a:defRPr>
            </a:pPr>
            <a:r>
              <a:t>Conclusion &amp; Live Demonstration Plan</a:t>
            </a:r>
          </a:p>
        </p:txBody>
      </p:sp>
      <p:sp>
        <p:nvSpPr>
          <p:cNvPr id="4" name="Rectangle 3"/>
          <p:cNvSpPr/>
          <p:nvPr/>
        </p:nvSpPr>
        <p:spPr>
          <a:xfrm>
            <a:off x="731520" y="6400800"/>
            <a:ext cx="10728655" cy="18288"/>
          </a:xfrm>
          <a:prstGeom prst="rect">
            <a:avLst/>
          </a:prstGeom>
          <a:solidFill>
            <a:srgbClr val="DCE1E6"/>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8229600" cy="274320"/>
          </a:xfrm>
          <a:prstGeom prst="rect">
            <a:avLst/>
          </a:prstGeom>
          <a:noFill/>
        </p:spPr>
        <p:txBody>
          <a:bodyPr wrap="square" lIns="0" tIns="0" rIns="0" bIns="0">
            <a:spAutoFit/>
          </a:bodyPr>
          <a:lstStyle/>
          <a:p>
            <a:pPr>
              <a:defRPr sz="950">
                <a:solidFill>
                  <a:srgbClr val="5A646E"/>
                </a:solidFill>
                <a:latin typeface="Bookman Old Style"/>
              </a:defRPr>
            </a:pPr>
            <a:r>
              <a:t>AgroVision-Mine: Multimodal Data Warehouse &amp; Visual Pattern Mining Framework</a:t>
            </a:r>
          </a:p>
        </p:txBody>
      </p:sp>
      <p:sp>
        <p:nvSpPr>
          <p:cNvPr id="6" name="TextBox 5"/>
          <p:cNvSpPr txBox="1"/>
          <p:nvPr/>
        </p:nvSpPr>
        <p:spPr>
          <a:xfrm>
            <a:off x="9601200" y="6446520"/>
            <a:ext cx="1858975" cy="274320"/>
          </a:xfrm>
          <a:prstGeom prst="rect">
            <a:avLst/>
          </a:prstGeom>
          <a:noFill/>
        </p:spPr>
        <p:txBody>
          <a:bodyPr wrap="square" lIns="0" tIns="0" rIns="0" bIns="0">
            <a:spAutoFit/>
          </a:bodyPr>
          <a:lstStyle/>
          <a:p>
            <a:pPr algn="r">
              <a:defRPr sz="950" b="1">
                <a:solidFill>
                  <a:srgbClr val="2D6A4F"/>
                </a:solidFill>
                <a:latin typeface="Bookman Old Style"/>
              </a:defRPr>
            </a:pPr>
            <a:r>
              <a:t>24 / 24</a:t>
            </a:r>
          </a:p>
        </p:txBody>
      </p:sp>
      <p:sp>
        <p:nvSpPr>
          <p:cNvPr id="7" name="Rounded Rectangle 6"/>
          <p:cNvSpPr/>
          <p:nvPr/>
        </p:nvSpPr>
        <p:spPr>
          <a:xfrm>
            <a:off x="731520" y="1371600"/>
            <a:ext cx="5212080" cy="47548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54480"/>
            <a:ext cx="4846320" cy="4389120"/>
          </a:xfrm>
          <a:prstGeom prst="rect">
            <a:avLst/>
          </a:prstGeom>
          <a:noFill/>
        </p:spPr>
        <p:txBody>
          <a:bodyPr wrap="square">
            <a:spAutoFit/>
          </a:bodyPr>
          <a:lstStyle/>
          <a:p>
            <a:pPr>
              <a:spcAft>
                <a:spcPts val="800"/>
              </a:spcAft>
              <a:defRPr sz="1300" b="1">
                <a:solidFill>
                  <a:srgbClr val="1B4332"/>
                </a:solidFill>
                <a:latin typeface="Bookman Old Style"/>
              </a:defRPr>
            </a:pPr>
            <a:r>
              <a:rPr dirty="0"/>
              <a:t>PROJECT CONTRIBUTIONS &amp; KEY TAKEAWAYS</a:t>
            </a:r>
          </a:p>
          <a:p>
            <a:pPr>
              <a:spcAft>
                <a:spcPts val="600"/>
              </a:spcAft>
            </a:pPr>
            <a:r>
              <a:rPr sz="1200" b="1" dirty="0">
                <a:solidFill>
                  <a:srgbClr val="1B4332"/>
                </a:solidFill>
                <a:latin typeface="Bookman Old Style"/>
              </a:rPr>
              <a:t>• Transformed Unstructured Images into Relational Warehouse: </a:t>
            </a:r>
            <a:r>
              <a:rPr sz="1200" dirty="0">
                <a:solidFill>
                  <a:srgbClr val="1A1A1A"/>
                </a:solidFill>
                <a:latin typeface="Bookman Old Style"/>
              </a:rPr>
              <a:t>Successfully integrated 2,596 multimodal observations into a Kimball Star Schema with ACID referential integrity.</a:t>
            </a:r>
          </a:p>
          <a:p>
            <a:pPr>
              <a:spcAft>
                <a:spcPts val="600"/>
              </a:spcAft>
            </a:pPr>
            <a:r>
              <a:rPr sz="1200" b="1" dirty="0">
                <a:solidFill>
                  <a:srgbClr val="1B4332"/>
                </a:solidFill>
                <a:latin typeface="Bookman Old Style"/>
              </a:rPr>
              <a:t>• Explainable Feature Engineering: </a:t>
            </a:r>
            <a:r>
              <a:rPr sz="1200" dirty="0">
                <a:solidFill>
                  <a:srgbClr val="1A1A1A"/>
                </a:solidFill>
                <a:latin typeface="Bookman Old Style"/>
              </a:rPr>
              <a:t>Replaced black-box embeddings with 32 transparent morphological, textural (GLCM), and color moment descriptors.</a:t>
            </a:r>
          </a:p>
          <a:p>
            <a:pPr>
              <a:spcAft>
                <a:spcPts val="600"/>
              </a:spcAft>
            </a:pPr>
            <a:r>
              <a:rPr sz="1200" b="1" dirty="0">
                <a:solidFill>
                  <a:srgbClr val="1B4332"/>
                </a:solidFill>
                <a:latin typeface="Bookman Old Style"/>
              </a:rPr>
              <a:t>• Dual-K Clustering &amp; Parity-Validated Rules: </a:t>
            </a:r>
            <a:r>
              <a:rPr sz="1200" dirty="0">
                <a:solidFill>
                  <a:srgbClr val="1A1A1A"/>
                </a:solidFill>
                <a:latin typeface="Bookman Old Style"/>
              </a:rPr>
              <a:t>Discovered robust visual clusters (K=2 Silhouette=0.4060) and 880 exact-parity association rules across FP-Growth and </a:t>
            </a:r>
            <a:r>
              <a:rPr sz="1200" dirty="0" err="1">
                <a:solidFill>
                  <a:srgbClr val="1A1A1A"/>
                </a:solidFill>
                <a:latin typeface="Bookman Old Style"/>
              </a:rPr>
              <a:t>Apriori</a:t>
            </a:r>
            <a:r>
              <a:rPr sz="1200" dirty="0">
                <a:solidFill>
                  <a:srgbClr val="1A1A1A"/>
                </a:solidFill>
                <a:latin typeface="Bookman Old Style"/>
              </a:rPr>
              <a:t>.</a:t>
            </a:r>
          </a:p>
          <a:p>
            <a:pPr>
              <a:spcAft>
                <a:spcPts val="600"/>
              </a:spcAft>
            </a:pPr>
            <a:r>
              <a:rPr sz="1200" b="1" dirty="0">
                <a:solidFill>
                  <a:srgbClr val="1B4332"/>
                </a:solidFill>
                <a:latin typeface="Bookman Old Style"/>
              </a:rPr>
              <a:t>• Methodological Honesty: </a:t>
            </a:r>
            <a:r>
              <a:rPr sz="1200" dirty="0">
                <a:solidFill>
                  <a:srgbClr val="1A1A1A"/>
                </a:solidFill>
                <a:latin typeface="Bookman Old Style"/>
              </a:rPr>
              <a:t>Transparently disclosed data sparsity and rejected unsupported disease classification claims in favor of verified pattern mining.</a:t>
            </a:r>
          </a:p>
        </p:txBody>
      </p:sp>
      <p:sp>
        <p:nvSpPr>
          <p:cNvPr id="9" name="Rounded Rectangle 8"/>
          <p:cNvSpPr/>
          <p:nvPr/>
        </p:nvSpPr>
        <p:spPr>
          <a:xfrm>
            <a:off x="6217920" y="1371600"/>
            <a:ext cx="5242255" cy="4754880"/>
          </a:xfrm>
          <a:prstGeom prst="roundRect">
            <a:avLst/>
          </a:prstGeom>
          <a:solidFill>
            <a:srgbClr val="D8F3DC"/>
          </a:solidFill>
          <a:ln w="12700">
            <a:solidFill>
              <a:srgbClr val="74C6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54480"/>
            <a:ext cx="4876495" cy="4389120"/>
          </a:xfrm>
          <a:prstGeom prst="rect">
            <a:avLst/>
          </a:prstGeom>
          <a:noFill/>
        </p:spPr>
        <p:txBody>
          <a:bodyPr wrap="square">
            <a:spAutoFit/>
          </a:bodyPr>
          <a:lstStyle/>
          <a:p>
            <a:pPr>
              <a:spcAft>
                <a:spcPts val="800"/>
              </a:spcAft>
              <a:defRPr sz="1300" b="1">
                <a:solidFill>
                  <a:srgbClr val="1B4332"/>
                </a:solidFill>
                <a:latin typeface="Bookman Old Style"/>
              </a:defRPr>
            </a:pPr>
            <a:r>
              <a:t>LIVE DEMONSTRATION WORKFLOW (VIVA ROADMAP)</a:t>
            </a:r>
          </a:p>
          <a:p>
            <a:pPr>
              <a:spcAft>
                <a:spcPts val="600"/>
              </a:spcAft>
            </a:pPr>
            <a:r>
              <a:rPr sz="1200" b="1">
                <a:solidFill>
                  <a:srgbClr val="1B4332"/>
                </a:solidFill>
                <a:latin typeface="Bookman Old Style"/>
              </a:rPr>
              <a:t>Step 1 — Overview &amp; Data Quality Gates: </a:t>
            </a:r>
            <a:r>
              <a:rPr sz="1200">
                <a:solidFill>
                  <a:srgbClr val="1A1A1A"/>
                </a:solidFill>
                <a:latin typeface="Bookman Old Style"/>
              </a:rPr>
              <a:t>Showcase live KPIs (2,596 specimens, 14 crops) and 5 automated quality gates (/overview, /data-quality).</a:t>
            </a:r>
          </a:p>
          <a:p>
            <a:pPr>
              <a:spcAft>
                <a:spcPts val="600"/>
              </a:spcAft>
            </a:pPr>
            <a:r>
              <a:rPr sz="1200" b="1">
                <a:solidFill>
                  <a:srgbClr val="1B4332"/>
                </a:solidFill>
                <a:latin typeface="Bookman Old Style"/>
              </a:rPr>
              <a:t>Step 2 — Dataset Explorer &amp; Filtering: </a:t>
            </a:r>
            <a:r>
              <a:rPr sz="1200">
                <a:solidFill>
                  <a:srgbClr val="1A1A1A"/>
                </a:solidFill>
                <a:latin typeface="Bookman Old Style"/>
              </a:rPr>
              <a:t>Demonstrate card grid / table views, search queries, and crop filter (Tomato = 743 items) (/dataset).</a:t>
            </a:r>
          </a:p>
          <a:p>
            <a:pPr>
              <a:spcAft>
                <a:spcPts val="600"/>
              </a:spcAft>
            </a:pPr>
            <a:r>
              <a:rPr sz="1200" b="1">
                <a:solidFill>
                  <a:srgbClr val="1B4332"/>
                </a:solidFill>
                <a:latin typeface="Bookman Old Style"/>
              </a:rPr>
              <a:t>Step 3 — Warehouse Schema &amp; OLAP Console: </a:t>
            </a:r>
            <a:r>
              <a:rPr sz="1200">
                <a:solidFill>
                  <a:srgbClr val="1A1A1A"/>
                </a:solidFill>
                <a:latin typeface="Bookman Old Style"/>
              </a:rPr>
              <a:t>Inspect relational tables and execute parameterized Roll-up, Drill-down, Slice, Dice, Pivot (/warehouse, /olap).</a:t>
            </a:r>
          </a:p>
          <a:p>
            <a:pPr>
              <a:spcAft>
                <a:spcPts val="600"/>
              </a:spcAft>
            </a:pPr>
            <a:r>
              <a:rPr sz="1200" b="1">
                <a:solidFill>
                  <a:srgbClr val="1B4332"/>
                </a:solidFill>
                <a:latin typeface="Bookman Old Style"/>
              </a:rPr>
              <a:t>Step 4 — Visual Mining &amp; PCA Scatter: </a:t>
            </a:r>
            <a:r>
              <a:rPr sz="1200">
                <a:solidFill>
                  <a:srgbClr val="1A1A1A"/>
                </a:solidFill>
                <a:latin typeface="Bookman Old Style"/>
              </a:rPr>
              <a:t>Showcase dual-K clustering metrics, PCA 2D projections, and cluster profiles (/visual-mining).</a:t>
            </a:r>
          </a:p>
          <a:p>
            <a:pPr>
              <a:spcAft>
                <a:spcPts val="600"/>
              </a:spcAft>
            </a:pPr>
            <a:r>
              <a:rPr sz="1200" b="1">
                <a:solidFill>
                  <a:srgbClr val="1B4332"/>
                </a:solidFill>
                <a:latin typeface="Bookman Old Style"/>
              </a:rPr>
              <a:t>Step 5 — Association Rule Controls: </a:t>
            </a:r>
            <a:r>
              <a:rPr sz="1200">
                <a:solidFill>
                  <a:srgbClr val="1A1A1A"/>
                </a:solidFill>
                <a:latin typeface="Bookman Old Style"/>
              </a:rPr>
              <a:t>Demonstrate Mode A (880 rules) and Mode B (276 filtered rules) with interactive slider tuning (/association-rules).</a:t>
            </a:r>
          </a:p>
          <a:p>
            <a:pPr>
              <a:spcAft>
                <a:spcPts val="600"/>
              </a:spcAft>
            </a:pPr>
            <a:r>
              <a:rPr sz="1200" b="1">
                <a:solidFill>
                  <a:srgbClr val="1B4332"/>
                </a:solidFill>
                <a:latin typeface="Bookman Old Style"/>
              </a:rPr>
              <a:t>Step 6 — Live Specimen Analysis: </a:t>
            </a:r>
            <a:r>
              <a:rPr sz="1200">
                <a:solidFill>
                  <a:srgbClr val="1A1A1A"/>
                </a:solidFill>
                <a:latin typeface="Bookman Old Style"/>
              </a:rPr>
              <a:t>Upload authentic leaf image; demonstrate 32-feature extraction, cluster assignment, and nearest neighbor retrieval (/image-analysis).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5912</Words>
  <Application>Microsoft Office PowerPoint</Application>
  <PresentationFormat>Widescreen</PresentationFormat>
  <Paragraphs>537</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AJAY M</cp:lastModifiedBy>
  <cp:revision>3</cp:revision>
  <dcterms:created xsi:type="dcterms:W3CDTF">2013-01-27T09:14:16Z</dcterms:created>
  <dcterms:modified xsi:type="dcterms:W3CDTF">2026-10-13T08:11:19Z</dcterms:modified>
  <cp:category/>
</cp:coreProperties>
</file>