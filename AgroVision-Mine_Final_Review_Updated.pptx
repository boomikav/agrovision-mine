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548640"/>
            <a:ext cx="10725912" cy="5760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75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vi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822960"/>
            <a:ext cx="1645920" cy="15910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26080" y="914400"/>
            <a:ext cx="8046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75D44"/>
                </a:solidFill>
                <a:latin typeface="Book Antiqua"/>
              </a:defRPr>
            </a:pPr>
            <a:r>
              <a:t>AgroVision-Mine</a:t>
            </a:r>
          </a:p>
          <a:p>
            <a:pPr>
              <a:spcBef>
                <a:spcPts val="400"/>
              </a:spcBef>
              <a:defRPr sz="1550">
                <a:solidFill>
                  <a:srgbClr val="2D6A4F"/>
                </a:solidFill>
                <a:latin typeface="Book Antiqua"/>
              </a:defRPr>
            </a:pPr>
            <a:r>
              <a:t>A Multimodal Data Warehouse, Visual Pattern Mining Framework, and Supervised Foliar Intelligence System for Crop Disease Management</a:t>
            </a:r>
          </a:p>
          <a:p>
            <a:pPr>
              <a:spcBef>
                <a:spcPts val="600"/>
              </a:spcBef>
              <a:defRPr sz="1200" b="1">
                <a:solidFill>
                  <a:srgbClr val="B45309"/>
                </a:solidFill>
                <a:latin typeface="Book Antiqua"/>
              </a:defRPr>
            </a:pPr>
            <a:r>
              <a:t>CSI3010: DATA WAREHOUSING &amp; DATA MINING — FINAL LAB PROJECT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017520"/>
            <a:ext cx="9966960" cy="1397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75D44"/>
                </a:solidFill>
                <a:latin typeface="Book Antiqua"/>
              </a:defRPr>
            </a:pPr>
            <a:r>
              <a:rPr dirty="0"/>
              <a:t>PROJECT TEAM DETAILS &amp; ACADEMIC SUPERVISION</a:t>
            </a:r>
          </a:p>
          <a:p>
            <a:pPr>
              <a:spcAft>
                <a:spcPts val="600"/>
              </a:spcAft>
              <a:defRPr sz="1400" b="1">
                <a:solidFill>
                  <a:srgbClr val="1C1C1C"/>
                </a:solidFill>
                <a:latin typeface="Book Antiqua"/>
              </a:defRPr>
            </a:pPr>
            <a:r>
              <a:rPr dirty="0"/>
              <a:t>•  Team Members:  BOOMIKA V (23MID0326)   |   AJAY M (23MID0020)</a:t>
            </a:r>
          </a:p>
          <a:p>
            <a:pPr>
              <a:spcAft>
                <a:spcPts val="400"/>
              </a:spcAft>
              <a:defRPr sz="1350" b="1">
                <a:solidFill>
                  <a:srgbClr val="1F4E79"/>
                </a:solidFill>
                <a:latin typeface="Book Antiqua"/>
              </a:defRPr>
            </a:pPr>
            <a:r>
              <a:rPr dirty="0"/>
              <a:t>•  Faculty Guide:  Dr. DEVIPRIYA A, Associate Professor</a:t>
            </a:r>
          </a:p>
          <a:p>
            <a:pPr>
              <a:spcAft>
                <a:spcPts val="400"/>
              </a:spcAft>
              <a:defRPr sz="1250">
                <a:solidFill>
                  <a:srgbClr val="4B5563"/>
                </a:solidFill>
                <a:latin typeface="Book Antiqua"/>
              </a:defRPr>
            </a:pPr>
            <a:r>
              <a:rPr dirty="0"/>
              <a:t>•  Laboratory Slot:  L41 + L42      •  Academic Term:  Fall Semester 2026–27</a:t>
            </a:r>
          </a:p>
          <a:p>
            <a:pPr>
              <a:spcAft>
                <a:spcPts val="400"/>
              </a:spcAft>
              <a:defRPr sz="1250">
                <a:solidFill>
                  <a:srgbClr val="4B5563"/>
                </a:solidFill>
                <a:latin typeface="Book Antiqua"/>
              </a:defRPr>
            </a:pPr>
            <a:r>
              <a:rPr dirty="0"/>
              <a:t>•  Department:  School of Computer Science and Engineering (SCOPE), VIT University, </a:t>
            </a:r>
            <a:r>
              <a:rPr lang="en-US" dirty="0"/>
              <a:t>Vellore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47472"/>
            <a:ext cx="1072591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2D6A4F"/>
                </a:solidFill>
                <a:latin typeface="Book Antiqua"/>
              </a:defRPr>
            </a:pPr>
            <a:r>
              <a:t>CSI3010: DATA WAREHOUSING &amp; DATA MINING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75D44"/>
                </a:solidFill>
                <a:latin typeface="Book Antiqua"/>
              </a:defRPr>
            </a:pPr>
            <a:r>
              <a:t>Executive Summary: The Multimodal Analytical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73952"/>
            <a:ext cx="7772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B7280"/>
                </a:solidFill>
                <a:latin typeface="Book Antiqua"/>
              </a:defRPr>
            </a:pPr>
            <a:r>
              <a:t>AgroVision-Mine: Multimodal Data Warehouse &amp; Supervised Foliar Intelligence — Faculty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73952"/>
            <a:ext cx="1856231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2D6A4F"/>
                </a:solidFill>
                <a:latin typeface="Book Antiqua"/>
              </a:defRPr>
            </a:pPr>
            <a:r>
              <a:t>Slide 2 of 28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212080" cy="5029200"/>
          </a:xfrm>
          <a:prstGeom prst="roundRect">
            <a:avLst/>
          </a:prstGeom>
          <a:solidFill>
            <a:srgbClr val="F7F6E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1472184"/>
            <a:ext cx="4700016" cy="45902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75D44"/>
                </a:solidFill>
                <a:latin typeface="Book Antiqua"/>
              </a:defRPr>
            </a:pPr>
            <a:r>
              <a:t>CORE CHALLENGE &amp; IMPLEMENTED WAREHOUSE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Agricultural Data Fragmentation: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Foliar imagery traditionally resides in isolated raw directories without relational metadata, multi-dimensional queryability, or data quality gates.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Kimball Star Schema Warehouse: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Engineered a formal dimensional warehouse in SQLite (PRAGMA foreign_keys = ON) with 1 Fact table (2,596 rows) and 4 Dimensions (dim_crop, dim_disease, dim_image, dim_visual_feature).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Explainable Visual Feature Store: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Extracted 32 continuous descriptors (19 Color Moments, 7 Haralick GLCM Texture, 6 Morphometric Shape) into an audited 44-column feature matrix.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SQL OLAP Analytical Engine: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Implemented parameterized SQL operations (Roll-up, Drill-down, Slice, Dice, Pivot) with sub-15ms execution latency across all 2,596 observations.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Unsupervised Visual Mining: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Fitted K-Means clustering (K=2 metric-supported vs K=4 exploratory) and 2D PCA projection (52.11% variance), plus Apriori/FP-Growth association rule mining.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1234440"/>
            <a:ext cx="5212080" cy="2834640"/>
          </a:xfrm>
          <a:prstGeom prst="roundRect">
            <a:avLst/>
          </a:prstGeom>
          <a:solidFill>
            <a:srgbClr val="E0F2E8"/>
          </a:solidFill>
          <a:ln w="12700"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01384" y="1472184"/>
            <a:ext cx="4700016" cy="23957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75D44"/>
                </a:solidFill>
                <a:latin typeface="Book Antiqua"/>
              </a:defRPr>
            </a:pPr>
            <a:r>
              <a:t>IMPLEMENTED SUPERVISED CLASSIFICATION MODULE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Current 25-Class Supervised Module: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Implemented bounded multi-class foliar disease classification using fine-tuned EfficientNet-B0 (transfer learning from ImageNet-1K).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Primary Evaluated Benchmark: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Trained and evaluated across 2,447 PlantDoc images covering 25 crop-condition classes across 12 host crops.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Rigorous Split Partitioning: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1,468 train, 489 validation, and 490 held-out test specimens grouped strictly by perceptual dHash to eliminate cross-partition data leakage.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Verified Test Performance: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Achieved 61.84% Top-1 Test Accuracy, 61.43% Balanced Accuracy, and 60.84% Macro-F1 on the 490 held-out images (Wilson 95% CI: [57.46%, 66.03%]).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4206240"/>
            <a:ext cx="5212080" cy="2057400"/>
          </a:xfrm>
          <a:prstGeom prst="roundRect">
            <a:avLst/>
          </a:prstGeom>
          <a:solidFill>
            <a:srgbClr val="FFF8E1"/>
          </a:solidFill>
          <a:ln w="12700">
            <a:solidFill>
              <a:srgbClr val="FFE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01384" y="4443983"/>
            <a:ext cx="4700016" cy="1618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75D44"/>
                </a:solidFill>
                <a:latin typeface="Book Antiqua"/>
              </a:defRPr>
            </a:pPr>
            <a:r>
              <a:t>SCIENTIFIC BOUNDARIES &amp; ACADEMIC INTEGRITY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Rejection of Generic Binary Task: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An unconditioned all-crop Healthy/Diseased binary classifier was rejected due to severe taxonomic shortcut confounding (e.g. 7 crops were 100% healthy-only).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Bounded Multi-Class Scope: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The current model classifies within its 25 supported PlantDoc classes. It is NOT a universal plant diagnostic system.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Domain Shift Safeguard: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ICAR rice scanner images (N=36) were deliberately excluded from training and trigger an automated 'unsupported_domain' cross-modal rejection alert.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47472"/>
            <a:ext cx="1072591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2D6A4F"/>
                </a:solidFill>
                <a:latin typeface="Book Antiqua"/>
              </a:defRPr>
            </a:pPr>
            <a:r>
              <a:t>CSI3010: DATA WAREHOUSING &amp; DATA MINING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75D44"/>
                </a:solidFill>
                <a:latin typeface="Book Antiqua"/>
              </a:defRPr>
            </a:pPr>
            <a:r>
              <a:t>Research Motivation: The Agricultural Data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73952"/>
            <a:ext cx="7772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B7280"/>
                </a:solidFill>
                <a:latin typeface="Book Antiqua"/>
              </a:defRPr>
            </a:pPr>
            <a:r>
              <a:t>AgroVision-Mine: Multimodal Data Warehouse &amp; Supervised Foliar Intelligence — Faculty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73952"/>
            <a:ext cx="1856231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2D6A4F"/>
                </a:solidFill>
                <a:latin typeface="Book Antiqua"/>
              </a:defRPr>
            </a:pPr>
            <a:r>
              <a:t>Slide 3 of 28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212080" cy="4023360"/>
          </a:xfrm>
          <a:prstGeom prst="roundRect">
            <a:avLst/>
          </a:prstGeom>
          <a:solidFill>
            <a:srgbClr val="F7F6E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1472184"/>
            <a:ext cx="4700016" cy="3584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75D44"/>
                </a:solidFill>
                <a:latin typeface="Book Antiqua"/>
              </a:defRPr>
            </a:pPr>
            <a:r>
              <a:t>LIMITATIONS OF CONVENTIONAL APPROACHES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Isolated Black-Box Classifiers: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Conventional computer vision models treat plant pathology as an isolated single-image classification problem, lacking historical, taxonomic, or environmental context.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Metadata Fragmentation: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Raw agricultural datasets strip away critical dimensions (botanical taxonomy, capture equipment, pathogen taxonomy, and spatial lesion properties).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Absence of Ingestion Quality Audits: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Public web-scraped corpora frequently suffer from truncated byte streams, corrupted image headers, duplicate frames, and unstandardized orientations.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Inability to Slice &amp; Drill: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Agronomists and extension officers cannot execute multi-attribute relational queries (e.g., comparing fungal vs bacterial lesion severity across host plant families).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1234440"/>
            <a:ext cx="5212080" cy="4023360"/>
          </a:xfrm>
          <a:prstGeom prst="roundRect">
            <a:avLst/>
          </a:prstGeom>
          <a:solidFill>
            <a:srgbClr val="F7F6E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01384" y="1472184"/>
            <a:ext cx="4700016" cy="3584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75D44"/>
                </a:solidFill>
                <a:latin typeface="Book Antiqua"/>
              </a:defRPr>
            </a:pPr>
            <a:r>
              <a:t>THE AGROVISION-MINE MULTIMODAL SOLUTION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Relational Star Schema Integration: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Couples image pixel data with Kimball-style dimensional modeling, linking image files to botanical taxonomy, pathology hierarchies, and extracted features.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5 Automated Quality Gates: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Enforces pre-ingestion checks for file headers, geometry, payload limits, MD5 deduplication, and EXIF transposition, guaranteeing zero corrupt records.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32 Transparent Visual Descriptors: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Engineers explainable color moments, Haralick GLCM textures, and morphometric shape metrics that remain inspectable alongside deep neural embeddings.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Dual-Track Analytical Intelligence: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Harmonizes SQL OLAP multi-dimensional slicing, unsupervised visual clustering, and bounded supervised transfer learning under one unified platform.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440680"/>
            <a:ext cx="10725912" cy="868680"/>
          </a:xfrm>
          <a:prstGeom prst="roundRect">
            <a:avLst/>
          </a:prstGeom>
          <a:solidFill>
            <a:srgbClr val="175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5532120"/>
            <a:ext cx="103601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45309"/>
                </a:solidFill>
                <a:latin typeface="Book Antiqua"/>
              </a:defRPr>
            </a:pPr>
            <a:r>
              <a:t>CORE RESEARCH QUESTION:</a:t>
            </a:r>
          </a:p>
          <a:p>
            <a:pPr>
              <a:defRPr sz="1200" b="1">
                <a:solidFill>
                  <a:srgbClr val="FFFFFF"/>
                </a:solidFill>
                <a:latin typeface="Book Antiqua"/>
              </a:defRPr>
            </a:pPr>
            <a:r>
              <a:t>How can multimodal foliar observations and explainable visual features be integrated into an auditable relational data warehouse to support real-time OLAP slicing, visual pattern mining, and a scientifically defensible supervised classification system?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47472"/>
            <a:ext cx="1072591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2D6A4F"/>
                </a:solidFill>
                <a:latin typeface="Book Antiqua"/>
              </a:defRPr>
            </a:pPr>
            <a:r>
              <a:t>CSI3010: DATA WAREHOUSING &amp; DATA MINING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75D44"/>
                </a:solidFill>
                <a:latin typeface="Book Antiqua"/>
              </a:defRPr>
            </a:pPr>
            <a:r>
              <a:t>Project Objectives &amp; Implemented 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73952"/>
            <a:ext cx="7772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B7280"/>
                </a:solidFill>
                <a:latin typeface="Book Antiqua"/>
              </a:defRPr>
            </a:pPr>
            <a:r>
              <a:t>AgroVision-Mine: Multimodal Data Warehouse &amp; Supervised Foliar Intelligence — Faculty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73952"/>
            <a:ext cx="1856231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2D6A4F"/>
                </a:solidFill>
                <a:latin typeface="Book Antiqua"/>
              </a:defRPr>
            </a:pPr>
            <a:r>
              <a:t>Slide 4 of 28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280160"/>
          <a:ext cx="10725912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850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1722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Book Antiqua"/>
                        </a:defRPr>
                      </a:pPr>
                      <a:r>
                        <a:t>#</a:t>
                      </a:r>
                    </a:p>
                  </a:txBody>
                  <a:tcPr marL="73152" marR="73152" marT="73152" marB="73152">
                    <a:solidFill>
                      <a:srgbClr val="175D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Book Antiqua"/>
                        </a:defRPr>
                      </a:pPr>
                      <a:r>
                        <a:t>Objective &amp; Scope</a:t>
                      </a:r>
                    </a:p>
                  </a:txBody>
                  <a:tcPr marL="73152" marR="73152" marT="73152" marB="73152">
                    <a:solidFill>
                      <a:srgbClr val="175D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Book Antiqua"/>
                        </a:defRPr>
                      </a:pPr>
                      <a:r>
                        <a:t>Implemented Component / Logic</a:t>
                      </a:r>
                    </a:p>
                  </a:txBody>
                  <a:tcPr marL="73152" marR="73152" marT="73152" marB="73152">
                    <a:solidFill>
                      <a:srgbClr val="175D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Book Antiqua"/>
                        </a:defRPr>
                      </a:pPr>
                      <a:r>
                        <a:t>Verified System Deliverable</a:t>
                      </a:r>
                    </a:p>
                  </a:txBody>
                  <a:tcPr marL="73152" marR="73152" marT="73152" marB="73152">
                    <a:solidFill>
                      <a:srgbClr val="175D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1</a:t>
                      </a:r>
                    </a:p>
                  </a:txBody>
                  <a:tcPr marL="73152" marR="73152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Data Governance &amp; Ingestion</a:t>
                      </a:r>
                    </a:p>
                  </a:txBody>
                  <a:tcPr marL="73152" marR="73152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Ingest 2,596 observations across 14 crops with SHA-256 cryptographic immutability</a:t>
                      </a:r>
                    </a:p>
                  </a:txBody>
                  <a:tcPr marL="73152" marR="73152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canonical_dataset_v2.csv</a:t>
                      </a:r>
                      <a:br/>
                      <a:r>
                        <a:t>(SHA-256: c7fd16dc...1cb8 verified)</a:t>
                      </a:r>
                    </a:p>
                  </a:txBody>
                  <a:tcPr marL="73152" marR="73152" marT="73152" marB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2</a:t>
                      </a:r>
                    </a:p>
                  </a:txBody>
                  <a:tcPr marL="73152" marR="73152" marT="73152" marB="73152">
                    <a:solidFill>
                      <a:srgbClr val="F7F6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Automated Quality Gates</a:t>
                      </a:r>
                    </a:p>
                  </a:txBody>
                  <a:tcPr marL="73152" marR="73152" marT="73152" marB="73152">
                    <a:solidFill>
                      <a:srgbClr val="F7F6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5-gate pipeline: magic bytes, geometry, 15MB ceiling, MD5 deduplication, EXIF transpose</a:t>
                      </a:r>
                    </a:p>
                  </a:txBody>
                  <a:tcPr marL="73152" marR="73152" marT="73152" marB="73152">
                    <a:solidFill>
                      <a:srgbClr val="F7F6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5 quality gates verified;</a:t>
                      </a:r>
                      <a:br/>
                      <a:r>
                        <a:t>Zero corrupt images admitted to warehouse</a:t>
                      </a:r>
                    </a:p>
                  </a:txBody>
                  <a:tcPr marL="73152" marR="73152" marT="73152" marB="73152">
                    <a:solidFill>
                      <a:srgbClr val="F7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3</a:t>
                      </a:r>
                    </a:p>
                  </a:txBody>
                  <a:tcPr marL="73152" marR="73152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Explainable Feature Store</a:t>
                      </a:r>
                    </a:p>
                  </a:txBody>
                  <a:tcPr marL="73152" marR="73152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Extract 32 continuous descriptors (19 Color, 7 GLCM Texture, 6 Morphometry)</a:t>
                      </a:r>
                    </a:p>
                  </a:txBody>
                  <a:tcPr marL="73152" marR="73152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image_features_v2.csv</a:t>
                      </a:r>
                      <a:br/>
                      <a:r>
                        <a:t>(44 columns, 2,596 rows; SHA-256 invariant)</a:t>
                      </a:r>
                    </a:p>
                  </a:txBody>
                  <a:tcPr marL="73152" marR="73152" marT="73152" marB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4</a:t>
                      </a:r>
                    </a:p>
                  </a:txBody>
                  <a:tcPr marL="73152" marR="73152" marT="73152" marB="73152">
                    <a:solidFill>
                      <a:srgbClr val="F7F6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Dimensional Data Warehouse</a:t>
                      </a:r>
                    </a:p>
                  </a:txBody>
                  <a:tcPr marL="73152" marR="73152" marT="73152" marB="73152">
                    <a:solidFill>
                      <a:srgbClr val="F7F6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Kimball Star Schema in SQLite with native PRAGMA foreign_keys = ON via SQLAlchemy</a:t>
                      </a:r>
                    </a:p>
                  </a:txBody>
                  <a:tcPr marL="73152" marR="73152" marT="73152" marB="73152">
                    <a:solidFill>
                      <a:srgbClr val="F7F6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agrovision_warehouse.db (2,596 fact rows;</a:t>
                      </a:r>
                      <a:br/>
                      <a:r>
                        <a:t>14 crops, 19 conditions, 4 dimensions)</a:t>
                      </a:r>
                    </a:p>
                  </a:txBody>
                  <a:tcPr marL="73152" marR="73152" marT="73152" marB="73152">
                    <a:solidFill>
                      <a:srgbClr val="F7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5</a:t>
                      </a:r>
                    </a:p>
                  </a:txBody>
                  <a:tcPr marL="73152" marR="73152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SQL-Backed OLAP Engine</a:t>
                      </a:r>
                    </a:p>
                  </a:txBody>
                  <a:tcPr marL="73152" marR="73152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Real ANSI SQL queries: Roll-up, Drill-down, Slice by Crop, Dice Sub-Cube, Pivot Matrix</a:t>
                      </a:r>
                    </a:p>
                  </a:txBody>
                  <a:tcPr marL="73152" marR="73152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Interactive OLAP Console;</a:t>
                      </a:r>
                      <a:br/>
                      <a:r>
                        <a:t>Latency 1.5ms – 14.1ms across 2,596 rows</a:t>
                      </a:r>
                    </a:p>
                  </a:txBody>
                  <a:tcPr marL="73152" marR="73152" marT="73152" marB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6</a:t>
                      </a:r>
                    </a:p>
                  </a:txBody>
                  <a:tcPr marL="73152" marR="73152" marT="73152" marB="73152">
                    <a:solidFill>
                      <a:srgbClr val="F7F6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Unsupervised Visual Mining</a:t>
                      </a:r>
                    </a:p>
                  </a:txBody>
                  <a:tcPr marL="73152" marR="73152" marT="73152" marB="73152">
                    <a:solidFill>
                      <a:srgbClr val="F7F6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Dual-K K-Means (K=2 primary, K=4 exploratory), 2D PCA, Apriori / FP-Growth rule parity</a:t>
                      </a:r>
                    </a:p>
                  </a:txBody>
                  <a:tcPr marL="73152" marR="73152" marT="73152" marB="73152">
                    <a:solidFill>
                      <a:srgbClr val="F7F6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K=2 Silhouette = 0.4060; PCA 52.1% var;</a:t>
                      </a:r>
                      <a:br/>
                      <a:r>
                        <a:t>880 Mode A rules (exact parity Δ = 0.0)</a:t>
                      </a:r>
                    </a:p>
                  </a:txBody>
                  <a:tcPr marL="73152" marR="73152" marT="73152" marB="73152">
                    <a:solidFill>
                      <a:srgbClr val="F7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7</a:t>
                      </a:r>
                    </a:p>
                  </a:txBody>
                  <a:tcPr marL="73152" marR="73152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Supervised Foliar Classifier</a:t>
                      </a:r>
                    </a:p>
                  </a:txBody>
                  <a:tcPr marL="73152" marR="73152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25-class transfer learning via EfficientNet-B0; grouped dHash train/val/test splits</a:t>
                      </a:r>
                    </a:p>
                  </a:txBody>
                  <a:tcPr marL="73152" marR="73152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490 held-out test images; 61.84% Test Acc;</a:t>
                      </a:r>
                      <a:br/>
                      <a:r>
                        <a:t>60.84% Macro-F1 (Wilson CI: [57.5%, 66.0%])</a:t>
                      </a:r>
                    </a:p>
                  </a:txBody>
                  <a:tcPr marL="73152" marR="73152" marT="73152" marB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47472"/>
            <a:ext cx="1072591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2D6A4F"/>
                </a:solidFill>
                <a:latin typeface="Book Antiqua"/>
              </a:defRPr>
            </a:pPr>
            <a:r>
              <a:t>CSI3010: DATA WAREHOUSING &amp; DATA MINING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75D44"/>
                </a:solidFill>
                <a:latin typeface="Book Antiqua"/>
              </a:defRPr>
            </a:pPr>
            <a:r>
              <a:t>Dataset Provenance &amp; Canonical Composition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73952"/>
            <a:ext cx="7772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B7280"/>
                </a:solidFill>
                <a:latin typeface="Book Antiqua"/>
              </a:defRPr>
            </a:pPr>
            <a:r>
              <a:t>AgroVision-Mine: Multimodal Data Warehouse &amp; Supervised Foliar Intelligence — Faculty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73952"/>
            <a:ext cx="1856231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2D6A4F"/>
                </a:solidFill>
                <a:latin typeface="Book Antiqua"/>
              </a:defRPr>
            </a:pPr>
            <a:r>
              <a:t>Slide 5 of 28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212080" cy="5029200"/>
          </a:xfrm>
          <a:prstGeom prst="roundRect">
            <a:avLst/>
          </a:prstGeom>
          <a:solidFill>
            <a:srgbClr val="F7F6E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1472184"/>
            <a:ext cx="4700016" cy="45902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75D44"/>
                </a:solidFill>
                <a:latin typeface="Book Antiqua"/>
              </a:defRPr>
            </a:pPr>
            <a:r>
              <a:t>DATASET ARCHITECTURE &amp; LINEAGE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Canonical Agricultural Corpus: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Unified dataset of 2,596 authentic leaf observations across 14 crop species and 19 pathological condition categories.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Multi-Source Provenance: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2,560 open-field images sourced from the PlantDoc benchmark (98.6%) plus 36 authenticated flatbed scanner images from ICAR / Open Government Data India (1.4%).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Balanced Condition Split: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1,750 Diseased observations (67.4%) and 846 Healthy baseline observations (32.6%) providing verified ground truth.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Reconciliation of Tomato Count: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The canonical manifest contains exactly 743 Tomato specimens, correcting prior preliminary draft counts.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Cryptographic Immutability: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Manifest SHA-256 (c7fd16dcd6c1f8623f3e25a48b572387cba2b42855e4b5ddc482095d40f11cb8) and Feature Store SHA-256 (f6caf70bd07eeda335e471705e3763d3dd3ef543c0ae406e902a5741ec4093c1) remain strictly invariant.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45352" y="1234440"/>
          <a:ext cx="5212080" cy="4838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Book Antiqua"/>
                        </a:defRPr>
                      </a:pPr>
                      <a:r>
                        <a:t>Crop Species</a:t>
                      </a:r>
                    </a:p>
                  </a:txBody>
                  <a:tcPr marL="73152" marR="73152" marT="73152" marB="73152">
                    <a:solidFill>
                      <a:srgbClr val="175D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Book Antiqua"/>
                        </a:defRPr>
                      </a:pPr>
                      <a:r>
                        <a:t>Record Count</a:t>
                      </a:r>
                    </a:p>
                  </a:txBody>
                  <a:tcPr marL="73152" marR="73152" marT="73152" marB="73152">
                    <a:solidFill>
                      <a:srgbClr val="175D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Book Antiqua"/>
                        </a:defRPr>
                      </a:pPr>
                      <a:r>
                        <a:t>Percentage</a:t>
                      </a:r>
                    </a:p>
                  </a:txBody>
                  <a:tcPr marL="73152" marR="73152" marT="73152" marB="73152">
                    <a:solidFill>
                      <a:srgbClr val="175D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Book Antiqua"/>
                        </a:defRPr>
                      </a:pPr>
                      <a:r>
                        <a:t>Pathological Scope</a:t>
                      </a:r>
                    </a:p>
                  </a:txBody>
                  <a:tcPr marL="73152" marR="73152" marT="73152" marB="73152">
                    <a:solidFill>
                      <a:srgbClr val="175D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Tomato</a:t>
                      </a:r>
                    </a:p>
                  </a:txBody>
                  <a:tcPr marL="73152" marR="73152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743</a:t>
                      </a:r>
                    </a:p>
                  </a:txBody>
                  <a:tcPr marL="73152" marR="73152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28.62%</a:t>
                      </a:r>
                    </a:p>
                  </a:txBody>
                  <a:tcPr marL="73152" marR="73152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Early/Late Blight, Mold, Curl</a:t>
                      </a:r>
                    </a:p>
                  </a:txBody>
                  <a:tcPr marL="73152" marR="73152" marT="73152" marB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Corn</a:t>
                      </a:r>
                    </a:p>
                  </a:txBody>
                  <a:tcPr marL="73152" marR="73152" marT="73152" marB="73152">
                    <a:solidFill>
                      <a:srgbClr val="F7F6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372</a:t>
                      </a:r>
                    </a:p>
                  </a:txBody>
                  <a:tcPr marL="73152" marR="73152" marT="73152" marB="73152">
                    <a:solidFill>
                      <a:srgbClr val="F7F6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14.33%</a:t>
                      </a:r>
                    </a:p>
                  </a:txBody>
                  <a:tcPr marL="73152" marR="73152" marT="73152" marB="73152">
                    <a:solidFill>
                      <a:srgbClr val="F7F6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Rust, Gray Spot, Blight, Healthy</a:t>
                      </a:r>
                    </a:p>
                  </a:txBody>
                  <a:tcPr marL="73152" marR="73152" marT="73152" marB="73152">
                    <a:solidFill>
                      <a:srgbClr val="F7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Apple</a:t>
                      </a:r>
                    </a:p>
                  </a:txBody>
                  <a:tcPr marL="73152" marR="73152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272</a:t>
                      </a:r>
                    </a:p>
                  </a:txBody>
                  <a:tcPr marL="73152" marR="73152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10.48%</a:t>
                      </a:r>
                    </a:p>
                  </a:txBody>
                  <a:tcPr marL="73152" marR="73152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Scab, Rust, Black Rot, Healthy</a:t>
                      </a:r>
                    </a:p>
                  </a:txBody>
                  <a:tcPr marL="73152" marR="73152" marT="73152" marB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Potato</a:t>
                      </a:r>
                    </a:p>
                  </a:txBody>
                  <a:tcPr marL="73152" marR="73152" marT="73152" marB="73152">
                    <a:solidFill>
                      <a:srgbClr val="F7F6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216</a:t>
                      </a:r>
                    </a:p>
                  </a:txBody>
                  <a:tcPr marL="73152" marR="73152" marT="73152" marB="73152">
                    <a:solidFill>
                      <a:srgbClr val="F7F6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8.32%</a:t>
                      </a:r>
                    </a:p>
                  </a:txBody>
                  <a:tcPr marL="73152" marR="73152" marT="73152" marB="73152">
                    <a:solidFill>
                      <a:srgbClr val="F7F6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Early Blight, Late Blight, Healthy</a:t>
                      </a:r>
                    </a:p>
                  </a:txBody>
                  <a:tcPr marL="73152" marR="73152" marT="73152" marB="73152">
                    <a:solidFill>
                      <a:srgbClr val="F7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Grape &amp; Bell Pepper</a:t>
                      </a:r>
                    </a:p>
                  </a:txBody>
                  <a:tcPr marL="73152" marR="73152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265</a:t>
                      </a:r>
                    </a:p>
                  </a:txBody>
                  <a:tcPr marL="73152" marR="73152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10.20%</a:t>
                      </a:r>
                    </a:p>
                  </a:txBody>
                  <a:tcPr marL="73152" marR="73152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Black Rot, Bacterial Spot, Healthy</a:t>
                      </a:r>
                    </a:p>
                  </a:txBody>
                  <a:tcPr marL="73152" marR="73152" marT="73152" marB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Squash &amp; Raspberry</a:t>
                      </a:r>
                    </a:p>
                  </a:txBody>
                  <a:tcPr marL="73152" marR="73152" marT="73152" marB="73152">
                    <a:solidFill>
                      <a:srgbClr val="F7F6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249</a:t>
                      </a:r>
                    </a:p>
                  </a:txBody>
                  <a:tcPr marL="73152" marR="73152" marT="73152" marB="73152">
                    <a:solidFill>
                      <a:srgbClr val="F7F6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9.59%</a:t>
                      </a:r>
                    </a:p>
                  </a:txBody>
                  <a:tcPr marL="73152" marR="73152" marT="73152" marB="73152">
                    <a:solidFill>
                      <a:srgbClr val="F7F6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Powdery Mildew, Healthy</a:t>
                      </a:r>
                    </a:p>
                  </a:txBody>
                  <a:tcPr marL="73152" marR="73152" marT="73152" marB="73152">
                    <a:solidFill>
                      <a:srgbClr val="F7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Blueberry, Peach, Strawb.</a:t>
                      </a:r>
                    </a:p>
                  </a:txBody>
                  <a:tcPr marL="73152" marR="73152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321</a:t>
                      </a:r>
                    </a:p>
                  </a:txBody>
                  <a:tcPr marL="73152" marR="73152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12.36%</a:t>
                      </a:r>
                    </a:p>
                  </a:txBody>
                  <a:tcPr marL="73152" marR="73152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Healthy baseline reference</a:t>
                      </a:r>
                    </a:p>
                  </a:txBody>
                  <a:tcPr marL="73152" marR="73152" marT="73152" marB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Soybean, Cherry, Rice</a:t>
                      </a:r>
                    </a:p>
                  </a:txBody>
                  <a:tcPr marL="73152" marR="73152" marT="73152" marB="73152">
                    <a:solidFill>
                      <a:srgbClr val="F7F6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158</a:t>
                      </a:r>
                    </a:p>
                  </a:txBody>
                  <a:tcPr marL="73152" marR="73152" marT="73152" marB="73152">
                    <a:solidFill>
                      <a:srgbClr val="F7F6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6.09%</a:t>
                      </a:r>
                    </a:p>
                  </a:txBody>
                  <a:tcPr marL="73152" marR="73152" marT="73152" marB="73152">
                    <a:solidFill>
                      <a:srgbClr val="F7F6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Healthy (Soybean/Cherry) + Rice (ICAR)</a:t>
                      </a:r>
                    </a:p>
                  </a:txBody>
                  <a:tcPr marL="73152" marR="73152" marT="73152" marB="73152">
                    <a:solidFill>
                      <a:srgbClr val="F7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TOTAL CORPUS</a:t>
                      </a:r>
                    </a:p>
                  </a:txBody>
                  <a:tcPr marL="73152" marR="73152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2,596</a:t>
                      </a:r>
                    </a:p>
                  </a:txBody>
                  <a:tcPr marL="73152" marR="73152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100.0%</a:t>
                      </a:r>
                    </a:p>
                  </a:txBody>
                  <a:tcPr marL="73152" marR="73152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14 Crops / 19 Conditions</a:t>
                      </a:r>
                    </a:p>
                  </a:txBody>
                  <a:tcPr marL="73152" marR="73152" marT="73152" marB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245352" y="5303520"/>
            <a:ext cx="5212080" cy="960120"/>
          </a:xfrm>
          <a:prstGeom prst="roundRect">
            <a:avLst/>
          </a:prstGeom>
          <a:solidFill>
            <a:srgbClr val="FFF8E1"/>
          </a:solidFill>
          <a:ln w="12700">
            <a:solidFill>
              <a:srgbClr val="FFE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01384" y="5541264"/>
            <a:ext cx="4700016" cy="5212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75D44"/>
                </a:solidFill>
                <a:latin typeface="Book Antiqua"/>
              </a:defRPr>
            </a:pPr>
            <a:r>
              <a:t>MODALITY SEPARATION NOTE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Source Domain Separation: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The 36 ICAR rice observations are captured via flatbed desktop scanner with pure white backgrounds, while PlantDoc imagery is captured in unstructured outdoor fields.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47472"/>
            <a:ext cx="1072591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2D6A4F"/>
                </a:solidFill>
                <a:latin typeface="Book Antiqua"/>
              </a:defRPr>
            </a:pPr>
            <a:r>
              <a:t>CSI3010: DATA WAREHOUSING &amp; DATA MINING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75D44"/>
                </a:solidFill>
                <a:latin typeface="Book Antiqua"/>
              </a:defRPr>
            </a:pPr>
            <a:r>
              <a:t>System Architecture: End-to-End 5-Layer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73952"/>
            <a:ext cx="7772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B7280"/>
                </a:solidFill>
                <a:latin typeface="Book Antiqua"/>
              </a:defRPr>
            </a:pPr>
            <a:r>
              <a:t>AgroVision-Mine: Multimodal Data Warehouse &amp; Supervised Foliar Intelligence — Faculty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73952"/>
            <a:ext cx="1856231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2D6A4F"/>
                </a:solidFill>
                <a:latin typeface="Book Antiqua"/>
              </a:defRPr>
            </a:pPr>
            <a:r>
              <a:t>Slide 6 of 28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1965960" cy="5029200"/>
          </a:xfrm>
          <a:prstGeom prst="roundRect">
            <a:avLst/>
          </a:prstGeom>
          <a:solidFill>
            <a:srgbClr val="F7F6EF"/>
          </a:solidFill>
          <a:ln w="12700">
            <a:solidFill>
              <a:srgbClr val="175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1472184"/>
            <a:ext cx="1453895" cy="45902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75D44"/>
                </a:solidFill>
                <a:latin typeface="Book Antiqua"/>
              </a:defRPr>
            </a:pPr>
            <a:r>
              <a:t>1. INGESTION &amp; GATES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Heterogeneous Ingestion: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PlantDoc (2,560) + ICAR Rice (36)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Gate 1: Format: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Magic Bytes header check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Gate 2: Geometry: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Min 100x100 resolution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Gate 3: Payload: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15 MB ceiling limit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Gate 4: Deduplication: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MD5 content hashing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Gate 5: Normalization: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EXIF transpose &amp; RGB canvas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1234440"/>
            <a:ext cx="1965960" cy="5029200"/>
          </a:xfrm>
          <a:prstGeom prst="roundRect">
            <a:avLst/>
          </a:prstGeom>
          <a:solidFill>
            <a:srgbClr val="F7F6EF"/>
          </a:solidFill>
          <a:ln w="12700"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182112" y="1472184"/>
            <a:ext cx="1453895" cy="45902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2D6A4F"/>
                </a:solidFill>
                <a:latin typeface="Book Antiqua"/>
              </a:defRPr>
            </a:pPr>
            <a:r>
              <a:t>2. PREPROCESSING &amp; STORE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Image Standardization: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Uniform 256x256 bilinear resize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Color Moments (19):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RGB/HSV mean, std, ExG index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GLCM Texture (7):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Contrast, dissimilarity, ASM, energy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Morphometry (6):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Area, circularity, perimeter, solidity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Feature Store: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44 columns, 2,596 rows (image_features_v2.csv)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0640" y="1234440"/>
            <a:ext cx="1965960" cy="5029200"/>
          </a:xfrm>
          <a:prstGeom prst="roundRect">
            <a:avLst/>
          </a:prstGeom>
          <a:solidFill>
            <a:srgbClr val="F7F6EF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376672" y="1472184"/>
            <a:ext cx="1453895" cy="45902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F4E79"/>
                </a:solidFill>
                <a:latin typeface="Book Antiqua"/>
              </a:defRPr>
            </a:pPr>
            <a:r>
              <a:t>3. WAREHOUSE &amp; ETL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Kimball Star Schema: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SQLite 3 relational warehouse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Fact Table: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disease_observation_fact (2,596 rows)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Dimension 1: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dim_crop (14 taxa)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Dimension 2: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dim_disease (19 conditions)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Dimension 3 &amp; 4: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dim_image &amp; dim_visual_feature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Integrity: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PRAGMA foreign_keys = ON; 100% idempotent ETL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1234440"/>
            <a:ext cx="2103120" cy="5029200"/>
          </a:xfrm>
          <a:prstGeom prst="roundRect">
            <a:avLst/>
          </a:prstGeom>
          <a:solidFill>
            <a:srgbClr val="E0F2E8"/>
          </a:solidFill>
          <a:ln w="12700">
            <a:solidFill>
              <a:srgbClr val="175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571231" y="1472184"/>
            <a:ext cx="1591055" cy="45902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75D44"/>
                </a:solidFill>
                <a:latin typeface="Book Antiqua"/>
              </a:defRPr>
            </a:pPr>
            <a:r>
              <a:t>4. ANALYTICAL ENGINES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SQL OLAP Engine: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Roll-up, Drill-down, Slice, Dice, Pivot (&lt;15ms)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Dual K-Means: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K=2 primary (Silh 0.406) vs K=4 exploratory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2D PCA Projection: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52.11% variance (PC1 luminance, PC2 texture)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Association Rules: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Mode A (880 visual) &amp; Mode B (285 labeled)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Nearest References: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32D Euclidean similarity in descriptor space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Supervised CNN: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Fine-tuned EfficientNet-B0 (25 classes, 61.8% acc)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46920" y="1234440"/>
            <a:ext cx="1810512" cy="5029200"/>
          </a:xfrm>
          <a:prstGeom prst="roundRect">
            <a:avLst/>
          </a:prstGeom>
          <a:solidFill>
            <a:srgbClr val="F7F6EF"/>
          </a:solidFill>
          <a:ln w="12700"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902952" y="1472184"/>
            <a:ext cx="1298448" cy="45902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2D6A4F"/>
                </a:solidFill>
                <a:latin typeface="Book Antiqua"/>
              </a:defRPr>
            </a:pPr>
            <a:r>
              <a:t>5. PRESENTATION TIER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FastAPI Backend: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Asynchronous REST API (:8000)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React 18 Frontend: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TypeScript SPA with 9 analytical pages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Workbench GUI: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Live upload, 32D extraction, prediction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Domain Safeguard: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Out-of-domain rejection alert banner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Quality Assurance: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117/117 automated tests passing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2724912" y="3657600"/>
            <a:ext cx="164592" cy="219456"/>
          </a:xfrm>
          <a:prstGeom prst="rightArrow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ight Arrow 16"/>
          <p:cNvSpPr/>
          <p:nvPr/>
        </p:nvSpPr>
        <p:spPr>
          <a:xfrm>
            <a:off x="4919472" y="3657600"/>
            <a:ext cx="164592" cy="219456"/>
          </a:xfrm>
          <a:prstGeom prst="rightArrow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ight Arrow 17"/>
          <p:cNvSpPr/>
          <p:nvPr/>
        </p:nvSpPr>
        <p:spPr>
          <a:xfrm>
            <a:off x="7114032" y="3657600"/>
            <a:ext cx="164592" cy="219456"/>
          </a:xfrm>
          <a:prstGeom prst="rightArrow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ight Arrow 18"/>
          <p:cNvSpPr/>
          <p:nvPr/>
        </p:nvSpPr>
        <p:spPr>
          <a:xfrm>
            <a:off x="9445752" y="3657600"/>
            <a:ext cx="164592" cy="219456"/>
          </a:xfrm>
          <a:prstGeom prst="rightArrow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47472"/>
            <a:ext cx="1072591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2D6A4F"/>
                </a:solidFill>
                <a:latin typeface="Book Antiqua"/>
              </a:defRPr>
            </a:pPr>
            <a:r>
              <a:t>CSI3010: DATA WAREHOUSING &amp; DATA MINING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75D44"/>
                </a:solidFill>
                <a:latin typeface="Book Antiqua"/>
              </a:defRPr>
            </a:pPr>
            <a:r>
              <a:t>Technology Stack &amp; Architectural Rationale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73952"/>
            <a:ext cx="7772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B7280"/>
                </a:solidFill>
                <a:latin typeface="Book Antiqua"/>
              </a:defRPr>
            </a:pPr>
            <a:r>
              <a:t>AgroVision-Mine: Multimodal Data Warehouse &amp; Supervised Foliar Intelligence — Faculty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73952"/>
            <a:ext cx="1856231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2D6A4F"/>
                </a:solidFill>
                <a:latin typeface="Book Antiqua"/>
              </a:defRPr>
            </a:pPr>
            <a:r>
              <a:t>Slide 7 of 28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234440"/>
          <a:ext cx="1072591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278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Book Antiqua"/>
                        </a:defRPr>
                      </a:pPr>
                      <a:r>
                        <a:t>Technology</a:t>
                      </a:r>
                    </a:p>
                  </a:txBody>
                  <a:tcPr marL="73152" marR="73152" marT="73152" marB="73152">
                    <a:solidFill>
                      <a:srgbClr val="175D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Book Antiqua"/>
                        </a:defRPr>
                      </a:pPr>
                      <a:r>
                        <a:t>System Layer</a:t>
                      </a:r>
                    </a:p>
                  </a:txBody>
                  <a:tcPr marL="73152" marR="73152" marT="73152" marB="73152">
                    <a:solidFill>
                      <a:srgbClr val="175D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Book Antiqua"/>
                        </a:defRPr>
                      </a:pPr>
                      <a:r>
                        <a:t>Verified Implementation Role</a:t>
                      </a:r>
                    </a:p>
                  </a:txBody>
                  <a:tcPr marL="73152" marR="73152" marT="73152" marB="73152">
                    <a:solidFill>
                      <a:srgbClr val="175D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Book Antiqua"/>
                        </a:defRPr>
                      </a:pPr>
                      <a:r>
                        <a:t>Architectural Rationale</a:t>
                      </a:r>
                    </a:p>
                  </a:txBody>
                  <a:tcPr marL="73152" marR="73152" marT="73152" marB="73152">
                    <a:solidFill>
                      <a:srgbClr val="175D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Python 3.11</a:t>
                      </a:r>
                    </a:p>
                  </a:txBody>
                  <a:tcPr marL="73152" marR="73152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Core Runtime</a:t>
                      </a:r>
                    </a:p>
                  </a:txBody>
                  <a:tcPr marL="73152" marR="73152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ETL pipeline, feature extraction, mining engines, and API services</a:t>
                      </a:r>
                    </a:p>
                  </a:txBody>
                  <a:tcPr marL="73152" marR="73152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Robust scientific ecosystem, high performance, strict typing support</a:t>
                      </a:r>
                    </a:p>
                  </a:txBody>
                  <a:tcPr marL="73152" marR="73152" marT="73152" marB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NumPy &amp; Pandas</a:t>
                      </a:r>
                    </a:p>
                  </a:txBody>
                  <a:tcPr marL="73152" marR="73152" marT="73152" marB="73152">
                    <a:solidFill>
                      <a:srgbClr val="F7F6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Data Processing</a:t>
                      </a:r>
                    </a:p>
                  </a:txBody>
                  <a:tcPr marL="73152" marR="73152" marT="73152" marB="73152">
                    <a:solidFill>
                      <a:srgbClr val="F7F6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Vectorized linear algebra, 44-col analytical feature store matrix</a:t>
                      </a:r>
                    </a:p>
                  </a:txBody>
                  <a:tcPr marL="73152" marR="73152" marT="73152" marB="73152">
                    <a:solidFill>
                      <a:srgbClr val="F7F6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High-speed tabular manipulation and memory-efficient matrix operations</a:t>
                      </a:r>
                    </a:p>
                  </a:txBody>
                  <a:tcPr marL="73152" marR="73152" marT="73152" marB="73152">
                    <a:solidFill>
                      <a:srgbClr val="F7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Pillow &amp; OpenCV</a:t>
                      </a:r>
                    </a:p>
                  </a:txBody>
                  <a:tcPr marL="73152" marR="73152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Image Engineering</a:t>
                      </a:r>
                    </a:p>
                  </a:txBody>
                  <a:tcPr marL="73152" marR="73152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EXIF auto-transposition, color space conversions, contour morphometry</a:t>
                      </a:r>
                    </a:p>
                  </a:txBody>
                  <a:tcPr marL="73152" marR="73152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Production-grade multi-format image decoding and geometry extraction</a:t>
                      </a:r>
                    </a:p>
                  </a:txBody>
                  <a:tcPr marL="73152" marR="73152" marT="73152" marB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scikit-image &amp; sklearn</a:t>
                      </a:r>
                    </a:p>
                  </a:txBody>
                  <a:tcPr marL="73152" marR="73152" marT="73152" marB="73152">
                    <a:solidFill>
                      <a:srgbClr val="F7F6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Machine Learning</a:t>
                      </a:r>
                    </a:p>
                  </a:txBody>
                  <a:tcPr marL="73152" marR="73152" marT="73152" marB="73152">
                    <a:solidFill>
                      <a:srgbClr val="F7F6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GLCM texture extraction, StandardScaler, K-Means clustering, PCA</a:t>
                      </a:r>
                    </a:p>
                  </a:txBody>
                  <a:tcPr marL="73152" marR="73152" marT="73152" marB="73152">
                    <a:solidFill>
                      <a:srgbClr val="F7F6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Gold-standard reproducible mathematical formulations for classical ML</a:t>
                      </a:r>
                    </a:p>
                  </a:txBody>
                  <a:tcPr marL="73152" marR="73152" marT="73152" marB="73152">
                    <a:solidFill>
                      <a:srgbClr val="F7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PyTorch / torchvision</a:t>
                      </a:r>
                    </a:p>
                  </a:txBody>
                  <a:tcPr marL="73152" marR="73152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Deep Learning</a:t>
                      </a:r>
                    </a:p>
                  </a:txBody>
                  <a:tcPr marL="73152" marR="73152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EfficientNet-B0 transfer learning, CrossEntropyLoss, AdamW optimizer</a:t>
                      </a:r>
                    </a:p>
                  </a:txBody>
                  <a:tcPr marL="73152" marR="73152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State-of-the-art CNN modeling with pre-trained ImageNet-1K visual priors</a:t>
                      </a:r>
                    </a:p>
                  </a:txBody>
                  <a:tcPr marL="73152" marR="73152" marT="73152" marB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mlxtend</a:t>
                      </a:r>
                    </a:p>
                  </a:txBody>
                  <a:tcPr marL="73152" marR="73152" marT="73152" marB="73152">
                    <a:solidFill>
                      <a:srgbClr val="F7F6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Association Mining</a:t>
                      </a:r>
                    </a:p>
                  </a:txBody>
                  <a:tcPr marL="73152" marR="73152" marT="73152" marB="73152">
                    <a:solidFill>
                      <a:srgbClr val="F7F6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Apriori level-wise search and FP-Growth frequent pattern tree mining</a:t>
                      </a:r>
                    </a:p>
                  </a:txBody>
                  <a:tcPr marL="73152" marR="73152" marT="73152" marB="73152">
                    <a:solidFill>
                      <a:srgbClr val="F7F6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Enables exact mathematical parity verification between mining algorithms</a:t>
                      </a:r>
                    </a:p>
                  </a:txBody>
                  <a:tcPr marL="73152" marR="73152" marT="73152" marB="73152">
                    <a:solidFill>
                      <a:srgbClr val="F7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SQLite &amp; SQLAlchemy</a:t>
                      </a:r>
                    </a:p>
                  </a:txBody>
                  <a:tcPr marL="73152" marR="73152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Data Warehouse</a:t>
                      </a:r>
                    </a:p>
                  </a:txBody>
                  <a:tcPr marL="73152" marR="73152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Kimball Star Schema storage with native PRAGMA foreign_keys = ON</a:t>
                      </a:r>
                    </a:p>
                  </a:txBody>
                  <a:tcPr marL="73152" marR="73152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Zero-configuration ACID relational storage with foreign key enforcement</a:t>
                      </a:r>
                    </a:p>
                  </a:txBody>
                  <a:tcPr marL="73152" marR="73152" marT="73152" marB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FastAPI &amp; React 18</a:t>
                      </a:r>
                    </a:p>
                  </a:txBody>
                  <a:tcPr marL="73152" marR="73152" marT="73152" marB="73152">
                    <a:solidFill>
                      <a:srgbClr val="F7F6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Application Delivery</a:t>
                      </a:r>
                    </a:p>
                  </a:txBody>
                  <a:tcPr marL="73152" marR="73152" marT="73152" marB="73152">
                    <a:solidFill>
                      <a:srgbClr val="F7F6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Asynchronous REST backend (:8000) + TypeScript 9-page responsive GUI</a:t>
                      </a:r>
                    </a:p>
                  </a:txBody>
                  <a:tcPr marL="73152" marR="73152" marT="73152" marB="73152">
                    <a:solidFill>
                      <a:srgbClr val="F7F6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Low-latency JSON serialization coupled with type-safe modern presentation</a:t>
                      </a:r>
                    </a:p>
                  </a:txBody>
                  <a:tcPr marL="73152" marR="73152" marT="73152" marB="73152">
                    <a:solidFill>
                      <a:srgbClr val="F7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pytest &amp; Playwright</a:t>
                      </a:r>
                    </a:p>
                  </a:txBody>
                  <a:tcPr marL="73152" marR="73152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Quality Assurance</a:t>
                      </a:r>
                    </a:p>
                  </a:txBody>
                  <a:tcPr marL="73152" marR="73152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107 automated unit/integration tests + 10 browser functional tests</a:t>
                      </a:r>
                    </a:p>
                  </a:txBody>
                  <a:tcPr marL="73152" marR="73152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Guarantees complete regression prevention and verified browser health</a:t>
                      </a:r>
                    </a:p>
                  </a:txBody>
                  <a:tcPr marL="73152" marR="73152" marT="73152" marB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47472"/>
            <a:ext cx="1072591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2D6A4F"/>
                </a:solidFill>
                <a:latin typeface="Book Antiqua"/>
              </a:defRPr>
            </a:pPr>
            <a:r>
              <a:t>CSI3010: DATA WAREHOUSING &amp; DATA MINING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75D44"/>
                </a:solidFill>
                <a:latin typeface="Book Antiqua"/>
              </a:defRPr>
            </a:pPr>
            <a:r>
              <a:t>Data Quality Assurance: 5 Automated Gates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73952"/>
            <a:ext cx="7772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B7280"/>
                </a:solidFill>
                <a:latin typeface="Book Antiqua"/>
              </a:defRPr>
            </a:pPr>
            <a:r>
              <a:t>AgroVision-Mine: Multimodal Data Warehouse &amp; Supervised Foliar Intelligence — Faculty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73952"/>
            <a:ext cx="1856231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2D6A4F"/>
                </a:solidFill>
                <a:latin typeface="Book Antiqua"/>
              </a:defRPr>
            </a:pPr>
            <a:r>
              <a:t>Slide 8 of 28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212080" cy="5029200"/>
          </a:xfrm>
          <a:prstGeom prst="roundRect">
            <a:avLst/>
          </a:prstGeom>
          <a:solidFill>
            <a:srgbClr val="F7F6E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1472184"/>
            <a:ext cx="4700016" cy="45902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75D44"/>
                </a:solidFill>
                <a:latin typeface="Book Antiqua"/>
              </a:defRPr>
            </a:pPr>
            <a:r>
              <a:t>THE 5 AUTOMATED PRE-INGESTION GATES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Gate 1: Byte Header &amp; Format: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Validates binary Magic Bytes for authentic JPEG/PNG signatures. Rejects truncated streams, disguised scripts, and invalid image formats.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Gate 2: Dimension &amp; Aspect Ratio: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Enforces minimum resolution threshold (100x100 px) and rejects extreme aspect ratios (&gt;10:1) to prevent severe spatial distortion during normalization.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Gate 3: File Payload Limit: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Enforces a strict 15 MB payload ceiling, preventing memory exhaustion and denial-of-service vulnerabilities during real-time extraction.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Gate 4: Cryptographic Deduplication: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Calculates MD5 content digests to detect and eliminate exact duplicate images across disparate subdirectories and source datasets.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Gate 5: Normalization &amp; EXIF: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Applies PIL exif_transpose to correct camera orientation flags and normalizes RGBA/palette modes onto a standardized RGB canvas.</a:t>
            </a:r>
          </a:p>
        </p:txBody>
      </p:sp>
      <p:pic>
        <p:nvPicPr>
          <p:cNvPr id="8" name="Picture 7" descr="quality_gates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1234440"/>
            <a:ext cx="5212080" cy="21031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245352" y="3474720"/>
            <a:ext cx="5212080" cy="2788920"/>
          </a:xfrm>
          <a:prstGeom prst="roundRect">
            <a:avLst/>
          </a:prstGeom>
          <a:solidFill>
            <a:srgbClr val="F7F6E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01384" y="3712463"/>
            <a:ext cx="4700016" cy="23500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75D44"/>
                </a:solidFill>
                <a:latin typeface="Book Antiqua"/>
              </a:defRPr>
            </a:pPr>
            <a:r>
              <a:t>EDGE HARNESS VERIFICATION &amp; BLUR AUDIT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Controlled Diagnostic Edge Harness: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Evaluated against 10 synthetic adversarial fixtures: truncated JPEG byte stream, 0-byte empty file, 50x50 px sub-threshold, 15:1 distorted aspect ratio, and 25 MB oversized payload.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100% Rejection Rate: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All 10 corrupt fixtures were rejected at the gate boundary with explicit validation exceptions, confirming zero corrupt admissions into the warehouse.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Laplacian Variance Sharpness Audit: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Audited all 2,596 images using Laplacian kernel variance to assess blur distribution without discarding authentic field observations.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47472"/>
            <a:ext cx="1072591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2D6A4F"/>
                </a:solidFill>
                <a:latin typeface="Book Antiqua"/>
              </a:defRPr>
            </a:pPr>
            <a:r>
              <a:t>CSI3010: DATA WAREHOUSING &amp; DATA MINING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75D44"/>
                </a:solidFill>
                <a:latin typeface="Book Antiqua"/>
              </a:defRPr>
            </a:pPr>
            <a:r>
              <a:t>Feature Engineering: 32 Explainable Visual Descriptors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73952"/>
            <a:ext cx="7772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B7280"/>
                </a:solidFill>
                <a:latin typeface="Book Antiqua"/>
              </a:defRPr>
            </a:pPr>
            <a:r>
              <a:t>AgroVision-Mine: Multimodal Data Warehouse &amp; Supervised Foliar Intelligence — Faculty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73952"/>
            <a:ext cx="1856231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2D6A4F"/>
                </a:solidFill>
                <a:latin typeface="Book Antiqua"/>
              </a:defRPr>
            </a:pPr>
            <a:r>
              <a:t>Slide 9 of 28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3429000" cy="4023360"/>
          </a:xfrm>
          <a:prstGeom prst="roundRect">
            <a:avLst/>
          </a:prstGeom>
          <a:solidFill>
            <a:srgbClr val="F7F6E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1472184"/>
            <a:ext cx="2916936" cy="3584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75D44"/>
                </a:solidFill>
                <a:latin typeface="Book Antiqua"/>
              </a:defRPr>
            </a:pPr>
            <a:r>
              <a:t>COLOR MOMENTS (19 FEATURES)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RGB Channel Statistics (6):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Mean and standard deviation across Red, Green, and Blue channels capturing overall leaf illumination.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Normalized RGB Ratios (3):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Normalized chromaticity r, g, b ratios (channel / sum) providing chromatic invariance under lighting changes.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HSV Color Space (6):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Mean and standard deviation across Hue, Saturation, and Value channels separating color tone from brightness.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Excess Green Index (ExG) (1):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Mean 2G - R - B vegetation index isolating chlorophyll-rich leaf foliage from necrotic lesions.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Color Moment Summary: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19 total color descriptors capturing global foliar pigmentation and chlorosis.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9976" y="1234440"/>
            <a:ext cx="3429000" cy="4023360"/>
          </a:xfrm>
          <a:prstGeom prst="roundRect">
            <a:avLst/>
          </a:prstGeom>
          <a:solidFill>
            <a:srgbClr val="F7F6E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36008" y="1472184"/>
            <a:ext cx="2916936" cy="3584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75D44"/>
                </a:solidFill>
                <a:latin typeface="Book Antiqua"/>
              </a:defRPr>
            </a:pPr>
            <a:r>
              <a:t>GLCM TEXTURES (7 FEATURES)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GLCM Contrast (1):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Measures local intensity variations and sharpness of lesion boundaries.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GLCM Dissimilarity (1):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Linear variation of gray-level pairs across leaf texture.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GLCM Homogeneity (1):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Measures smoothness of uniform leaf blade surfaces.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GLCM Energy &amp; ASM (2):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Angular Second Moment and Energy measuring textural uniformity.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GLCM Correlation (1):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Linear dependency of gray-level values in the neighborhood.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GLCM Contrast Norm (1):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Normalized contrast metric across angles 0°, 45°, 90°, 135°.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Texture Summary: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7 Haralick descriptors capturing tactile foliar roughness.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28431" y="1234440"/>
            <a:ext cx="3429000" cy="4023360"/>
          </a:xfrm>
          <a:prstGeom prst="roundRect">
            <a:avLst/>
          </a:prstGeom>
          <a:solidFill>
            <a:srgbClr val="F7F6E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84463" y="1472184"/>
            <a:ext cx="2916936" cy="3584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75D44"/>
                </a:solidFill>
                <a:latin typeface="Book Antiqua"/>
              </a:defRPr>
            </a:pPr>
            <a:r>
              <a:t>CONTOUR &amp; SHAPE (6 FEATURES)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Contour Area (1):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Total pixel area of detected leaf boundary.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Contour Perimeter (1):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Boundary perimeter measuring edge complexity.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Contour Circularity (1):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Isoperimetric quotient (4π·Area / Perimeter²).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Aspect Ratio (1):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Ratio of bounding box width to height.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Solidity (1):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Ratio of contour area to convex hull area.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Lesion Coverage Ratio (1):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Proportion of leaf surface affected by necrotic spots.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Shape Summary: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6 morphometric metrics describing leaf geometry.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394960"/>
            <a:ext cx="10725912" cy="914400"/>
          </a:xfrm>
          <a:prstGeom prst="roundRect">
            <a:avLst/>
          </a:prstGeom>
          <a:solidFill>
            <a:srgbClr val="E0F2E8"/>
          </a:solidFill>
          <a:ln w="12700"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87552" y="5632704"/>
            <a:ext cx="10213848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75D44"/>
                </a:solidFill>
                <a:latin typeface="Book Antiqua"/>
              </a:defRPr>
            </a:pPr>
            <a:r>
              <a:t>CANONICAL FEATURE STORE ARCHITECTURE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Analytical Feature Store Specification: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Persisted in data/features/image_features_v2.csv containing exactly 44 columns: image_id, 4 taxonomic metadata fields, 32 continuous visual descriptors, and 7 technical validation fields across all 2,596 canonical observations.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47472"/>
            <a:ext cx="1072591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2D6A4F"/>
                </a:solidFill>
                <a:latin typeface="Book Antiqua"/>
              </a:defRPr>
            </a:pPr>
            <a:r>
              <a:t>CSI3010: DATA WAREHOUSING &amp; DATA MINING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75D44"/>
                </a:solidFill>
                <a:latin typeface="Book Antiqua"/>
              </a:defRPr>
            </a:pPr>
            <a:r>
              <a:t>Algorithm Selection: Technical Rationale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73952"/>
            <a:ext cx="7772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B7280"/>
                </a:solidFill>
                <a:latin typeface="Book Antiqua"/>
              </a:defRPr>
            </a:pPr>
            <a:r>
              <a:t>AgroVision-Mine: Multimodal Data Warehouse &amp; Supervised Foliar Intelligence — Faculty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73952"/>
            <a:ext cx="1856231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2D6A4F"/>
                </a:solidFill>
                <a:latin typeface="Book Antiqua"/>
              </a:defRPr>
            </a:pPr>
            <a:r>
              <a:t>Slide 10 of 28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234440"/>
          <a:ext cx="1072591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305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18457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Book Antiqua"/>
                        </a:defRPr>
                      </a:pPr>
                      <a:r>
                        <a:t>Algorithm / Technique</a:t>
                      </a:r>
                    </a:p>
                  </a:txBody>
                  <a:tcPr marL="73152" marR="73152" marT="73152" marB="73152">
                    <a:solidFill>
                      <a:srgbClr val="175D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Book Antiqua"/>
                        </a:defRPr>
                      </a:pPr>
                      <a:r>
                        <a:t>Input Vector</a:t>
                      </a:r>
                    </a:p>
                  </a:txBody>
                  <a:tcPr marL="73152" marR="73152" marT="73152" marB="73152">
                    <a:solidFill>
                      <a:srgbClr val="175D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Book Antiqua"/>
                        </a:defRPr>
                      </a:pPr>
                      <a:r>
                        <a:t>Why Selected (Selection Rationale)</a:t>
                      </a:r>
                    </a:p>
                  </a:txBody>
                  <a:tcPr marL="73152" marR="73152" marT="73152" marB="73152">
                    <a:solidFill>
                      <a:srgbClr val="175D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Book Antiqua"/>
                        </a:defRPr>
                      </a:pPr>
                      <a:r>
                        <a:t>Output Representation</a:t>
                      </a:r>
                    </a:p>
                  </a:txBody>
                  <a:tcPr marL="73152" marR="73152" marT="73152" marB="73152">
                    <a:solidFill>
                      <a:srgbClr val="175D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Book Antiqua"/>
                        </a:defRPr>
                      </a:pPr>
                      <a:r>
                        <a:t>Limitations Disclosed</a:t>
                      </a:r>
                    </a:p>
                  </a:txBody>
                  <a:tcPr marL="73152" marR="73152" marT="73152" marB="73152">
                    <a:solidFill>
                      <a:srgbClr val="175D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StandardScaler</a:t>
                      </a:r>
                    </a:p>
                  </a:txBody>
                  <a:tcPr marL="73152" marR="73152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32 continuous features</a:t>
                      </a:r>
                    </a:p>
                  </a:txBody>
                  <a:tcPr marL="73152" marR="73152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Normalizes diverse feature scales to zero mean, unit variance: z = (x - μ) / σ</a:t>
                      </a:r>
                    </a:p>
                  </a:txBody>
                  <a:tcPr marL="73152" marR="73152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Standardized 32D matrix (μ=0, σ=1)</a:t>
                      </a:r>
                    </a:p>
                  </a:txBody>
                  <a:tcPr marL="73152" marR="73152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Assumes approximately Gaussian-like distributions</a:t>
                      </a:r>
                    </a:p>
                  </a:txBody>
                  <a:tcPr marL="73152" marR="73152" marT="73152" marB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K-Means Clustering</a:t>
                      </a:r>
                    </a:p>
                  </a:txBody>
                  <a:tcPr marL="73152" marR="73152" marT="73152" marB="73152">
                    <a:solidFill>
                      <a:srgbClr val="F7F6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32 standardized features</a:t>
                      </a:r>
                    </a:p>
                  </a:txBody>
                  <a:tcPr marL="73152" marR="73152" marT="73152" marB="73152">
                    <a:solidFill>
                      <a:srgbClr val="F7F6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Discovers unsupervised structural groupings of foliar morphology; tested K=2 to 8</a:t>
                      </a:r>
                    </a:p>
                  </a:txBody>
                  <a:tcPr marL="73152" marR="73152" marT="73152" marB="73152">
                    <a:solidFill>
                      <a:srgbClr val="F7F6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Cluster assignments (K=2 primary, K=4 exploratory)</a:t>
                      </a:r>
                    </a:p>
                  </a:txBody>
                  <a:tcPr marL="73152" marR="73152" marT="73152" marB="73152">
                    <a:solidFill>
                      <a:srgbClr val="F7F6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Partitions visual appearance, NOT biological etiology</a:t>
                      </a:r>
                    </a:p>
                  </a:txBody>
                  <a:tcPr marL="73152" marR="73152" marT="73152" marB="73152">
                    <a:solidFill>
                      <a:srgbClr val="F7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PCA Projection</a:t>
                      </a:r>
                    </a:p>
                  </a:txBody>
                  <a:tcPr marL="73152" marR="73152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32 standardized features</a:t>
                      </a:r>
                    </a:p>
                  </a:txBody>
                  <a:tcPr marL="73152" marR="73152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Reduces 32D space to 2 principal components explaining 52.11% total visual variance</a:t>
                      </a:r>
                    </a:p>
                  </a:txBody>
                  <a:tcPr marL="73152" marR="73152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2D orthogonal scatter coordinates (PC1, PC2)</a:t>
                      </a:r>
                    </a:p>
                  </a:txBody>
                  <a:tcPr marL="73152" marR="73152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Linear projection discards 47.89% residual variance</a:t>
                      </a:r>
                    </a:p>
                  </a:txBody>
                  <a:tcPr marL="73152" marR="73152" marT="73152" marB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Apriori &amp; FP-Growth</a:t>
                      </a:r>
                    </a:p>
                  </a:txBody>
                  <a:tcPr marL="73152" marR="73152" marT="73152" marB="73152">
                    <a:solidFill>
                      <a:srgbClr val="F7F6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12 discretized features</a:t>
                      </a:r>
                    </a:p>
                  </a:txBody>
                  <a:tcPr marL="73152" marR="73152" marT="73152" marB="73152">
                    <a:solidFill>
                      <a:srgbClr val="F7F6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Exhaustive level-wise vs compressed FP-Tree mining of frequent visual itemsets</a:t>
                      </a:r>
                    </a:p>
                  </a:txBody>
                  <a:tcPr marL="73152" marR="73152" marT="73152" marB="73152">
                    <a:solidFill>
                      <a:srgbClr val="F7F6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880 Mode A rules with exact parity (Δ = 0.00000000)</a:t>
                      </a:r>
                    </a:p>
                  </a:txBody>
                  <a:tcPr marL="73152" marR="73152" marT="73152" marB="73152">
                    <a:solidFill>
                      <a:srgbClr val="F7F6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Identifies statistical co-occurrences, not causality</a:t>
                      </a:r>
                    </a:p>
                  </a:txBody>
                  <a:tcPr marL="73152" marR="73152" marT="73152" marB="73152">
                    <a:solidFill>
                      <a:srgbClr val="F7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Nearest Neighbors</a:t>
                      </a:r>
                    </a:p>
                  </a:txBody>
                  <a:tcPr marL="73152" marR="73152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32D Euclidean metric</a:t>
                      </a:r>
                    </a:p>
                  </a:txBody>
                  <a:tcPr marL="73152" marR="73152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Ranks authentic warehouse exemplars by standardized visual descriptor distance</a:t>
                      </a:r>
                    </a:p>
                  </a:txBody>
                  <a:tcPr marL="73152" marR="73152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Top-k reference matches with distance metrics</a:t>
                      </a:r>
                    </a:p>
                  </a:txBody>
                  <a:tcPr marL="73152" marR="73152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Geometric proximity does NOT establish disease diagnosis</a:t>
                      </a:r>
                    </a:p>
                  </a:txBody>
                  <a:tcPr marL="73152" marR="73152" marT="73152" marB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18458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EfficientNet-B0 CNN</a:t>
                      </a:r>
                    </a:p>
                  </a:txBody>
                  <a:tcPr marL="73152" marR="73152" marT="73152" marB="73152">
                    <a:solidFill>
                      <a:srgbClr val="F7F6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224x224 RGB image</a:t>
                      </a:r>
                    </a:p>
                  </a:txBody>
                  <a:tcPr marL="73152" marR="73152" marT="73152" marB="73152">
                    <a:solidFill>
                      <a:srgbClr val="F7F6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Pretrained ImageNet-1K CNN transfer learning for 25-class supervised prediction</a:t>
                      </a:r>
                    </a:p>
                  </a:txBody>
                  <a:tcPr marL="73152" marR="73152" marT="73152" marB="73152">
                    <a:solidFill>
                      <a:srgbClr val="F7F6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Calibrated 25-class probability distribution</a:t>
                      </a:r>
                    </a:p>
                  </a:txBody>
                  <a:tcPr marL="73152" marR="73152" marT="73152" marB="73152">
                    <a:solidFill>
                      <a:srgbClr val="F7F6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Bounded to 25 classes; out-of-domain input rejected</a:t>
                      </a:r>
                    </a:p>
                  </a:txBody>
                  <a:tcPr marL="73152" marR="73152" marT="73152" marB="73152">
                    <a:solidFill>
                      <a:srgbClr val="F7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47472"/>
            <a:ext cx="1072591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2D6A4F"/>
                </a:solidFill>
                <a:latin typeface="Book Antiqua"/>
              </a:defRPr>
            </a:pPr>
            <a:r>
              <a:t>CSI3010: DATA WAREHOUSING &amp; DATA MINING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75D44"/>
                </a:solidFill>
                <a:latin typeface="Book Antiqua"/>
              </a:defRPr>
            </a:pPr>
            <a:r>
              <a:t>Data Warehouse Design: Kimball Star Schema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73952"/>
            <a:ext cx="7772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B7280"/>
                </a:solidFill>
                <a:latin typeface="Book Antiqua"/>
              </a:defRPr>
            </a:pPr>
            <a:r>
              <a:t>AgroVision-Mine: Multimodal Data Warehouse &amp; Supervised Foliar Intelligence — Faculty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73952"/>
            <a:ext cx="1856231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2D6A4F"/>
                </a:solidFill>
                <a:latin typeface="Book Antiqua"/>
              </a:defRPr>
            </a:pPr>
            <a:r>
              <a:t>Slide 11 of 28</a:t>
            </a:r>
          </a:p>
        </p:txBody>
      </p:sp>
      <p:pic>
        <p:nvPicPr>
          <p:cNvPr id="6" name="Picture 5" descr="star_schema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5212080" cy="50292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245352" y="1234440"/>
            <a:ext cx="5212080" cy="5029200"/>
          </a:xfrm>
          <a:prstGeom prst="roundRect">
            <a:avLst/>
          </a:prstGeom>
          <a:solidFill>
            <a:srgbClr val="F7F6E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01384" y="1472184"/>
            <a:ext cx="4700016" cy="45902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75D44"/>
                </a:solidFill>
                <a:latin typeface="Book Antiqua"/>
              </a:defRPr>
            </a:pPr>
            <a:r>
              <a:t>PHYSICAL STAR SCHEMA SPECIFICATION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Central Fact Table: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disease_observation_fact: Grain is exactly one row per validated leaf specimen (2,596 fact rows). Contains foreign keys: crop_key, disease_key, image_key, feature_key.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Additive &amp; Semi-Additive Measures: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observation_count (additive, integer 1 for SQL COUNT aggregation) and lesion_severity_score (semi-additive, continuous 0.00 to 1.00 for AVG analysis).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Dimension 1: dim_crop: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Botanical Host hierarchy (14 rows: crop_key, crop_name, botanical_name, crop_category). Slices queries by agricultural crop groups.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Dimension 2: dim_disease: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Pathology taxonomy (19 rows: disease_key, disease_name, pathogen_type, condition_status). Distinguishes Fungal, Bacterial, Viral, and Healthy baselines.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Dimension 3: dim_image: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Acquisition technical metadata (2,596 rows: image_key, raw_id, file_format, dimensions, dataset_source, md5_hash, blur_score, license).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Dimension 4: dim_visual_feature: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32 continuous descriptors (2,596 rows: feature_key, 19 color moments, 7 GLCM texture metrics, 6 morphometric shape measurements).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47472"/>
            <a:ext cx="1072591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2D6A4F"/>
                </a:solidFill>
                <a:latin typeface="Book Antiqua"/>
              </a:defRPr>
            </a:pPr>
            <a:r>
              <a:t>CSI3010: DATA WAREHOUSING &amp; DATA MINING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75D44"/>
                </a:solidFill>
                <a:latin typeface="Book Antiqua"/>
              </a:defRPr>
            </a:pPr>
            <a:r>
              <a:t>Production ETL Pipeline &amp; Referential Integrity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73952"/>
            <a:ext cx="7772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B7280"/>
                </a:solidFill>
                <a:latin typeface="Book Antiqua"/>
              </a:defRPr>
            </a:pPr>
            <a:r>
              <a:t>AgroVision-Mine: Multimodal Data Warehouse &amp; Supervised Foliar Intelligence — Faculty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73952"/>
            <a:ext cx="1856231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2D6A4F"/>
                </a:solidFill>
                <a:latin typeface="Book Antiqua"/>
              </a:defRPr>
            </a:pPr>
            <a:r>
              <a:t>Slide 12 of 28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212080" cy="5029200"/>
          </a:xfrm>
          <a:prstGeom prst="roundRect">
            <a:avLst/>
          </a:prstGeom>
          <a:solidFill>
            <a:srgbClr val="F7F6E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1472184"/>
            <a:ext cx="4700016" cy="45902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75D44"/>
                </a:solidFill>
                <a:latin typeface="Book Antiqua"/>
              </a:defRPr>
            </a:pPr>
            <a:r>
              <a:t>ETL PIPELINE IMPLEMENTATION PROTOCOL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ETL Architecture: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Engineered in Python using SQLAlchemy 2.0 with atomic transaction management.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1. Native FK Pragma: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conn.execute(text('PRAGMA foreign_keys = ON;')) enforces relational integrity at database engine level.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2. Dimension-First Loading: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Populates all 4 dimension tables first (dim_crop, dim_disease, dim_image, dim_visual_feature) using idempotent surrogate key resolution.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3. Fact Ingestion &amp; Dedup: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Inserts fact rows via INSERT OR IGNORE, preventing duplicate observation injection on pipeline reruns.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4. Atomic Commit: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Wraps entire ETL in a single transaction; rolls back completely on any validation or constraint violation.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1234440"/>
            <a:ext cx="5212080" cy="5029200"/>
          </a:xfrm>
          <a:prstGeom prst="roundRect">
            <a:avLst/>
          </a:prstGeom>
          <a:solidFill>
            <a:srgbClr val="F7F6E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01384" y="1472184"/>
            <a:ext cx="4700016" cy="45902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75D44"/>
                </a:solidFill>
                <a:latin typeface="Book Antiqua"/>
              </a:defRPr>
            </a:pPr>
            <a:r>
              <a:t>VERIFIED ETL EXECUTION &amp; INVARIANCE AUDIT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Complete Ingestion Migration: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Successfully extracted, transformed, and committed all 2,596 canonical observations and 32D feature rows into agrovision_warehouse.db.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Strict 100% Idempotency: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Subsequent execution of the ETL pipeline against the populated warehouse inserts exactly 0 duplicate rows, cleanly skipping all 2,596 existing records.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Zero Referential Drift: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100% of fact foreign keys resolve to valid dimension primary keys. Automated tests prove invalid foreign key insertions are rejected by SQLite.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Surrogate vs Natural Keys: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Employs synthetic integer primary keys (crop_key, disease_key, etc.) for high-performance join indexes, while indexing natural keys (crop_name, md5_hash) for idempotent upserts.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47472"/>
            <a:ext cx="1072591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2D6A4F"/>
                </a:solidFill>
                <a:latin typeface="Book Antiqua"/>
              </a:defRPr>
            </a:pPr>
            <a:r>
              <a:t>CSI3010: DATA WAREHOUSING &amp; DATA MINING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75D44"/>
                </a:solidFill>
                <a:latin typeface="Book Antiqua"/>
              </a:defRPr>
            </a:pPr>
            <a:r>
              <a:t>Data Governance &amp; Integrity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73952"/>
            <a:ext cx="7772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B7280"/>
                </a:solidFill>
                <a:latin typeface="Book Antiqua"/>
              </a:defRPr>
            </a:pPr>
            <a:r>
              <a:t>AgroVision-Mine: Multimodal Data Warehouse &amp; Supervised Foliar Intelligence — Faculty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73952"/>
            <a:ext cx="1856231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2D6A4F"/>
                </a:solidFill>
                <a:latin typeface="Book Antiqua"/>
              </a:defRPr>
            </a:pPr>
            <a:r>
              <a:t>Slide 13 of 28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2468880" cy="1188720"/>
          </a:xfrm>
          <a:prstGeom prst="roundRect">
            <a:avLst/>
          </a:prstGeom>
          <a:solidFill>
            <a:srgbClr val="F7F6E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344168"/>
            <a:ext cx="2286000" cy="9692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000" b="1">
                <a:solidFill>
                  <a:srgbClr val="175D44"/>
                </a:solidFill>
                <a:latin typeface="Book Antiqua"/>
              </a:defRPr>
            </a:pPr>
            <a:r>
              <a:t>0.00%</a:t>
            </a:r>
          </a:p>
          <a:p>
            <a:pPr algn="ctr">
              <a:defRPr sz="950" b="1">
                <a:solidFill>
                  <a:srgbClr val="1C1C1C"/>
                </a:solidFill>
                <a:latin typeface="Book Antiqua"/>
              </a:defRPr>
            </a:pPr>
            <a:r>
              <a:t>MISSING VALUES</a:t>
            </a:r>
          </a:p>
          <a:p>
            <a:pPr algn="ctr">
              <a:defRPr sz="850">
                <a:solidFill>
                  <a:srgbClr val="4B5563"/>
                </a:solidFill>
                <a:latin typeface="Book Antiqua"/>
              </a:defRPr>
            </a:pPr>
            <a:r>
              <a:t>Zero nulls across all 44 columns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234440"/>
            <a:ext cx="2468880" cy="1188720"/>
          </a:xfrm>
          <a:prstGeom prst="roundRect">
            <a:avLst/>
          </a:prstGeom>
          <a:solidFill>
            <a:srgbClr val="F7F6E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66160" y="1344168"/>
            <a:ext cx="2286000" cy="9692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000" b="1">
                <a:solidFill>
                  <a:srgbClr val="2D6A4F"/>
                </a:solidFill>
                <a:latin typeface="Book Antiqua"/>
              </a:defRPr>
            </a:pPr>
            <a:r>
              <a:t>0 Duplicates</a:t>
            </a:r>
          </a:p>
          <a:p>
            <a:pPr algn="ctr">
              <a:defRPr sz="950" b="1">
                <a:solidFill>
                  <a:srgbClr val="1C1C1C"/>
                </a:solidFill>
                <a:latin typeface="Book Antiqua"/>
              </a:defRPr>
            </a:pPr>
            <a:r>
              <a:t>CONTENT DUPLICATION</a:t>
            </a:r>
          </a:p>
          <a:p>
            <a:pPr algn="ctr">
              <a:defRPr sz="850">
                <a:solidFill>
                  <a:srgbClr val="4B5563"/>
                </a:solidFill>
                <a:latin typeface="Book Antiqua"/>
              </a:defRPr>
            </a:pPr>
            <a:r>
              <a:t>MD5 &amp; dHash deduplicated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1234440"/>
            <a:ext cx="2468880" cy="1188720"/>
          </a:xfrm>
          <a:prstGeom prst="roundRect">
            <a:avLst/>
          </a:prstGeom>
          <a:solidFill>
            <a:srgbClr val="F7F6E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36792" y="1344168"/>
            <a:ext cx="2286000" cy="9692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000" b="1">
                <a:solidFill>
                  <a:srgbClr val="1F4E79"/>
                </a:solidFill>
                <a:latin typeface="Book Antiqua"/>
              </a:defRPr>
            </a:pPr>
            <a:r>
              <a:t>100%</a:t>
            </a:r>
          </a:p>
          <a:p>
            <a:pPr algn="ctr">
              <a:defRPr sz="950" b="1">
                <a:solidFill>
                  <a:srgbClr val="1C1C1C"/>
                </a:solidFill>
                <a:latin typeface="Book Antiqua"/>
              </a:defRPr>
            </a:pPr>
            <a:r>
              <a:t>FOREIGN KEY INTEGRITY</a:t>
            </a:r>
          </a:p>
          <a:p>
            <a:pPr algn="ctr">
              <a:defRPr sz="850">
                <a:solidFill>
                  <a:srgbClr val="4B5563"/>
                </a:solidFill>
                <a:latin typeface="Book Antiqua"/>
              </a:defRPr>
            </a:pPr>
            <a:r>
              <a:t>PRAGMA foreign_keys = 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88552" y="1234440"/>
            <a:ext cx="2468880" cy="1188720"/>
          </a:xfrm>
          <a:prstGeom prst="roundRect">
            <a:avLst/>
          </a:prstGeom>
          <a:solidFill>
            <a:srgbClr val="F7F6E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079992" y="1344168"/>
            <a:ext cx="2286000" cy="9692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000" b="1">
                <a:solidFill>
                  <a:srgbClr val="175D44"/>
                </a:solidFill>
                <a:latin typeface="Book Antiqua"/>
              </a:defRPr>
            </a:pPr>
            <a:r>
              <a:t>Invariant</a:t>
            </a:r>
          </a:p>
          <a:p>
            <a:pPr algn="ctr">
              <a:defRPr sz="950" b="1">
                <a:solidFill>
                  <a:srgbClr val="1C1C1C"/>
                </a:solidFill>
                <a:latin typeface="Book Antiqua"/>
              </a:defRPr>
            </a:pPr>
            <a:r>
              <a:t>CRYPTOGRAPHIC HASHES</a:t>
            </a:r>
          </a:p>
          <a:p>
            <a:pPr algn="ctr">
              <a:defRPr sz="850">
                <a:solidFill>
                  <a:srgbClr val="4B5563"/>
                </a:solidFill>
                <a:latin typeface="Book Antiqua"/>
              </a:defRPr>
            </a:pPr>
            <a:r>
              <a:t>Exact SHA-256 manifest match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731520" y="2651760"/>
          <a:ext cx="10725912" cy="361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679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198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Book Antiqua"/>
                        </a:defRPr>
                      </a:pPr>
                      <a:r>
                        <a:t>Audit Check</a:t>
                      </a:r>
                    </a:p>
                  </a:txBody>
                  <a:tcPr marL="73152" marR="73152" marT="73152" marB="73152">
                    <a:solidFill>
                      <a:srgbClr val="175D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Book Antiqua"/>
                        </a:defRPr>
                      </a:pPr>
                      <a:r>
                        <a:t>Expected Threshold</a:t>
                      </a:r>
                    </a:p>
                  </a:txBody>
                  <a:tcPr marL="73152" marR="73152" marT="73152" marB="73152">
                    <a:solidFill>
                      <a:srgbClr val="175D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Book Antiqua"/>
                        </a:defRPr>
                      </a:pPr>
                      <a:r>
                        <a:t>Measured Result</a:t>
                      </a:r>
                    </a:p>
                  </a:txBody>
                  <a:tcPr marL="73152" marR="73152" marT="73152" marB="73152">
                    <a:solidFill>
                      <a:srgbClr val="175D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Book Antiqua"/>
                        </a:defRPr>
                      </a:pPr>
                      <a:r>
                        <a:t>Status &amp; Academic Evidence</a:t>
                      </a:r>
                    </a:p>
                  </a:txBody>
                  <a:tcPr marL="73152" marR="73152" marT="73152" marB="73152">
                    <a:solidFill>
                      <a:srgbClr val="175D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1980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SQLite Foreign Key Constraints</a:t>
                      </a:r>
                    </a:p>
                  </a:txBody>
                  <a:tcPr marL="73152" marR="73152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100% Enforced (PRAGMA=1)</a:t>
                      </a:r>
                    </a:p>
                  </a:txBody>
                  <a:tcPr marL="73152" marR="73152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0 Violations (PRAGMA foreign_keys = ON)</a:t>
                      </a:r>
                    </a:p>
                  </a:txBody>
                  <a:tcPr marL="73152" marR="73152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PASS: All 2,596 fact rows resolve to valid dimension PKs; orphan inserts fail.</a:t>
                      </a:r>
                    </a:p>
                  </a:txBody>
                  <a:tcPr marL="73152" marR="73152" marT="73152" marB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1980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Fact Table PK Uniqueness</a:t>
                      </a:r>
                    </a:p>
                  </a:txBody>
                  <a:tcPr marL="73152" marR="73152" marT="73152" marB="73152">
                    <a:solidFill>
                      <a:srgbClr val="F7F6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100% Unique observation_key</a:t>
                      </a:r>
                    </a:p>
                  </a:txBody>
                  <a:tcPr marL="73152" marR="73152" marT="73152" marB="73152">
                    <a:solidFill>
                      <a:srgbClr val="F7F6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2,596 Unique PKs (1 to 2,596)</a:t>
                      </a:r>
                    </a:p>
                  </a:txBody>
                  <a:tcPr marL="73152" marR="73152" marT="73152" marB="73152">
                    <a:solidFill>
                      <a:srgbClr val="F7F6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PASS: Zero duplicate, missing, or colliding primary keys across the warehouse.</a:t>
                      </a:r>
                    </a:p>
                  </a:txBody>
                  <a:tcPr marL="73152" marR="73152" marT="73152" marB="73152">
                    <a:solidFill>
                      <a:srgbClr val="F7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1980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Feature Store Completeness</a:t>
                      </a:r>
                    </a:p>
                  </a:txBody>
                  <a:tcPr marL="73152" marR="73152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44 Required Columns Present</a:t>
                      </a:r>
                    </a:p>
                  </a:txBody>
                  <a:tcPr marL="73152" marR="73152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44 Columns Present (100% non-null)</a:t>
                      </a:r>
                    </a:p>
                  </a:txBody>
                  <a:tcPr marL="73152" marR="73152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PASS: 32 continuous descriptors + 12 metadata fields fully verified.</a:t>
                      </a:r>
                    </a:p>
                  </a:txBody>
                  <a:tcPr marL="73152" marR="73152" marT="73152" marB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1980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Cryptographic Manifest Hash</a:t>
                      </a:r>
                    </a:p>
                  </a:txBody>
                  <a:tcPr marL="73152" marR="73152" marT="73152" marB="73152">
                    <a:solidFill>
                      <a:srgbClr val="F7F6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c7fd16dc...1cb8</a:t>
                      </a:r>
                    </a:p>
                  </a:txBody>
                  <a:tcPr marL="73152" marR="73152" marT="73152" marB="73152">
                    <a:solidFill>
                      <a:srgbClr val="F7F6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c7fd16dcd6c1f8623f3e25a48b572387...</a:t>
                      </a:r>
                    </a:p>
                  </a:txBody>
                  <a:tcPr marL="73152" marR="73152" marT="73152" marB="73152">
                    <a:solidFill>
                      <a:srgbClr val="F7F6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PASS: Exact SHA-256 match confirms zero post-freeze file mutations.</a:t>
                      </a:r>
                    </a:p>
                  </a:txBody>
                  <a:tcPr marL="73152" marR="73152" marT="73152" marB="73152">
                    <a:solidFill>
                      <a:srgbClr val="F7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1980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Feature Store Hash</a:t>
                      </a:r>
                    </a:p>
                  </a:txBody>
                  <a:tcPr marL="73152" marR="73152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f6caf70b...093c1</a:t>
                      </a:r>
                    </a:p>
                  </a:txBody>
                  <a:tcPr marL="73152" marR="73152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f6caf70bd07eeda335e471705e3763d3...</a:t>
                      </a:r>
                    </a:p>
                  </a:txBody>
                  <a:tcPr marL="73152" marR="73152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PASS: Exact SHA-256 match proves feature matrix numerical immutability.</a:t>
                      </a:r>
                    </a:p>
                  </a:txBody>
                  <a:tcPr marL="73152" marR="73152" marT="73152" marB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47472"/>
            <a:ext cx="1072591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2D6A4F"/>
                </a:solidFill>
                <a:latin typeface="Book Antiqua"/>
              </a:defRPr>
            </a:pPr>
            <a:r>
              <a:t>CSI3010: DATA WAREHOUSING &amp; DATA MINING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75D44"/>
                </a:solidFill>
                <a:latin typeface="Book Antiqua"/>
              </a:defRPr>
            </a:pPr>
            <a:r>
              <a:t>SQL-Backed OLAP Operations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73952"/>
            <a:ext cx="7772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B7280"/>
                </a:solidFill>
                <a:latin typeface="Book Antiqua"/>
              </a:defRPr>
            </a:pPr>
            <a:r>
              <a:t>AgroVision-Mine: Multimodal Data Warehouse &amp; Supervised Foliar Intelligence — Faculty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73952"/>
            <a:ext cx="1856231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2D6A4F"/>
                </a:solidFill>
                <a:latin typeface="Book Antiqua"/>
              </a:defRPr>
            </a:pPr>
            <a:r>
              <a:t>Slide 14 of 28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212080" cy="2423160"/>
          </a:xfrm>
          <a:prstGeom prst="roundRect">
            <a:avLst/>
          </a:prstGeom>
          <a:solidFill>
            <a:srgbClr val="F7F6E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1472184"/>
            <a:ext cx="4700016" cy="1984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75D44"/>
                </a:solidFill>
                <a:latin typeface="Book Antiqua"/>
              </a:defRPr>
            </a:pPr>
            <a:r>
              <a:t>1. ROLL-UP OPERATION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Hierarchical Aggregation: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Ascends the botanical hierarchy: Leaf Observation -&gt; Host Crop -&gt; Crop Category.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SQL Execution: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SELECT c.crop_category, COUNT(f.observation_key) AS total, AVG(f.lesion_severity_score) AS avg_sev FROM disease_observation_fact f JOIN dim_crop c ON f.crop_key = c.crop_key GROUP BY c.crop_category;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Benchmark: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Executed in 14.1 ms across all 2,596 warehouse fact rows.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1234440"/>
            <a:ext cx="5212080" cy="2423160"/>
          </a:xfrm>
          <a:prstGeom prst="roundRect">
            <a:avLst/>
          </a:prstGeom>
          <a:solidFill>
            <a:srgbClr val="F7F6E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01384" y="1472184"/>
            <a:ext cx="4700016" cy="1984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75D44"/>
                </a:solidFill>
                <a:latin typeface="Book Antiqua"/>
              </a:defRPr>
            </a:pPr>
            <a:r>
              <a:t>2. DRILL-DOWN OPERATION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Hierarchical Decomposition: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Descends the pathology taxonomy: Crop Category -&gt; Pathology Diagnosis -&gt; Specific Pathogen.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SQL Execution: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SELECT d.disease_name, d.pathogen_type, COUNT(f.observation_key) AS obs_count FROM disease_observation_fact f JOIN dim_disease d ON f.disease_key = d.disease_key WHERE f.crop_key = ? GROUP BY d.disease_name;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Benchmark: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Executed in 2.2 ms for fine-grained disease breakdown.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5212080" cy="2423160"/>
          </a:xfrm>
          <a:prstGeom prst="roundRect">
            <a:avLst/>
          </a:prstGeom>
          <a:solidFill>
            <a:srgbClr val="F7F6E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87552" y="4078224"/>
            <a:ext cx="4700016" cy="1984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75D44"/>
                </a:solidFill>
                <a:latin typeface="Book Antiqua"/>
              </a:defRPr>
            </a:pPr>
            <a:r>
              <a:t>3. SLICE &amp; DICE SUB-CUBE OPERATIONS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Single &amp; Multi-Dimension Filtering: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Slice: Filters on 1 dimension (WHERE c.crop_name = 'Rice'). Dice: Filters sub-cube across 2+ dimensions (WHERE c.crop_name IN ('Tomato','Corn') AND d.pathogen_type = 'Fungal').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SQL Execution: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Parameterized SELECT with WHERE filters applied to dimension keys.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Benchmark: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Slice latency: 1.56 ms | Dice latency: 1.54 ms.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3840480"/>
            <a:ext cx="5212080" cy="2423160"/>
          </a:xfrm>
          <a:prstGeom prst="roundRect">
            <a:avLst/>
          </a:prstGeom>
          <a:solidFill>
            <a:srgbClr val="F7F6E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01384" y="4078224"/>
            <a:ext cx="4700016" cy="1984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75D44"/>
                </a:solidFill>
                <a:latin typeface="Book Antiqua"/>
              </a:defRPr>
            </a:pPr>
            <a:r>
              <a:t>4. PIVOT MATRIX OPERATION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Cross-Tabulation Matrix: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Rotates dimensional axes: Host Crop Species (rows) vs Severity Tiers (columns).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SQL Execution: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CASE WHEN f.lesion_severity_score &lt; 0.30 THEN 'Low' WHEN f.lesion_severity_score &lt;= 0.60 THEN 'Moderate' ELSE 'Severe' END crosstab.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Benchmark: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Executed in 2.15 ms producing clean 14x3 matrix.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47472"/>
            <a:ext cx="1072591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2D6A4F"/>
                </a:solidFill>
                <a:latin typeface="Book Antiqua"/>
              </a:defRPr>
            </a:pPr>
            <a:r>
              <a:t>CSI3010: DATA WAREHOUSING &amp; DATA MINING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75D44"/>
                </a:solidFill>
                <a:latin typeface="Book Antiqua"/>
              </a:defRPr>
            </a:pPr>
            <a:r>
              <a:t>Physical Warehouse: Actual OLAP Query Outputs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73952"/>
            <a:ext cx="7772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B7280"/>
                </a:solidFill>
                <a:latin typeface="Book Antiqua"/>
              </a:defRPr>
            </a:pPr>
            <a:r>
              <a:t>AgroVision-Mine: Multimodal Data Warehouse &amp; Supervised Foliar Intelligence — Faculty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73952"/>
            <a:ext cx="1856231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2D6A4F"/>
                </a:solidFill>
                <a:latin typeface="Book Antiqua"/>
              </a:defRPr>
            </a:pPr>
            <a:r>
              <a:t>Slide 15 of 28</a:t>
            </a:r>
          </a:p>
        </p:txBody>
      </p:sp>
      <p:pic>
        <p:nvPicPr>
          <p:cNvPr id="6" name="Picture 5" descr="olap_output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5212080" cy="29260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4343400"/>
            <a:ext cx="5212080" cy="1920240"/>
          </a:xfrm>
          <a:prstGeom prst="roundRect">
            <a:avLst/>
          </a:prstGeom>
          <a:solidFill>
            <a:srgbClr val="F7F6E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7552" y="4581144"/>
            <a:ext cx="4700016" cy="1481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75D44"/>
                </a:solidFill>
                <a:latin typeface="Book Antiqua"/>
              </a:defRPr>
            </a:pPr>
            <a:r>
              <a:t>REAL-TIME QUERY TELEMETRY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Low-Latency SQL Engine: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All OLAP queries execute live via SQLAlchemy 2.0 connected to agrovision_warehouse.db. Sub-15ms response times enable interactive frontend slicing without caching artifacts.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45352" y="1234440"/>
          <a:ext cx="521208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6388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Book Antiqua"/>
                        </a:defRPr>
                      </a:pPr>
                      <a:r>
                        <a:t>Crop Category / Sub-Cube</a:t>
                      </a:r>
                    </a:p>
                  </a:txBody>
                  <a:tcPr marL="73152" marR="73152" marT="73152" marB="73152">
                    <a:solidFill>
                      <a:srgbClr val="175D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Book Antiqua"/>
                        </a:defRPr>
                      </a:pPr>
                      <a:r>
                        <a:t>Taxonomic Scope</a:t>
                      </a:r>
                    </a:p>
                  </a:txBody>
                  <a:tcPr marL="73152" marR="73152" marT="73152" marB="73152">
                    <a:solidFill>
                      <a:srgbClr val="175D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Book Antiqua"/>
                        </a:defRPr>
                      </a:pPr>
                      <a:r>
                        <a:t>Obs Count</a:t>
                      </a:r>
                    </a:p>
                  </a:txBody>
                  <a:tcPr marL="73152" marR="73152" marT="73152" marB="73152">
                    <a:solidFill>
                      <a:srgbClr val="175D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Book Antiqua"/>
                        </a:defRPr>
                      </a:pPr>
                      <a:r>
                        <a:t>Avg Severity</a:t>
                      </a:r>
                    </a:p>
                  </a:txBody>
                  <a:tcPr marL="73152" marR="73152" marT="73152" marB="73152">
                    <a:solidFill>
                      <a:srgbClr val="175D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Horticultural Crops</a:t>
                      </a:r>
                    </a:p>
                  </a:txBody>
                  <a:tcPr marL="73152" marR="73152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12 Crops (Tomato, Apple, etc.)</a:t>
                      </a:r>
                    </a:p>
                  </a:txBody>
                  <a:tcPr marL="73152" marR="73152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2,123</a:t>
                      </a:r>
                    </a:p>
                  </a:txBody>
                  <a:tcPr marL="73152" marR="73152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0.354</a:t>
                      </a:r>
                    </a:p>
                  </a:txBody>
                  <a:tcPr marL="73152" marR="73152" marT="73152" marB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Cereal Crops (Corn + Rice)</a:t>
                      </a:r>
                    </a:p>
                  </a:txBody>
                  <a:tcPr marL="73152" marR="73152" marT="73152" marB="73152">
                    <a:solidFill>
                      <a:srgbClr val="F7F6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Corn (372) + Rice (36)</a:t>
                      </a:r>
                    </a:p>
                  </a:txBody>
                  <a:tcPr marL="73152" marR="73152" marT="73152" marB="73152">
                    <a:solidFill>
                      <a:srgbClr val="F7F6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408</a:t>
                      </a:r>
                    </a:p>
                  </a:txBody>
                  <a:tcPr marL="73152" marR="73152" marT="73152" marB="73152">
                    <a:solidFill>
                      <a:srgbClr val="F7F6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0.378</a:t>
                      </a:r>
                    </a:p>
                  </a:txBody>
                  <a:tcPr marL="73152" marR="73152" marT="73152" marB="73152">
                    <a:solidFill>
                      <a:srgbClr val="F7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Legume Crops</a:t>
                      </a:r>
                    </a:p>
                  </a:txBody>
                  <a:tcPr marL="73152" marR="73152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Soybean (Healthy baseline)</a:t>
                      </a:r>
                    </a:p>
                  </a:txBody>
                  <a:tcPr marL="73152" marR="73152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65</a:t>
                      </a:r>
                    </a:p>
                  </a:txBody>
                  <a:tcPr marL="73152" marR="73152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0.000</a:t>
                      </a:r>
                    </a:p>
                  </a:txBody>
                  <a:tcPr marL="73152" marR="73152" marT="73152" marB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Authenticated Rice Subset</a:t>
                      </a:r>
                    </a:p>
                  </a:txBody>
                  <a:tcPr marL="73152" marR="73152" marT="73152" marB="73152">
                    <a:solidFill>
                      <a:srgbClr val="F7F6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ICAR Pathology Benchmark</a:t>
                      </a:r>
                    </a:p>
                  </a:txBody>
                  <a:tcPr marL="73152" marR="73152" marT="73152" marB="73152">
                    <a:solidFill>
                      <a:srgbClr val="F7F6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36</a:t>
                      </a:r>
                    </a:p>
                  </a:txBody>
                  <a:tcPr marL="73152" marR="73152" marT="73152" marB="73152">
                    <a:solidFill>
                      <a:srgbClr val="F7F6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0.342</a:t>
                      </a:r>
                    </a:p>
                  </a:txBody>
                  <a:tcPr marL="73152" marR="73152" marT="73152" marB="73152">
                    <a:solidFill>
                      <a:srgbClr val="F7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Solanaceae Fungal Dice</a:t>
                      </a:r>
                    </a:p>
                  </a:txBody>
                  <a:tcPr marL="73152" marR="73152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Tomato &amp; Potato (Fungal)</a:t>
                      </a:r>
                    </a:p>
                  </a:txBody>
                  <a:tcPr marL="73152" marR="73152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682</a:t>
                      </a:r>
                    </a:p>
                  </a:txBody>
                  <a:tcPr marL="73152" marR="73152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0.412</a:t>
                      </a:r>
                    </a:p>
                  </a:txBody>
                  <a:tcPr marL="73152" marR="73152" marT="73152" marB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6392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TOTAL UNIFIED WAREHOUSE</a:t>
                      </a:r>
                    </a:p>
                  </a:txBody>
                  <a:tcPr marL="73152" marR="73152" marT="73152" marB="73152">
                    <a:solidFill>
                      <a:srgbClr val="F7F6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14 Crops / 19 Conditions</a:t>
                      </a:r>
                    </a:p>
                  </a:txBody>
                  <a:tcPr marL="73152" marR="73152" marT="73152" marB="73152">
                    <a:solidFill>
                      <a:srgbClr val="F7F6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2,596</a:t>
                      </a:r>
                    </a:p>
                  </a:txBody>
                  <a:tcPr marL="73152" marR="73152" marT="73152" marB="73152">
                    <a:solidFill>
                      <a:srgbClr val="F7F6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0.351</a:t>
                      </a:r>
                    </a:p>
                  </a:txBody>
                  <a:tcPr marL="73152" marR="73152" marT="73152" marB="73152">
                    <a:solidFill>
                      <a:srgbClr val="F7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245352" y="4892040"/>
            <a:ext cx="5212080" cy="1371600"/>
          </a:xfrm>
          <a:prstGeom prst="roundRect">
            <a:avLst/>
          </a:prstGeom>
          <a:solidFill>
            <a:srgbClr val="E0F2E8"/>
          </a:solidFill>
          <a:ln w="12700"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01384" y="5129783"/>
            <a:ext cx="4700016" cy="932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75D44"/>
                </a:solidFill>
                <a:latin typeface="Book Antiqua"/>
              </a:defRPr>
            </a:pPr>
            <a:r>
              <a:t>AGRONOMIC SUB-CUBE INTERPRETATION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Cross-Category Agronomic Insights: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Legume baseline exhibits 0.00 severity (all healthy). Fungal Solanaceae sub-cube displays the highest average lesion coverage (0.412), reflecting aggressive late blight necrosis.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47472"/>
            <a:ext cx="1072591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2D6A4F"/>
                </a:solidFill>
                <a:latin typeface="Book Antiqua"/>
              </a:defRPr>
            </a:pPr>
            <a:r>
              <a:t>CSI3010: DATA WAREHOUSING &amp; DATA MINING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75D44"/>
                </a:solidFill>
                <a:latin typeface="Book Antiqua"/>
              </a:defRPr>
            </a:pPr>
            <a:r>
              <a:t>Visual Pattern Mining: Dual-K Clustering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73952"/>
            <a:ext cx="7772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B7280"/>
                </a:solidFill>
                <a:latin typeface="Book Antiqua"/>
              </a:defRPr>
            </a:pPr>
            <a:r>
              <a:t>AgroVision-Mine: Multimodal Data Warehouse &amp; Supervised Foliar Intelligence — Faculty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73952"/>
            <a:ext cx="1856231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2D6A4F"/>
                </a:solidFill>
                <a:latin typeface="Book Antiqua"/>
              </a:defRPr>
            </a:pPr>
            <a:r>
              <a:t>Slide 16 of 28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234440"/>
          <a:ext cx="5212080" cy="24627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Book Antiqua"/>
                        </a:defRPr>
                      </a:pPr>
                      <a:r>
                        <a:t>K Value</a:t>
                      </a:r>
                    </a:p>
                  </a:txBody>
                  <a:tcPr marL="73152" marR="73152" marT="73152" marB="73152">
                    <a:solidFill>
                      <a:srgbClr val="175D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Book Antiqua"/>
                        </a:defRPr>
                      </a:pPr>
                      <a:r>
                        <a:t>Silhouette (↑)</a:t>
                      </a:r>
                    </a:p>
                  </a:txBody>
                  <a:tcPr marL="73152" marR="73152" marT="73152" marB="73152">
                    <a:solidFill>
                      <a:srgbClr val="175D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Book Antiqua"/>
                        </a:defRPr>
                      </a:pPr>
                      <a:r>
                        <a:t>Davies-Bouldin (↓)</a:t>
                      </a:r>
                    </a:p>
                  </a:txBody>
                  <a:tcPr marL="73152" marR="73152" marT="73152" marB="73152">
                    <a:solidFill>
                      <a:srgbClr val="175D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Book Antiqua"/>
                        </a:defRPr>
                      </a:pPr>
                      <a:r>
                        <a:t>Calinski-Harabasz (↑)</a:t>
                      </a:r>
                    </a:p>
                  </a:txBody>
                  <a:tcPr marL="73152" marR="73152" marT="73152" marB="73152">
                    <a:solidFill>
                      <a:srgbClr val="175D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K = 2 (Best)</a:t>
                      </a:r>
                    </a:p>
                  </a:txBody>
                  <a:tcPr marL="73152" marR="73152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0.4060</a:t>
                      </a:r>
                    </a:p>
                  </a:txBody>
                  <a:tcPr marL="73152" marR="73152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1.0990</a:t>
                      </a:r>
                    </a:p>
                  </a:txBody>
                  <a:tcPr marL="73152" marR="73152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1,154.38</a:t>
                      </a:r>
                    </a:p>
                  </a:txBody>
                  <a:tcPr marL="73152" marR="73152" marT="73152" marB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K = 3</a:t>
                      </a:r>
                    </a:p>
                  </a:txBody>
                  <a:tcPr marL="73152" marR="73152" marT="73152" marB="73152">
                    <a:solidFill>
                      <a:srgbClr val="F7F6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0.1821</a:t>
                      </a:r>
                    </a:p>
                  </a:txBody>
                  <a:tcPr marL="73152" marR="73152" marT="73152" marB="73152">
                    <a:solidFill>
                      <a:srgbClr val="F7F6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1.7629</a:t>
                      </a:r>
                    </a:p>
                  </a:txBody>
                  <a:tcPr marL="73152" marR="73152" marT="73152" marB="73152">
                    <a:solidFill>
                      <a:srgbClr val="F7F6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820.65</a:t>
                      </a:r>
                    </a:p>
                  </a:txBody>
                  <a:tcPr marL="73152" marR="73152" marT="73152" marB="73152">
                    <a:solidFill>
                      <a:srgbClr val="F7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K = 4 (Subpart)</a:t>
                      </a:r>
                    </a:p>
                  </a:txBody>
                  <a:tcPr marL="73152" marR="73152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0.1651</a:t>
                      </a:r>
                    </a:p>
                  </a:txBody>
                  <a:tcPr marL="73152" marR="73152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1.8339</a:t>
                      </a:r>
                    </a:p>
                  </a:txBody>
                  <a:tcPr marL="73152" marR="73152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674.33</a:t>
                      </a:r>
                    </a:p>
                  </a:txBody>
                  <a:tcPr marL="73152" marR="73152" marT="73152" marB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K = 5</a:t>
                      </a:r>
                    </a:p>
                  </a:txBody>
                  <a:tcPr marL="73152" marR="73152" marT="73152" marB="73152">
                    <a:solidFill>
                      <a:srgbClr val="F7F6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0.1623</a:t>
                      </a:r>
                    </a:p>
                  </a:txBody>
                  <a:tcPr marL="73152" marR="73152" marT="73152" marB="73152">
                    <a:solidFill>
                      <a:srgbClr val="F7F6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1.7326</a:t>
                      </a:r>
                    </a:p>
                  </a:txBody>
                  <a:tcPr marL="73152" marR="73152" marT="73152" marB="73152">
                    <a:solidFill>
                      <a:srgbClr val="F7F6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589.29</a:t>
                      </a:r>
                    </a:p>
                  </a:txBody>
                  <a:tcPr marL="73152" marR="73152" marT="73152" marB="73152">
                    <a:solidFill>
                      <a:srgbClr val="F7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K = 6</a:t>
                      </a:r>
                    </a:p>
                  </a:txBody>
                  <a:tcPr marL="73152" marR="73152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0.1648</a:t>
                      </a:r>
                    </a:p>
                  </a:txBody>
                  <a:tcPr marL="73152" marR="73152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1.6312</a:t>
                      </a:r>
                    </a:p>
                  </a:txBody>
                  <a:tcPr marL="73152" marR="73152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529.40</a:t>
                      </a:r>
                    </a:p>
                  </a:txBody>
                  <a:tcPr marL="73152" marR="73152" marT="73152" marB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3794760"/>
            <a:ext cx="5212080" cy="2468880"/>
          </a:xfrm>
          <a:prstGeom prst="roundRect">
            <a:avLst/>
          </a:prstGeom>
          <a:solidFill>
            <a:srgbClr val="F7F6E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7552" y="4032504"/>
            <a:ext cx="4700016" cy="20299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75D44"/>
                </a:solidFill>
                <a:latin typeface="Book Antiqua"/>
              </a:defRPr>
            </a:pPr>
            <a:r>
              <a:t>DUAL-K METRIC OPTIMALITY &amp; STABILITY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K=2 Primary Metric Solution: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Cluster 0 (2,150 images, 82.8%) vs Cluster 1 (446 images, 17.2%). Distinguishes dense green foliage from high-contrast textured lesions.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K=4 Exploratory Sub-Partition: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Subdivides visual space into 4 exploratory morphology groups for agronomic discovery (Davies-Bouldin = 1.8339).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Multi-Seed Algorithmic Stability: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Pairwise Adjusted Rand Index ARI = 1.0000 across seeds [0, 1, 42, 100, 999], proving zero random cluster instability.</a:t>
            </a:r>
          </a:p>
        </p:txBody>
      </p:sp>
      <p:pic>
        <p:nvPicPr>
          <p:cNvPr id="9" name="Picture 8" descr="kmeans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1234440"/>
            <a:ext cx="5212080" cy="29260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245352" y="4343400"/>
            <a:ext cx="5212080" cy="1920240"/>
          </a:xfrm>
          <a:prstGeom prst="roundRect">
            <a:avLst/>
          </a:prstGeom>
          <a:solidFill>
            <a:srgbClr val="FFF8E1"/>
          </a:solidFill>
          <a:ln w="12700">
            <a:solidFill>
              <a:srgbClr val="FFE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01384" y="4581144"/>
            <a:ext cx="4700016" cy="1481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75D44"/>
                </a:solidFill>
                <a:latin typeface="Book Antiqua"/>
              </a:defRPr>
            </a:pPr>
            <a:r>
              <a:t>SCIENTIFIC CAVEAT ON UNSUPERVISED CLUSTERING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Critical Epistemological Boundary: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Clustering groups foliar specimens strictly by mathematical visual descriptor proximity in standardized 32D space. It does NOT cluster by biological etiology (pathogen species).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Warehouse Schema Integration: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Precomputed cluster labels (k2_cluster, k4_cluster) and PCA coordinates are persisted in data/features/clustering_assignments_v2.csv.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47472"/>
            <a:ext cx="1072591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2D6A4F"/>
                </a:solidFill>
                <a:latin typeface="Book Antiqua"/>
              </a:defRPr>
            </a:pPr>
            <a:r>
              <a:t>CSI3010: DATA WAREHOUSING &amp; DATA MINING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75D44"/>
                </a:solidFill>
                <a:latin typeface="Book Antiqua"/>
              </a:defRPr>
            </a:pPr>
            <a:r>
              <a:t>Dimensionality Reduction: 2D PCA Loadings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73952"/>
            <a:ext cx="7772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B7280"/>
                </a:solidFill>
                <a:latin typeface="Book Antiqua"/>
              </a:defRPr>
            </a:pPr>
            <a:r>
              <a:t>AgroVision-Mine: Multimodal Data Warehouse &amp; Supervised Foliar Intelligence — Faculty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73952"/>
            <a:ext cx="1856231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2D6A4F"/>
                </a:solidFill>
                <a:latin typeface="Book Antiqua"/>
              </a:defRPr>
            </a:pPr>
            <a:r>
              <a:t>Slide 17 of 28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212080" cy="5029200"/>
          </a:xfrm>
          <a:prstGeom prst="roundRect">
            <a:avLst/>
          </a:prstGeom>
          <a:solidFill>
            <a:srgbClr val="F7F6E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1472184"/>
            <a:ext cx="4700016" cy="45902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75D44"/>
                </a:solidFill>
                <a:latin typeface="Book Antiqua"/>
              </a:defRPr>
            </a:pPr>
            <a:r>
              <a:t>2D PCA PROJECTION LOADINGS &amp; VARIANCE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Cumulative Explained Variance: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52.11% total variance captured across 2 principal components (PC1 = 38.56%, PC2 = 13.55%), reducing 32 dimensions by 93.7% while preserving majority information.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Physical Interpretation of PC1 (38.56%):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Dominant positive loadings on foliar luminance (rgb_r_mean +0.252, rgb_g_mean +0.248, glcm_asm +0.248); negative loadings on perimeter (-0.231) and saturation (-0.219). Captures surface brightness vs dark canopy borders.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Physical Interpretation of PC2 (13.55%):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Dominant positive loadings on textural roughness (glcm_contrast +0.384, dissimilarity +0.379); negative loadings on homogeneity (-0.362) and energy (-0.315). Separates smooth healthy blades from mottled necrotic lesions.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Orthogonal Visual Space: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Demonstrates that color luminance and textural contrast represent two mathematically orthogonal axes of variation across agricultural leaf observations.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45352" y="1234440"/>
          <a:ext cx="52120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Book Antiqua"/>
                        </a:defRPr>
                      </a:pPr>
                      <a:r>
                        <a:t>Component</a:t>
                      </a:r>
                    </a:p>
                  </a:txBody>
                  <a:tcPr marL="73152" marR="73152" marT="73152" marB="73152">
                    <a:solidFill>
                      <a:srgbClr val="175D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Book Antiqua"/>
                        </a:defRPr>
                      </a:pPr>
                      <a:r>
                        <a:t>Variance</a:t>
                      </a:r>
                    </a:p>
                  </a:txBody>
                  <a:tcPr marL="73152" marR="73152" marT="73152" marB="73152">
                    <a:solidFill>
                      <a:srgbClr val="175D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Book Antiqua"/>
                        </a:defRPr>
                      </a:pPr>
                      <a:r>
                        <a:t>Top Positive Loading</a:t>
                      </a:r>
                    </a:p>
                  </a:txBody>
                  <a:tcPr marL="73152" marR="73152" marT="73152" marB="73152">
                    <a:solidFill>
                      <a:srgbClr val="175D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Book Antiqua"/>
                        </a:defRPr>
                      </a:pPr>
                      <a:r>
                        <a:t>Top Negative Loading</a:t>
                      </a:r>
                    </a:p>
                  </a:txBody>
                  <a:tcPr marL="73152" marR="73152" marT="73152" marB="73152">
                    <a:solidFill>
                      <a:srgbClr val="175D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PC1</a:t>
                      </a:r>
                    </a:p>
                  </a:txBody>
                  <a:tcPr marL="73152" marR="73152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38.56%</a:t>
                      </a:r>
                    </a:p>
                  </a:txBody>
                  <a:tcPr marL="73152" marR="73152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rgb_r_mean (+0.252)</a:t>
                      </a:r>
                      <a:br/>
                      <a:r>
                        <a:t>glcm_asm (+0.248)</a:t>
                      </a:r>
                    </a:p>
                  </a:txBody>
                  <a:tcPr marL="73152" marR="73152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perimeter (-0.231)</a:t>
                      </a:r>
                      <a:br/>
                      <a:r>
                        <a:t>hsv_s_mean (-0.219)</a:t>
                      </a:r>
                    </a:p>
                  </a:txBody>
                  <a:tcPr marL="73152" marR="73152" marT="73152" marB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PC2</a:t>
                      </a:r>
                    </a:p>
                  </a:txBody>
                  <a:tcPr marL="73152" marR="73152" marT="73152" marB="73152">
                    <a:solidFill>
                      <a:srgbClr val="F7F6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13.55%</a:t>
                      </a:r>
                    </a:p>
                  </a:txBody>
                  <a:tcPr marL="73152" marR="73152" marT="73152" marB="73152">
                    <a:solidFill>
                      <a:srgbClr val="F7F6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glcm_contrast (+0.384)</a:t>
                      </a:r>
                      <a:br/>
                      <a:r>
                        <a:t>dissimilarity (+0.379)</a:t>
                      </a:r>
                    </a:p>
                  </a:txBody>
                  <a:tcPr marL="73152" marR="73152" marT="73152" marB="73152">
                    <a:solidFill>
                      <a:srgbClr val="F7F6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homogeneity (-0.362)</a:t>
                      </a:r>
                      <a:br/>
                      <a:r>
                        <a:t>glcm_energy (-0.315)</a:t>
                      </a:r>
                    </a:p>
                  </a:txBody>
                  <a:tcPr marL="73152" marR="73152" marT="73152" marB="73152">
                    <a:solidFill>
                      <a:srgbClr val="F7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Total 2D</a:t>
                      </a:r>
                    </a:p>
                  </a:txBody>
                  <a:tcPr marL="73152" marR="73152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52.11%</a:t>
                      </a:r>
                    </a:p>
                  </a:txBody>
                  <a:tcPr marL="73152" marR="73152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Covers 16.6x of single feature</a:t>
                      </a:r>
                    </a:p>
                  </a:txBody>
                  <a:tcPr marL="73152" marR="73152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Orthogonal 2D Space</a:t>
                      </a:r>
                    </a:p>
                  </a:txBody>
                  <a:tcPr marL="73152" marR="73152" marT="73152" marB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245352" y="3429000"/>
            <a:ext cx="5212080" cy="2834640"/>
          </a:xfrm>
          <a:prstGeom prst="roundRect">
            <a:avLst/>
          </a:prstGeom>
          <a:solidFill>
            <a:srgbClr val="F7F6E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01384" y="3666744"/>
            <a:ext cx="4700016" cy="23957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75D44"/>
                </a:solidFill>
                <a:latin typeface="Book Antiqua"/>
              </a:defRPr>
            </a:pPr>
            <a:r>
              <a:t>CLUSTER DISTRIBUTIONS &amp; SCANNER DOMAIN SHIFT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Cluster 0 Distribution (N=2,150):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Centered around negative PC1 and moderate PC2; corresponds to natural foliage with moderate textural variation.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Cluster 1 Distribution (N=446):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Occupies high positive PC1 and high PC2 quadrants; corresponds to high-luminance, high-contrast chlorotic and diseased leaf specimens.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ICAR Rice Domain Shift: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All 36 ICAR rice images cluster in positive PC1 due to the intense white scanner background, validating why scanner images must be treated separately.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47472"/>
            <a:ext cx="1072591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2D6A4F"/>
                </a:solidFill>
                <a:latin typeface="Book Antiqua"/>
              </a:defRPr>
            </a:pPr>
            <a:r>
              <a:t>CSI3010: DATA WAREHOUSING &amp; DATA MINING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75D44"/>
                </a:solidFill>
                <a:latin typeface="Book Antiqua"/>
              </a:defRPr>
            </a:pPr>
            <a:r>
              <a:t>Association Rule Mining: Mode A vs Mode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73952"/>
            <a:ext cx="7772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B7280"/>
                </a:solidFill>
                <a:latin typeface="Book Antiqua"/>
              </a:defRPr>
            </a:pPr>
            <a:r>
              <a:t>AgroVision-Mine: Multimodal Data Warehouse &amp; Supervised Foliar Intelligence — Faculty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73952"/>
            <a:ext cx="1856231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2D6A4F"/>
                </a:solidFill>
                <a:latin typeface="Book Antiqua"/>
              </a:defRPr>
            </a:pPr>
            <a:r>
              <a:t>Slide 18 of 28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212080" cy="5029200"/>
          </a:xfrm>
          <a:prstGeom prst="roundRect">
            <a:avLst/>
          </a:prstGeom>
          <a:solidFill>
            <a:srgbClr val="F7F6E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1472184"/>
            <a:ext cx="4700016" cy="45902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75D44"/>
                </a:solidFill>
                <a:latin typeface="Book Antiqua"/>
              </a:defRPr>
            </a:pPr>
            <a:r>
              <a:t>MODE A: VISUAL-ONLY MINING (880 RULES)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Input Discretization: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Equal-frequency tertile binning (Low, Medium, High) across 12 explainable visual descriptors, strictly excluding condition and pathogen labels.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Baseline Thresholds: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Minimum Support = 0.15 (15.0%), Minimum Confidence = 0.60 (60.0%), Minimum Lift = 1.0.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Exact Algorithmic Parity: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Apriori and FP-Growth generate exactly 223 frequent itemsets and 880 association rules with identical support, confidence, and lift values (Δ = 0.00000000).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Representative Rule 1: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glcm_contrast_High AND contour_perimeter_High -&gt; glcm_energy_Low (Support = 0.214, Confidence = 0.942, Lift = 2.81)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Representative Rule 2: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hsv_s_mean_Low AND rgb_r_mean_High -&gt; exg_index_Low (Support = 0.188, Confidence = 0.891, Lift = 2.45)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1234440"/>
            <a:ext cx="5212080" cy="5029200"/>
          </a:xfrm>
          <a:prstGeom prst="roundRect">
            <a:avLst/>
          </a:prstGeom>
          <a:solidFill>
            <a:srgbClr val="F7F6E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01384" y="1472184"/>
            <a:ext cx="4700016" cy="45902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75D44"/>
                </a:solidFill>
                <a:latin typeface="Book Antiqua"/>
              </a:defRPr>
            </a:pPr>
            <a:r>
              <a:t>MODE B: LABEL-CONDITIONED MINING (285 RULES)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Purpose &amp; Formulation: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Appends categorical labels (condition_status, pathogen_type) to the 12 discretized visual descriptors for exploratory cross-modal discovery.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Rule Count Breakdown: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Generates 285 total association rules at min_support=0.15, min_confidence=0.60; exactly 276 rules exhibit positive correlation (Lift &gt;= 1.0).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Representative Rule: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condition_Healthy AND contour_perimeter_Low -&gt; contour_circularity_High AND perimeter_Low (Support = 0.182, Confidence = 0.824, Lift = 1.68)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Strict Causality Disclaimer: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Association rules capture statistical co-occurrences in the current corpus; they do NOT prove biological causality or disease pathogenesis.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Strict Transaction Separation: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Mode A transaction matrix is strictly quarantined from condition labels, preventing data leakage into unsupervised mining.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47472"/>
            <a:ext cx="1072591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2D6A4F"/>
                </a:solidFill>
                <a:latin typeface="Book Antiqua"/>
              </a:defRPr>
            </a:pPr>
            <a:r>
              <a:t>CSI3010: DATA WAREHOUSING &amp; DATA MINING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75D44"/>
                </a:solidFill>
                <a:latin typeface="Book Antiqua"/>
              </a:defRPr>
            </a:pPr>
            <a:r>
              <a:t>Supervised Classification: Problem Formulation &amp;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73952"/>
            <a:ext cx="7772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B7280"/>
                </a:solidFill>
                <a:latin typeface="Book Antiqua"/>
              </a:defRPr>
            </a:pPr>
            <a:r>
              <a:t>AgroVision-Mine: Multimodal Data Warehouse &amp; Supervised Foliar Intelligence — Faculty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73952"/>
            <a:ext cx="1856231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2D6A4F"/>
                </a:solidFill>
                <a:latin typeface="Book Antiqua"/>
              </a:defRPr>
            </a:pPr>
            <a:r>
              <a:t>Slide 19 of 28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212080" cy="5029200"/>
          </a:xfrm>
          <a:prstGeom prst="roundRect">
            <a:avLst/>
          </a:prstGeom>
          <a:solidFill>
            <a:srgbClr val="F7F6E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1472184"/>
            <a:ext cx="4700016" cy="45902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75D44"/>
                </a:solidFill>
                <a:latin typeface="Book Antiqua"/>
              </a:defRPr>
            </a:pPr>
            <a:r>
              <a:t>PROBLEM FORMULATION &amp; CONFOUNDING AVOIDANCE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Task Formulation: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A bounded 25-class multi-class classification problem predicting composite [Crop]___[Condition] labels from 224x224 RGB foliar images.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Why Generic Binary Classifier Failed: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A naive all-crop Healthy vs Diseased classifier was formally rejected because the dataset exhibits severe taxonomic confounding: 7 crops (Blueberry, Peach, Raspberry, Strawberry, Soybean, Cherry) were 100% healthy-only.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Shortcut Learning Danger: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A binary classifier easily learns host crop morphology (e.g. leaf shape or vein structure) instead of foliar pathology.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The Bounded Multiclass Solution: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Formulating the task across 25 specific crop-condition classes forces the neural network to differentiate pathologies within host taxa (e.g. Tomato Late Blight vs Tomato Early Blight vs Tomato Healthy).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1234440"/>
            <a:ext cx="5212080" cy="5029200"/>
          </a:xfrm>
          <a:prstGeom prst="roundRect">
            <a:avLst/>
          </a:prstGeom>
          <a:solidFill>
            <a:srgbClr val="F7F6E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01384" y="1472184"/>
            <a:ext cx="4700016" cy="45902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75D44"/>
                </a:solidFill>
                <a:latin typeface="Book Antiqua"/>
              </a:defRPr>
            </a:pPr>
            <a:r>
              <a:t>DATASET SCOPE &amp; TAXONOMIC BOUNDARY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Primary Training Benchmark: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2,447 authentic PlantDoc field images spanning 25 classes across 12 host agricultural crops.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Class Pruning Protocol: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5 underrepresented classes with fewer than 20 total specimens (e.g. Tomato Spider Mites with N=2) were excluded from supervised training to prevent severe class collapse.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ICAR Rice Scanner Separation: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The 36 ICAR rice images were deliberately isolated from the supervised training split due to extreme flatbed scanner domain shift.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Supported Agricultural Crops: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Apple (3 classes), Bell Pepper (2 classes), Blueberry (1), Corn (3), Grape (2), Peach (1), Potato (2), Raspberry (1), Soybean (1), Squash (1), Strawberry (1), Tomato (7 classes).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47472"/>
            <a:ext cx="1072591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2D6A4F"/>
                </a:solidFill>
                <a:latin typeface="Book Antiqua"/>
              </a:defRPr>
            </a:pPr>
            <a:r>
              <a:t>CSI3010: DATA WAREHOUSING &amp; DATA MINING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75D44"/>
                </a:solidFill>
                <a:latin typeface="Book Antiqua"/>
              </a:defRPr>
            </a:pPr>
            <a:r>
              <a:t>Model Architecture &amp; Selection Rationale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73952"/>
            <a:ext cx="7772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B7280"/>
                </a:solidFill>
                <a:latin typeface="Book Antiqua"/>
              </a:defRPr>
            </a:pPr>
            <a:r>
              <a:t>AgroVision-Mine: Multimodal Data Warehouse &amp; Supervised Foliar Intelligence — Faculty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73952"/>
            <a:ext cx="1856231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2D6A4F"/>
                </a:solidFill>
                <a:latin typeface="Book Antiqua"/>
              </a:defRPr>
            </a:pPr>
            <a:r>
              <a:t>Slide 20 of 28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212080" cy="5029200"/>
          </a:xfrm>
          <a:prstGeom prst="roundRect">
            <a:avLst/>
          </a:prstGeom>
          <a:solidFill>
            <a:srgbClr val="F7F6E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1472184"/>
            <a:ext cx="4700016" cy="45902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75D44"/>
                </a:solidFill>
                <a:latin typeface="Book Antiqua"/>
              </a:defRPr>
            </a:pPr>
            <a:r>
              <a:t>EFFICIENTNET-B0 ARCHITECTURAL PRINCIPLES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Convolutional Neural Backbone: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EfficientNet-B0 employs compound scaling to balance network depth, width, and image resolution using mobile inverted bottleneck convolutions (MBConv).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Transfer Learning Priors: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Initialized with ImageNet-1K pretrained weights (torchvision EfficientNet_B0_Weights.DEFAULT), transferring rich generic low-level edge, corner, and texture filters.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Compact Runtime Footprint: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Contains 5.3 million parameters, making it computationally practical for CPU runtime inference (&lt;150 ms) without requiring enterprise GPU infrastructure.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Spatial Feature Learning: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Unlike classical ML, EfficientNet-B0 learns localized spatial lesion patterns and necrotic borders directly from raw RGB pixel tensors.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1234440"/>
            <a:ext cx="5212080" cy="5029200"/>
          </a:xfrm>
          <a:prstGeom prst="roundRect">
            <a:avLst/>
          </a:prstGeom>
          <a:solidFill>
            <a:srgbClr val="E0F2E8"/>
          </a:solidFill>
          <a:ln w="12700"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01384" y="1472184"/>
            <a:ext cx="4700016" cy="45902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75D44"/>
                </a:solidFill>
                <a:latin typeface="Book Antiqua"/>
              </a:defRPr>
            </a:pPr>
            <a:r>
              <a:t>VALIDATION TOURNAMENT &amp; SELECTION RATIONALE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Validation Macro-F1 Tournament: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Candidate models were benchmarked strictly on the 489-image validation split to make a principled, un-leaked architectural selection.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Majority Class Baseline: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Validation Macro-F1 = 0.58% (Validation Accuracy = 7.77%). Represents prior-probability chance guessing.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Classical Random Forest (32D Descriptors):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Validation Macro-F1 = 17.02% (Validation Accuracy = 17.38%). Handcrafted global descriptors lack spatial awareness.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Classical RBF-SVM (32D Descriptors):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Validation Macro-F1 = 15.12% (Validation Accuracy = 16.36%). Non-linear kernel fails to resolve overlapping lesion distributions.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Winning Selection: EfficientNet-B0: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Validation Macro-F1 = 63.26% (Validation Accuracy = 63.60%). Decisively outperformed handcrafted feature baselines by +46.24% Macro-F1, justifying deep transfer learning.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47472"/>
            <a:ext cx="1072591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2D6A4F"/>
                </a:solidFill>
                <a:latin typeface="Book Antiqua"/>
              </a:defRPr>
            </a:pPr>
            <a:r>
              <a:t>CSI3010: DATA WAREHOUSING &amp; DATA MINING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75D44"/>
                </a:solidFill>
                <a:latin typeface="Book Antiqua"/>
              </a:defRPr>
            </a:pPr>
            <a:r>
              <a:t>Offline Training Pipeline &amp; Loss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73952"/>
            <a:ext cx="7772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B7280"/>
                </a:solidFill>
                <a:latin typeface="Book Antiqua"/>
              </a:defRPr>
            </a:pPr>
            <a:r>
              <a:t>AgroVision-Mine: Multimodal Data Warehouse &amp; Supervised Foliar Intelligence — Faculty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73952"/>
            <a:ext cx="1856231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2D6A4F"/>
                </a:solidFill>
                <a:latin typeface="Book Antiqua"/>
              </a:defRPr>
            </a:pPr>
            <a:r>
              <a:t>Slide 21 of 28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212080" cy="5029200"/>
          </a:xfrm>
          <a:prstGeom prst="roundRect">
            <a:avLst/>
          </a:prstGeom>
          <a:solidFill>
            <a:srgbClr val="F7F6E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1472184"/>
            <a:ext cx="4700016" cy="45902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75D44"/>
                </a:solidFill>
                <a:latin typeface="Book Antiqua"/>
              </a:defRPr>
            </a:pPr>
            <a:r>
              <a:t>OPTIMIZATION PROTOCOLS &amp; HYPERPARAMETERS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Training Ingestion Pipeline: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Images resized to 224x224 RGB and normalized with ImageNet statistics (mean=[0.485, 0.456, 0.406], std=[0.229, 0.224, 0.225]).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Data Augmentation: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RandomHorizontalFlip(p=0.5), RandomRotation(degrees=15), and ColorJitter(brightness=0.15, contrast=0.15) applied to training folds to prevent memorization.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Class-Weighted Loss Function: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CrossEntropyLoss with inverse-frequency class weights w_c = N / (C * N_c) to counteract class imbalance across the 25 classes.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AdamW Differential Learning Rates: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Backbone top layers (features[5:]): lr = 1e-4, weight_decay = 1e-4. Custom classifier linear head (1280 -&gt; 25): lr = 1e-3, weight_decay = 1e-4. Low-level features (0 to 4) frozen.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Learning Rate Schedule: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ReduceLROnPlateau(mode='max', factor=0.5, patience=2) tracking validation macro-F1.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1234440"/>
            <a:ext cx="5212080" cy="5029200"/>
          </a:xfrm>
          <a:prstGeom prst="roundRect">
            <a:avLst/>
          </a:prstGeom>
          <a:solidFill>
            <a:srgbClr val="F7F6E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01384" y="1472184"/>
            <a:ext cx="4700016" cy="45902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75D44"/>
                </a:solidFill>
                <a:latin typeface="Book Antiqua"/>
              </a:defRPr>
            </a:pPr>
            <a:r>
              <a:t>TRAINING DYNAMICS &amp; CHECKPOINT SERIALIZATION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8-Epoch Training Trajectory: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Trained for 8 epochs. Epoch 1: Val Acc 44.4%, Macro-F1 40.7% -&gt; Epoch 4: Val Acc 60.7%, Macro-F1 59.5% -&gt; Epoch 8: Peak Val Acc 63.6%, Macro-F1 63.26%.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Validation-Based Early Checkpointing: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Model checkpoint was locked strictly based on peak validation macro-F1 (Epoch 8 state dict saved to efficientnet_b0_foliar.pt).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Strict Offline Boundary: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Training occurs strictly offline via scripts/train_and_evaluate_models.py (1,200.5 seconds). Runtime inference NEVER triggers retraining.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Sub-150ms Runtime Loading: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FastAPI loads the serialized 16.5 MB model checkpoint once at startup and performs instant CPU inference on uploaded leaf specimens.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47472"/>
            <a:ext cx="1072591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2D6A4F"/>
                </a:solidFill>
                <a:latin typeface="Book Antiqua"/>
              </a:defRPr>
            </a:pPr>
            <a:r>
              <a:t>CSI3010: DATA WAREHOUSING &amp; DATA MINING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75D44"/>
                </a:solidFill>
                <a:latin typeface="Book Antiqua"/>
              </a:defRPr>
            </a:pPr>
            <a:r>
              <a:t>Training, Validation &amp; Testing Partitioning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73952"/>
            <a:ext cx="7772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B7280"/>
                </a:solidFill>
                <a:latin typeface="Book Antiqua"/>
              </a:defRPr>
            </a:pPr>
            <a:r>
              <a:t>AgroVision-Mine: Multimodal Data Warehouse &amp; Supervised Foliar Intelligence — Faculty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73952"/>
            <a:ext cx="1856231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2D6A4F"/>
                </a:solidFill>
                <a:latin typeface="Book Antiqua"/>
              </a:defRPr>
            </a:pPr>
            <a:r>
              <a:t>Slide 22 of 28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3429000" cy="3291840"/>
          </a:xfrm>
          <a:prstGeom prst="roundRect">
            <a:avLst/>
          </a:prstGeom>
          <a:solidFill>
            <a:srgbClr val="F7F6E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1472184"/>
            <a:ext cx="2916936" cy="2852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75D44"/>
                </a:solidFill>
                <a:latin typeface="Book Antiqua"/>
              </a:defRPr>
            </a:pPr>
            <a:r>
              <a:t>TRAINING PARTITION (60%)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Sample Size: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1,468 observations (60.0% of benchmark).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Role &amp; Purpose: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Model parameter optimization via backpropagation and AdamW gradient updates.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Class Coverage: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Stratified across all 25 supported crop-disease classes.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Data Augmentations: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Active horizontal flip, rotation, and color jitter.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9976" y="1234440"/>
            <a:ext cx="3429000" cy="3291840"/>
          </a:xfrm>
          <a:prstGeom prst="roundRect">
            <a:avLst/>
          </a:prstGeom>
          <a:solidFill>
            <a:srgbClr val="F7F6E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36008" y="1472184"/>
            <a:ext cx="2916936" cy="2852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75D44"/>
                </a:solidFill>
                <a:latin typeface="Book Antiqua"/>
              </a:defRPr>
            </a:pPr>
            <a:r>
              <a:t>VALIDATION PARTITION (20%)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Sample Size: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489 observations (20.0% of benchmark).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Role &amp; Purpose: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Candidate model comparison, learning rate decay scheduling, and best-checkpoint selection.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Class Coverage: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Balanced representation of all 25 classes.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Integrity Rule: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Zero gradient updates; evaluated purely in eval() mode.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28431" y="1234440"/>
            <a:ext cx="3429000" cy="3291840"/>
          </a:xfrm>
          <a:prstGeom prst="roundRect">
            <a:avLst/>
          </a:prstGeom>
          <a:solidFill>
            <a:srgbClr val="F7F6E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84463" y="1472184"/>
            <a:ext cx="2916936" cy="2852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75D44"/>
                </a:solidFill>
                <a:latin typeface="Book Antiqua"/>
              </a:defRPr>
            </a:pPr>
            <a:r>
              <a:t>HELD-OUT TEST PARTITION (20%)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Sample Size: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490 observations (20.0% of benchmark).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Role &amp; Purpose: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Final unbiased held-out performance evaluation.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Reconciliation: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Exactly matches the sum of all 25 per-class test supports (reconciled from prior 491 typo).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Lockbox Rule: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Unlocked strictly ONCE after model selection was finalized.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663440"/>
            <a:ext cx="10725912" cy="1645920"/>
          </a:xfrm>
          <a:prstGeom prst="roundRect">
            <a:avLst/>
          </a:prstGeom>
          <a:solidFill>
            <a:srgbClr val="E0F2E8"/>
          </a:solidFill>
          <a:ln w="12700"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87552" y="4901183"/>
            <a:ext cx="10213848" cy="12070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75D44"/>
                </a:solidFill>
                <a:latin typeface="Book Antiqua"/>
              </a:defRPr>
            </a:pPr>
            <a:r>
              <a:t>ZERO-LEAKAGE GROUPED STRATIFICATION PROTOCOL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Perceptual dHash Grouped Stratification: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Standard random splitting causes severe data leakage when near-duplicate frames from the same video or burst sequence land in both train and test splits.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Strict Group Isolation: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Grouped images by difference hash (dHash hamming distance &lt;= 10). StratifiedGroupKFold ensured that all near-duplicate frames from a burst belong exclusively to one partition.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Zero Cross-Partition Leakage: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Automated cryptographic audit verified exactly 0 dHash cluster overlap across Train, Validation, and Test partitions.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47472"/>
            <a:ext cx="1072591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2D6A4F"/>
                </a:solidFill>
                <a:latin typeface="Book Antiqua"/>
              </a:defRPr>
            </a:pPr>
            <a:r>
              <a:t>CSI3010: DATA WAREHOUSING &amp; DATA MINING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75D44"/>
                </a:solidFill>
                <a:latin typeface="Book Antiqua"/>
              </a:defRPr>
            </a:pPr>
            <a:r>
              <a:t>Model Evaluation: Candidate Benchmark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73952"/>
            <a:ext cx="7772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B7280"/>
                </a:solidFill>
                <a:latin typeface="Book Antiqua"/>
              </a:defRPr>
            </a:pPr>
            <a:r>
              <a:t>AgroVision-Mine: Multimodal Data Warehouse &amp; Supervised Foliar Intelligence — Faculty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73952"/>
            <a:ext cx="1856231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2D6A4F"/>
                </a:solidFill>
                <a:latin typeface="Book Antiqua"/>
              </a:defRPr>
            </a:pPr>
            <a:r>
              <a:t>Slide 23 of 28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234440"/>
          <a:ext cx="98755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Book Antiqua"/>
                        </a:defRPr>
                      </a:pPr>
                      <a:r>
                        <a:t>Model Candidate</a:t>
                      </a:r>
                    </a:p>
                  </a:txBody>
                  <a:tcPr marL="73152" marR="73152" marT="73152" marB="73152">
                    <a:solidFill>
                      <a:srgbClr val="175D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Book Antiqua"/>
                        </a:defRPr>
                      </a:pPr>
                      <a:r>
                        <a:t>Input Vector</a:t>
                      </a:r>
                    </a:p>
                  </a:txBody>
                  <a:tcPr marL="73152" marR="73152" marT="73152" marB="73152">
                    <a:solidFill>
                      <a:srgbClr val="175D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Book Antiqua"/>
                        </a:defRPr>
                      </a:pPr>
                      <a:r>
                        <a:t>Val Macro-F1</a:t>
                      </a:r>
                    </a:p>
                  </a:txBody>
                  <a:tcPr marL="73152" marR="73152" marT="73152" marB="73152">
                    <a:solidFill>
                      <a:srgbClr val="175D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Book Antiqua"/>
                        </a:defRPr>
                      </a:pPr>
                      <a:r>
                        <a:t>Val Accuracy</a:t>
                      </a:r>
                    </a:p>
                  </a:txBody>
                  <a:tcPr marL="73152" marR="73152" marT="73152" marB="73152">
                    <a:solidFill>
                      <a:srgbClr val="175D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Book Antiqua"/>
                        </a:defRPr>
                      </a:pPr>
                      <a:r>
                        <a:t>Test Accuracy</a:t>
                      </a:r>
                    </a:p>
                  </a:txBody>
                  <a:tcPr marL="73152" marR="73152" marT="73152" marB="73152">
                    <a:solidFill>
                      <a:srgbClr val="175D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Book Antiqua"/>
                        </a:defRPr>
                      </a:pPr>
                      <a:r>
                        <a:t>Test Balanced Acc</a:t>
                      </a:r>
                    </a:p>
                  </a:txBody>
                  <a:tcPr marL="73152" marR="73152" marT="73152" marB="73152">
                    <a:solidFill>
                      <a:srgbClr val="175D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Book Antiqua"/>
                        </a:defRPr>
                      </a:pPr>
                      <a:r>
                        <a:t>Test Macro-F1</a:t>
                      </a:r>
                    </a:p>
                  </a:txBody>
                  <a:tcPr marL="73152" marR="73152" marT="73152" marB="73152">
                    <a:solidFill>
                      <a:srgbClr val="175D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Majority Baseline</a:t>
                      </a:r>
                    </a:p>
                  </a:txBody>
                  <a:tcPr marL="73152" marR="73152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Prior class mode</a:t>
                      </a:r>
                    </a:p>
                  </a:txBody>
                  <a:tcPr marL="73152" marR="73152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0.58%</a:t>
                      </a:r>
                    </a:p>
                  </a:txBody>
                  <a:tcPr marL="73152" marR="73152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7.77%</a:t>
                      </a:r>
                    </a:p>
                  </a:txBody>
                  <a:tcPr marL="73152" marR="73152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7.76%</a:t>
                      </a:r>
                    </a:p>
                  </a:txBody>
                  <a:tcPr marL="73152" marR="73152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4.00%</a:t>
                      </a:r>
                    </a:p>
                  </a:txBody>
                  <a:tcPr marL="73152" marR="73152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0.58%</a:t>
                      </a:r>
                    </a:p>
                  </a:txBody>
                  <a:tcPr marL="73152" marR="73152" marT="73152" marB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Random Forest (32D)</a:t>
                      </a:r>
                    </a:p>
                  </a:txBody>
                  <a:tcPr marL="73152" marR="73152" marT="73152" marB="73152">
                    <a:solidFill>
                      <a:srgbClr val="F7F6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32 Handcrafted Features</a:t>
                      </a:r>
                    </a:p>
                  </a:txBody>
                  <a:tcPr marL="73152" marR="73152" marT="73152" marB="73152">
                    <a:solidFill>
                      <a:srgbClr val="F7F6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17.02%</a:t>
                      </a:r>
                    </a:p>
                  </a:txBody>
                  <a:tcPr marL="73152" marR="73152" marT="73152" marB="73152">
                    <a:solidFill>
                      <a:srgbClr val="F7F6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17.38%</a:t>
                      </a:r>
                    </a:p>
                  </a:txBody>
                  <a:tcPr marL="73152" marR="73152" marT="73152" marB="73152">
                    <a:solidFill>
                      <a:srgbClr val="F7F6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19.80%</a:t>
                      </a:r>
                    </a:p>
                  </a:txBody>
                  <a:tcPr marL="73152" marR="73152" marT="73152" marB="73152">
                    <a:solidFill>
                      <a:srgbClr val="F7F6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19.78%</a:t>
                      </a:r>
                    </a:p>
                  </a:txBody>
                  <a:tcPr marL="73152" marR="73152" marT="73152" marB="73152">
                    <a:solidFill>
                      <a:srgbClr val="F7F6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19.19%</a:t>
                      </a:r>
                    </a:p>
                  </a:txBody>
                  <a:tcPr marL="73152" marR="73152" marT="73152" marB="73152">
                    <a:solidFill>
                      <a:srgbClr val="F7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RBF-SVM (32D)</a:t>
                      </a:r>
                    </a:p>
                  </a:txBody>
                  <a:tcPr marL="73152" marR="73152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32 Handcrafted Features</a:t>
                      </a:r>
                    </a:p>
                  </a:txBody>
                  <a:tcPr marL="73152" marR="73152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15.12%</a:t>
                      </a:r>
                    </a:p>
                  </a:txBody>
                  <a:tcPr marL="73152" marR="73152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16.36%</a:t>
                      </a:r>
                    </a:p>
                  </a:txBody>
                  <a:tcPr marL="73152" marR="73152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19.80%</a:t>
                      </a:r>
                    </a:p>
                  </a:txBody>
                  <a:tcPr marL="73152" marR="73152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20.13%</a:t>
                      </a:r>
                    </a:p>
                  </a:txBody>
                  <a:tcPr marL="73152" marR="73152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19.01%</a:t>
                      </a:r>
                    </a:p>
                  </a:txBody>
                  <a:tcPr marL="73152" marR="73152" marT="73152" marB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EfficientNet-B0 (DEPLOYED)</a:t>
                      </a:r>
                    </a:p>
                  </a:txBody>
                  <a:tcPr marL="73152" marR="73152" marT="73152" marB="73152">
                    <a:solidFill>
                      <a:srgbClr val="F7F6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224x224 RGB Image Pixels</a:t>
                      </a:r>
                    </a:p>
                  </a:txBody>
                  <a:tcPr marL="73152" marR="73152" marT="73152" marB="73152">
                    <a:solidFill>
                      <a:srgbClr val="F7F6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63.26%</a:t>
                      </a:r>
                    </a:p>
                  </a:txBody>
                  <a:tcPr marL="73152" marR="73152" marT="73152" marB="73152">
                    <a:solidFill>
                      <a:srgbClr val="F7F6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63.60%</a:t>
                      </a:r>
                    </a:p>
                  </a:txBody>
                  <a:tcPr marL="73152" marR="73152" marT="73152" marB="73152">
                    <a:solidFill>
                      <a:srgbClr val="F7F6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61.84%</a:t>
                      </a:r>
                    </a:p>
                  </a:txBody>
                  <a:tcPr marL="73152" marR="73152" marT="73152" marB="73152">
                    <a:solidFill>
                      <a:srgbClr val="F7F6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61.43%</a:t>
                      </a:r>
                    </a:p>
                  </a:txBody>
                  <a:tcPr marL="73152" marR="73152" marT="73152" marB="73152">
                    <a:solidFill>
                      <a:srgbClr val="F7F6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60.84%</a:t>
                      </a:r>
                    </a:p>
                  </a:txBody>
                  <a:tcPr marL="73152" marR="73152" marT="73152" marB="73152">
                    <a:solidFill>
                      <a:srgbClr val="F7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3977639"/>
            <a:ext cx="10725912" cy="2331720"/>
          </a:xfrm>
          <a:prstGeom prst="roundRect">
            <a:avLst/>
          </a:prstGeom>
          <a:solidFill>
            <a:srgbClr val="F7F6E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7552" y="4215383"/>
            <a:ext cx="10213848" cy="18928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75D44"/>
                </a:solidFill>
                <a:latin typeface="Book Antiqua"/>
              </a:defRPr>
            </a:pPr>
            <a:r>
              <a:t>ARCHITECTURAL TOURNAMENT ANALYSIS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Strict Validation Selection: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Model selection was determined solely by Validation Macro-F1 (63.26%), ensuring the held-out test split remained an uncorrupted lockbox.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Representation Comparison: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The comparison highlights input representations: 32 handcrafted global descriptors (RF &amp; SVM) lack the spatial resolution needed for 25 fine-grained foliar classes, whereas convolutional filters learn spatial lesion borders.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Statistical Significance: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EfficientNet-B0 outperformed the best classical baseline by +41.65% Test Macro-F1 and +42.04% Test Accuracy, with non-overlapping confidence intervals.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47472"/>
            <a:ext cx="1072591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2D6A4F"/>
                </a:solidFill>
                <a:latin typeface="Book Antiqua"/>
              </a:defRPr>
            </a:pPr>
            <a:r>
              <a:t>CSI3010: DATA WAREHOUSING &amp; DATA MINING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75D44"/>
                </a:solidFill>
                <a:latin typeface="Book Antiqua"/>
              </a:defRPr>
            </a:pPr>
            <a:r>
              <a:t>Final Held-Out Test Evaluation (N=490 Test Specimens)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73952"/>
            <a:ext cx="7772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B7280"/>
                </a:solidFill>
                <a:latin typeface="Book Antiqua"/>
              </a:defRPr>
            </a:pPr>
            <a:r>
              <a:t>AgroVision-Mine: Multimodal Data Warehouse &amp; Supervised Foliar Intelligence — Faculty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73952"/>
            <a:ext cx="1856231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2D6A4F"/>
                </a:solidFill>
                <a:latin typeface="Book Antiqua"/>
              </a:defRPr>
            </a:pPr>
            <a:r>
              <a:t>Slide 24 of 28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2468880" cy="1188720"/>
          </a:xfrm>
          <a:prstGeom prst="roundRect">
            <a:avLst/>
          </a:prstGeom>
          <a:solidFill>
            <a:srgbClr val="F7F6E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344168"/>
            <a:ext cx="2286000" cy="9692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000" b="1">
                <a:solidFill>
                  <a:srgbClr val="175D44"/>
                </a:solidFill>
                <a:latin typeface="Book Antiqua"/>
              </a:defRPr>
            </a:pPr>
            <a:r>
              <a:t>490 Images</a:t>
            </a:r>
          </a:p>
          <a:p>
            <a:pPr algn="ctr">
              <a:defRPr sz="950" b="1">
                <a:solidFill>
                  <a:srgbClr val="1C1C1C"/>
                </a:solidFill>
                <a:latin typeface="Book Antiqua"/>
              </a:defRPr>
            </a:pPr>
            <a:r>
              <a:t>HELD-OUT TEST SIZE</a:t>
            </a:r>
          </a:p>
          <a:p>
            <a:pPr algn="ctr">
              <a:defRPr sz="850">
                <a:solidFill>
                  <a:srgbClr val="4B5563"/>
                </a:solidFill>
                <a:latin typeface="Book Antiqua"/>
              </a:defRPr>
            </a:pPr>
            <a:r>
              <a:t>Reconciled across 25 classes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234440"/>
            <a:ext cx="2468880" cy="1188720"/>
          </a:xfrm>
          <a:prstGeom prst="roundRect">
            <a:avLst/>
          </a:prstGeom>
          <a:solidFill>
            <a:srgbClr val="F7F6E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66160" y="1344168"/>
            <a:ext cx="2286000" cy="9692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000" b="1">
                <a:solidFill>
                  <a:srgbClr val="2D6A4F"/>
                </a:solidFill>
                <a:latin typeface="Book Antiqua"/>
              </a:defRPr>
            </a:pPr>
            <a:r>
              <a:t>61.84%</a:t>
            </a:r>
          </a:p>
          <a:p>
            <a:pPr algn="ctr">
              <a:defRPr sz="950" b="1">
                <a:solidFill>
                  <a:srgbClr val="1C1C1C"/>
                </a:solidFill>
                <a:latin typeface="Book Antiqua"/>
              </a:defRPr>
            </a:pPr>
            <a:r>
              <a:t>TOP-1 TEST ACCURACY</a:t>
            </a:r>
          </a:p>
          <a:p>
            <a:pPr algn="ctr">
              <a:defRPr sz="850">
                <a:solidFill>
                  <a:srgbClr val="4B5563"/>
                </a:solidFill>
                <a:latin typeface="Book Antiqua"/>
              </a:defRPr>
            </a:pPr>
            <a:r>
              <a:t>+50.82% over Majority (11.02%)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1234440"/>
            <a:ext cx="2468880" cy="1188720"/>
          </a:xfrm>
          <a:prstGeom prst="roundRect">
            <a:avLst/>
          </a:prstGeom>
          <a:solidFill>
            <a:srgbClr val="F7F6E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36792" y="1344168"/>
            <a:ext cx="2286000" cy="9692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000" b="1">
                <a:solidFill>
                  <a:srgbClr val="1F4E79"/>
                </a:solidFill>
                <a:latin typeface="Book Antiqua"/>
              </a:defRPr>
            </a:pPr>
            <a:r>
              <a:t>61.43%</a:t>
            </a:r>
          </a:p>
          <a:p>
            <a:pPr algn="ctr">
              <a:defRPr sz="950" b="1">
                <a:solidFill>
                  <a:srgbClr val="1C1C1C"/>
                </a:solidFill>
                <a:latin typeface="Book Antiqua"/>
              </a:defRPr>
            </a:pPr>
            <a:r>
              <a:t>BALANCED ACCURACY</a:t>
            </a:r>
          </a:p>
          <a:p>
            <a:pPr algn="ctr">
              <a:defRPr sz="850">
                <a:solidFill>
                  <a:srgbClr val="4B5563"/>
                </a:solidFill>
                <a:latin typeface="Book Antiqua"/>
              </a:defRPr>
            </a:pPr>
            <a:r>
              <a:t>+57.43% over Chance (4.00%)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88552" y="1234440"/>
            <a:ext cx="2468880" cy="1188720"/>
          </a:xfrm>
          <a:prstGeom prst="roundRect">
            <a:avLst/>
          </a:prstGeom>
          <a:solidFill>
            <a:srgbClr val="F7F6E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079992" y="1344168"/>
            <a:ext cx="2286000" cy="9692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000" b="1">
                <a:solidFill>
                  <a:srgbClr val="175D44"/>
                </a:solidFill>
                <a:latin typeface="Book Antiqua"/>
              </a:defRPr>
            </a:pPr>
            <a:r>
              <a:t>60.84%</a:t>
            </a:r>
          </a:p>
          <a:p>
            <a:pPr algn="ctr">
              <a:defRPr sz="950" b="1">
                <a:solidFill>
                  <a:srgbClr val="1C1C1C"/>
                </a:solidFill>
                <a:latin typeface="Book Antiqua"/>
              </a:defRPr>
            </a:pPr>
            <a:r>
              <a:t>MACRO-AVERAGED F1</a:t>
            </a:r>
          </a:p>
          <a:p>
            <a:pPr algn="ctr">
              <a:defRPr sz="850">
                <a:solidFill>
                  <a:srgbClr val="4B5563"/>
                </a:solidFill>
                <a:latin typeface="Book Antiqua"/>
              </a:defRPr>
            </a:pPr>
            <a:r>
              <a:t>+60.04% over Baseline (0.80%)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606040"/>
            <a:ext cx="5212080" cy="3703320"/>
          </a:xfrm>
          <a:prstGeom prst="roundRect">
            <a:avLst/>
          </a:prstGeom>
          <a:solidFill>
            <a:srgbClr val="F7F6E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87552" y="2843784"/>
            <a:ext cx="4700016" cy="32644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75D44"/>
                </a:solidFill>
                <a:latin typeface="Book Antiqua"/>
              </a:defRPr>
            </a:pPr>
            <a:r>
              <a:t>STATISTICAL CONFIDENCE &amp; RIGOR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Wilson 95% Confidence Interval: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Estimated true accuracy bounds: [57.46%, 66.03%] (z = 1.96). Proves statistically significant generalization beyond baseline chance.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Zero Data Leakage Verification: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Verified that no perceptual duplicate cluster crossed between training, validation, and test splits.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No Test-Set Retuning: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The model weights were frozen prior to test set ingestion; metrics stem directly from a single evaluation pass.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5352" y="2606040"/>
            <a:ext cx="5212080" cy="3703320"/>
          </a:xfrm>
          <a:prstGeom prst="roundRect">
            <a:avLst/>
          </a:prstGeom>
          <a:solidFill>
            <a:srgbClr val="F7F6E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01384" y="2843784"/>
            <a:ext cx="4700016" cy="32644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75D44"/>
                </a:solidFill>
                <a:latin typeface="Book Antiqua"/>
              </a:defRPr>
            </a:pPr>
            <a:r>
              <a:t>PER-CLASS PERFORMANCE HIGHLIGHTS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High-Fidelity Classes (F1 &gt; 80%):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Bell Pepper Healthy (F1 = 95.2%), Potato Early Blight (F1 = 92.3%), Corn Gray Leaf Spot (F1 = 89.5%), Tomato Septoria (F1 = 85.7%), Grape Black Rot (F1 = 83.3%), Apple Scab (F1 = 81.2%).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Moderate Classes (F1 = 50–75%):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Apple Cedar Rust (F1 = 76.9%), Corn Common Rust (F1 = 71.4%), Tomato Yellow Leaf Curl (F1 = 65.3%), Tomato Late Blight (F1 = 54.5%).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Confused Classes (F1 &lt; 50%):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Tomato Early Blight (F1 = 44.4%) vs Tomato Late Blight: Lesions exhibit identical circular brown necrosis in early infection stages.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Wild-Condition Complexity: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Reflects real PlantDoc field challenges: cluttered soil backgrounds, harsh sunlight, and overlapping leaves.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47472"/>
            <a:ext cx="1072591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2D6A4F"/>
                </a:solidFill>
                <a:latin typeface="Book Antiqua"/>
              </a:defRPr>
            </a:pPr>
            <a:r>
              <a:t>CSI3010: DATA WAREHOUSING &amp; DATA MINING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75D44"/>
                </a:solidFill>
                <a:latin typeface="Book Antiqua"/>
              </a:defRPr>
            </a:pPr>
            <a:r>
              <a:t>Runtime Inference Workflow &amp; Application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73952"/>
            <a:ext cx="7772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B7280"/>
                </a:solidFill>
                <a:latin typeface="Book Antiqua"/>
              </a:defRPr>
            </a:pPr>
            <a:r>
              <a:t>AgroVision-Mine: Multimodal Data Warehouse &amp; Supervised Foliar Intelligence — Faculty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73952"/>
            <a:ext cx="1856231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2D6A4F"/>
                </a:solidFill>
                <a:latin typeface="Book Antiqua"/>
              </a:defRPr>
            </a:pPr>
            <a:r>
              <a:t>Slide 25 of 28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212080" cy="5029200"/>
          </a:xfrm>
          <a:prstGeom prst="roundRect">
            <a:avLst/>
          </a:prstGeom>
          <a:solidFill>
            <a:srgbClr val="F7F6E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1472184"/>
            <a:ext cx="4700016" cy="45902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75D44"/>
                </a:solidFill>
                <a:latin typeface="Book Antiqua"/>
              </a:defRPr>
            </a:pPr>
            <a:r>
              <a:t>INFERENCE PIPELINE &amp; CASE STUDIES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Inference Execution Pipeline: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Uploaded specimen (JPG/PNG) -&gt; Ingestion validation -&gt; Preprocessing (224x224 RGB) -&gt; PyTorch EfficientNet-B0 forward pass -&gt; 25 class logits -&gt; Softmax distribution -&gt; Ranked candidates.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Parallel Multimodal Execution: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The 32D classical feature pipeline executes concurrently in &lt;150 ms, providing explainable color/texture metrics alongside deep classification.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Confidence &amp; Distribution Display: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Displays top predicted class, calibrated probability progress bar, and top-3 candidate alternatives.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Apple Healthy Test Verification: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Tested authentic PlantDoc Apple Healthy image (proc_AGRO_V2_00037.png): Predicted Apple - Healthy with 97.6% confidence.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Potato Late Blight Test Verification: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Tested authentic Potato Late Blight image (proc_AGRO_V2_00167.png): Predicted Potato - Late Blight with 96.2% confidence (Tomato Late Blight runner-up 3.1%).</a:t>
            </a:r>
          </a:p>
        </p:txBody>
      </p:sp>
      <p:pic>
        <p:nvPicPr>
          <p:cNvPr id="8" name="Picture 7" descr="crop_apple_health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1371600"/>
            <a:ext cx="5212080" cy="463600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47472"/>
            <a:ext cx="1072591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2D6A4F"/>
                </a:solidFill>
                <a:latin typeface="Book Antiqua"/>
              </a:defRPr>
            </a:pPr>
            <a:r>
              <a:t>CSI3010: DATA WAREHOUSING &amp; DATA MINING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75D44"/>
                </a:solidFill>
                <a:latin typeface="Book Antiqua"/>
              </a:defRPr>
            </a:pPr>
            <a:r>
              <a:t>Cross-Modal Out-of-Domain Safeguard &amp; Rejection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73952"/>
            <a:ext cx="7772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B7280"/>
                </a:solidFill>
                <a:latin typeface="Book Antiqua"/>
              </a:defRPr>
            </a:pPr>
            <a:r>
              <a:t>AgroVision-Mine: Multimodal Data Warehouse &amp; Supervised Foliar Intelligence — Faculty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73952"/>
            <a:ext cx="1856231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2D6A4F"/>
                </a:solidFill>
                <a:latin typeface="Book Antiqua"/>
              </a:defRPr>
            </a:pPr>
            <a:r>
              <a:t>Slide 26 of 28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212080" cy="5029200"/>
          </a:xfrm>
          <a:prstGeom prst="roundRect">
            <a:avLst/>
          </a:prstGeom>
          <a:solidFill>
            <a:srgbClr val="F7F6E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1472184"/>
            <a:ext cx="4700016" cy="45902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75D44"/>
                </a:solidFill>
                <a:latin typeface="Book Antiqua"/>
              </a:defRPr>
            </a:pPr>
            <a:r>
              <a:t>BOTANICAL ROOT CAUSE &amp; SAFEGUARD DESIGN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Investigation of Rice -&gt; Corn Prediction: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When an out-of-domain ICAR rice scanner image was uploaded, a naive closed-world CNN predicted Corn Common Rust with high probability.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Botanical Root Cause Identified: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Among the 12 training crops, Corn is the SOLE graminoid monocot (all other 11 crops are broad-leaved dicots). Rice is also a linear, parallel-veined monocot leaf.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Linear Convolutional Filters: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Linear blade edge and texture filters fired heavily on Corn features, forcing the closed-world softmax to pick Corn.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Defensible Rejection Mechanism: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Rather than fitting an unvalidated softmax heuristic on test data (which causes leakage), AgroVision-Mine implements Cross-Modal Domain Verification using the 32D descriptor store.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Automated Rejection Trigger: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Unsupervised warehouse retrieval identifies that the top reference belongs to Rice (icar_ogd), flagging status: 'unsupported_domain' and is_uncertain: true.</a:t>
            </a:r>
          </a:p>
        </p:txBody>
      </p:sp>
      <p:pic>
        <p:nvPicPr>
          <p:cNvPr id="8" name="Picture 7" descr="crop_rice_rej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1234440"/>
            <a:ext cx="5212080" cy="32461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245352" y="4617720"/>
            <a:ext cx="5212080" cy="1645920"/>
          </a:xfrm>
          <a:prstGeom prst="roundRect">
            <a:avLst/>
          </a:prstGeom>
          <a:solidFill>
            <a:srgbClr val="FFF8E1"/>
          </a:solidFill>
          <a:ln w="12700">
            <a:solidFill>
              <a:srgbClr val="FFE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01384" y="4855464"/>
            <a:ext cx="4700016" cy="12070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75D44"/>
                </a:solidFill>
                <a:latin typeface="Book Antiqua"/>
              </a:defRPr>
            </a:pPr>
            <a:r>
              <a:t>USER INTERFACE BEHAVIOR &amp; INTEGRITY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UI Rejection Notice: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Displays prominent amber banner explaining that the leaf was matched geometrically to Corn based on monocot morphology rather than a biological diagnosis.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Academic Honesty: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Discloses that the model supports 25 benchmark classes, preventing false clinical claims on unseen species.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47472"/>
            <a:ext cx="1072591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2D6A4F"/>
                </a:solidFill>
                <a:latin typeface="Book Antiqua"/>
              </a:defRPr>
            </a:pPr>
            <a:r>
              <a:t>CSI3010: DATA WAREHOUSING &amp; DATA MINING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75D44"/>
                </a:solidFill>
                <a:latin typeface="Book Antiqua"/>
              </a:defRPr>
            </a:pPr>
            <a:r>
              <a:t>Multi-Tier Software Testing &amp; Verification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73952"/>
            <a:ext cx="7772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B7280"/>
                </a:solidFill>
                <a:latin typeface="Book Antiqua"/>
              </a:defRPr>
            </a:pPr>
            <a:r>
              <a:t>AgroVision-Mine: Multimodal Data Warehouse &amp; Supervised Foliar Intelligence — Faculty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73952"/>
            <a:ext cx="1856231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2D6A4F"/>
                </a:solidFill>
                <a:latin typeface="Book Antiqua"/>
              </a:defRPr>
            </a:pPr>
            <a:r>
              <a:t>Slide 27 of 28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2468880" cy="1188720"/>
          </a:xfrm>
          <a:prstGeom prst="roundRect">
            <a:avLst/>
          </a:prstGeom>
          <a:solidFill>
            <a:srgbClr val="F7F6E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344168"/>
            <a:ext cx="2286000" cy="9692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000" b="1">
                <a:solidFill>
                  <a:srgbClr val="175D44"/>
                </a:solidFill>
                <a:latin typeface="Book Antiqua"/>
              </a:defRPr>
            </a:pPr>
            <a:r>
              <a:t>117 Passed</a:t>
            </a:r>
          </a:p>
          <a:p>
            <a:pPr algn="ctr">
              <a:defRPr sz="950" b="1">
                <a:solidFill>
                  <a:srgbClr val="1C1C1C"/>
                </a:solidFill>
                <a:latin typeface="Book Antiqua"/>
              </a:defRPr>
            </a:pPr>
            <a:r>
              <a:t>TOTAL AUTOMATED TESTS</a:t>
            </a:r>
          </a:p>
          <a:p>
            <a:pPr algn="ctr">
              <a:defRPr sz="850">
                <a:solidFill>
                  <a:srgbClr val="4B5563"/>
                </a:solidFill>
                <a:latin typeface="Book Antiqua"/>
              </a:defRPr>
            </a:pPr>
            <a:r>
              <a:t>100% test success rate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234440"/>
            <a:ext cx="2468880" cy="1188720"/>
          </a:xfrm>
          <a:prstGeom prst="roundRect">
            <a:avLst/>
          </a:prstGeom>
          <a:solidFill>
            <a:srgbClr val="F7F6E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66160" y="1344168"/>
            <a:ext cx="2286000" cy="9692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000" b="1">
                <a:solidFill>
                  <a:srgbClr val="2D6A4F"/>
                </a:solidFill>
                <a:latin typeface="Book Antiqua"/>
              </a:defRPr>
            </a:pPr>
            <a:r>
              <a:t>0 Failures</a:t>
            </a:r>
          </a:p>
          <a:p>
            <a:pPr algn="ctr">
              <a:defRPr sz="950" b="1">
                <a:solidFill>
                  <a:srgbClr val="1C1C1C"/>
                </a:solidFill>
                <a:latin typeface="Book Antiqua"/>
              </a:defRPr>
            </a:pPr>
            <a:r>
              <a:t>ZERO REGRESSIONS</a:t>
            </a:r>
          </a:p>
          <a:p>
            <a:pPr algn="ctr">
              <a:defRPr sz="850">
                <a:solidFill>
                  <a:srgbClr val="4B5563"/>
                </a:solidFill>
                <a:latin typeface="Book Antiqua"/>
              </a:defRPr>
            </a:pPr>
            <a:r>
              <a:t>Verified across all modules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1234440"/>
            <a:ext cx="2468880" cy="1188720"/>
          </a:xfrm>
          <a:prstGeom prst="roundRect">
            <a:avLst/>
          </a:prstGeom>
          <a:solidFill>
            <a:srgbClr val="F7F6E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36792" y="1344168"/>
            <a:ext cx="2286000" cy="9692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000" b="1">
                <a:solidFill>
                  <a:srgbClr val="1F4E79"/>
                </a:solidFill>
                <a:latin typeface="Book Antiqua"/>
              </a:defRPr>
            </a:pPr>
            <a:r>
              <a:t>10 / 10</a:t>
            </a:r>
          </a:p>
          <a:p>
            <a:pPr algn="ctr">
              <a:defRPr sz="950" b="1">
                <a:solidFill>
                  <a:srgbClr val="1C1C1C"/>
                </a:solidFill>
                <a:latin typeface="Book Antiqua"/>
              </a:defRPr>
            </a:pPr>
            <a:r>
              <a:t>BROWSER PLAYWRIGHT</a:t>
            </a:r>
          </a:p>
          <a:p>
            <a:pPr algn="ctr">
              <a:defRPr sz="850">
                <a:solidFill>
                  <a:srgbClr val="4B5563"/>
                </a:solidFill>
                <a:latin typeface="Book Antiqua"/>
              </a:defRPr>
            </a:pPr>
            <a:r>
              <a:t>Drove Chrome across 9 pages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88552" y="1234440"/>
            <a:ext cx="2468880" cy="1188720"/>
          </a:xfrm>
          <a:prstGeom prst="roundRect">
            <a:avLst/>
          </a:prstGeom>
          <a:solidFill>
            <a:srgbClr val="F7F6E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079992" y="1344168"/>
            <a:ext cx="2286000" cy="9692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000" b="1">
                <a:solidFill>
                  <a:srgbClr val="175D44"/>
                </a:solidFill>
                <a:latin typeface="Book Antiqua"/>
              </a:defRPr>
            </a:pPr>
            <a:r>
              <a:t>267 ms</a:t>
            </a:r>
          </a:p>
          <a:p>
            <a:pPr algn="ctr">
              <a:defRPr sz="950" b="1">
                <a:solidFill>
                  <a:srgbClr val="1C1C1C"/>
                </a:solidFill>
                <a:latin typeface="Book Antiqua"/>
              </a:defRPr>
            </a:pPr>
            <a:r>
              <a:t>FRONTEND BUILD</a:t>
            </a:r>
          </a:p>
          <a:p>
            <a:pPr algn="ctr">
              <a:defRPr sz="850">
                <a:solidFill>
                  <a:srgbClr val="4B5563"/>
                </a:solidFill>
                <a:latin typeface="Book Antiqua"/>
              </a:defRPr>
            </a:pPr>
            <a:r>
              <a:t>React 19 + TypeScript build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731520" y="2651760"/>
          <a:ext cx="10725912" cy="361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706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22376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Book Antiqua"/>
                        </a:defRPr>
                      </a:pPr>
                      <a:r>
                        <a:t>Verification Tier</a:t>
                      </a:r>
                    </a:p>
                  </a:txBody>
                  <a:tcPr marL="73152" marR="73152" marT="73152" marB="73152">
                    <a:solidFill>
                      <a:srgbClr val="175D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Book Antiqua"/>
                        </a:defRPr>
                      </a:pPr>
                      <a:r>
                        <a:t>Test Scope &amp; Tool</a:t>
                      </a:r>
                    </a:p>
                  </a:txBody>
                  <a:tcPr marL="73152" marR="73152" marT="73152" marB="73152">
                    <a:solidFill>
                      <a:srgbClr val="175D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Book Antiqua"/>
                        </a:defRPr>
                      </a:pPr>
                      <a:r>
                        <a:t>Key Behaviors Tested</a:t>
                      </a:r>
                    </a:p>
                  </a:txBody>
                  <a:tcPr marL="73152" marR="73152" marT="73152" marB="73152">
                    <a:solidFill>
                      <a:srgbClr val="175D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Book Antiqua"/>
                        </a:defRPr>
                      </a:pPr>
                      <a:r>
                        <a:t>Observed Outcome &amp; Evidence</a:t>
                      </a:r>
                    </a:p>
                  </a:txBody>
                  <a:tcPr marL="73152" marR="73152" marT="73152" marB="73152">
                    <a:solidFill>
                      <a:srgbClr val="175D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2376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Automated Unit &amp; Integration</a:t>
                      </a:r>
                    </a:p>
                  </a:txBody>
                  <a:tcPr marL="73152" marR="73152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107 Tests (pytest in 20.3s)</a:t>
                      </a:r>
                    </a:p>
                  </a:txBody>
                  <a:tcPr marL="73152" marR="73152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ETL idempotency, GLCM textures, SQLite FK constraints, clustering reproducibility, predictor</a:t>
                      </a:r>
                    </a:p>
                  </a:txBody>
                  <a:tcPr marL="73152" marR="73152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107 / 107 Passed in 20.30s (0 failures, 1 Starlette warning)</a:t>
                      </a:r>
                    </a:p>
                  </a:txBody>
                  <a:tcPr marL="73152" marR="73152" marT="73152" marB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2376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Real Browser E2E Tests</a:t>
                      </a:r>
                    </a:p>
                  </a:txBody>
                  <a:tcPr marL="73152" marR="73152" marT="73152" marB="73152">
                    <a:solidFill>
                      <a:srgbClr val="F7F6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10 Tests (Playwright in 43.3s)</a:t>
                      </a:r>
                    </a:p>
                  </a:txBody>
                  <a:tcPr marL="73152" marR="73152" marT="73152" marB="73152">
                    <a:solidFill>
                      <a:srgbClr val="F7F6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Drove local Google Chrome across all 9 pages: crop filtering, specimen modal, image upload/analyze</a:t>
                      </a:r>
                    </a:p>
                  </a:txBody>
                  <a:tcPr marL="73152" marR="73152" marT="73152" marB="73152">
                    <a:solidFill>
                      <a:srgbClr val="F7F6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10 / 10 Passed in 43.32s; Zero fatal browser console exceptions</a:t>
                      </a:r>
                    </a:p>
                  </a:txBody>
                  <a:tcPr marL="73152" marR="73152" marT="73152" marB="73152">
                    <a:solidFill>
                      <a:srgbClr val="F7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2376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API Smoke &amp; Contract Tests</a:t>
                      </a:r>
                    </a:p>
                  </a:txBody>
                  <a:tcPr marL="73152" marR="73152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11 Endpoints (FastAPI)</a:t>
                      </a:r>
                    </a:p>
                  </a:txBody>
                  <a:tcPr marL="73152" marR="73152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Health, overview, dataset (Tomato=743), schema, OLAP SQL, clustering, rules, analyze, predict</a:t>
                      </a:r>
                    </a:p>
                  </a:txBody>
                  <a:tcPr marL="73152" marR="73152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11 / 11 Live Endpoints 200 OK; Zero HTTP 500 exceptions</a:t>
                      </a:r>
                    </a:p>
                  </a:txBody>
                  <a:tcPr marL="73152" marR="73152" marT="73152" marB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2376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Production Build Compilation</a:t>
                      </a:r>
                    </a:p>
                  </a:txBody>
                  <a:tcPr marL="73152" marR="73152" marT="73152" marB="73152">
                    <a:solidFill>
                      <a:srgbClr val="F7F6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Vite + TypeScript</a:t>
                      </a:r>
                    </a:p>
                  </a:txBody>
                  <a:tcPr marL="73152" marR="73152" marT="73152" marB="73152">
                    <a:solidFill>
                      <a:srgbClr val="F7F6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Full production bundle compilation (tsc -b &amp;&amp; vite build) of 1,923 modules</a:t>
                      </a:r>
                    </a:p>
                  </a:txBody>
                  <a:tcPr marL="73152" marR="73152" marT="73152" marB="73152">
                    <a:solidFill>
                      <a:srgbClr val="F7F6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C1C1C"/>
                          </a:solidFill>
                          <a:latin typeface="Book Antiqua"/>
                        </a:defRPr>
                      </a:pPr>
                      <a:r>
                        <a:t>Built in 267ms (0 errors); Assets: CSS (39.9 kB), JS (379.4 kB)</a:t>
                      </a:r>
                    </a:p>
                  </a:txBody>
                  <a:tcPr marL="73152" marR="73152" marT="73152" marB="73152">
                    <a:solidFill>
                      <a:srgbClr val="F7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47472"/>
            <a:ext cx="1072591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2D6A4F"/>
                </a:solidFill>
                <a:latin typeface="Book Antiqua"/>
              </a:defRPr>
            </a:pPr>
            <a:r>
              <a:t>CSI3010: DATA WAREHOUSING &amp; DATA MINING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75D44"/>
                </a:solidFill>
                <a:latin typeface="Book Antiqua"/>
              </a:defRPr>
            </a:pPr>
            <a:r>
              <a:t>Conclusion, Limitations &amp; Viva Demonstration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73952"/>
            <a:ext cx="7772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B7280"/>
                </a:solidFill>
                <a:latin typeface="Book Antiqua"/>
              </a:defRPr>
            </a:pPr>
            <a:r>
              <a:t>AgroVision-Mine: Multimodal Data Warehouse &amp; Supervised Foliar Intelligence — Faculty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73952"/>
            <a:ext cx="1856231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2D6A4F"/>
                </a:solidFill>
                <a:latin typeface="Book Antiqua"/>
              </a:defRPr>
            </a:pPr>
            <a:r>
              <a:t>Slide 28 of 28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212080" cy="5029200"/>
          </a:xfrm>
          <a:prstGeom prst="roundRect">
            <a:avLst/>
          </a:prstGeom>
          <a:solidFill>
            <a:srgbClr val="F7F6E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1472184"/>
            <a:ext cx="4700016" cy="45902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75D44"/>
                </a:solidFill>
                <a:latin typeface="Book Antiqua"/>
              </a:defRPr>
            </a:pPr>
            <a:r>
              <a:t>KNOWN SCIENTIFIC LIMITATIONS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Closed-World Taxonomic Scope: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The supervised model evaluates exactly 25 classes from 12 host crops. Images outside this boundary trigger the cross-modal domain rejection safeguard.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Flatbed Scanner vs Field Domain Shift: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The 36 ICAR rice images exhibit pure white scanner backgrounds, whereas PlantDoc field images have natural soil and leaf clutter.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Non-Diagnostic Similarity Metric: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Nearest references in 32D space represent geometric descriptor proximity, not biological infection confirmation.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Laboratory vs Field Environment: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Evaluated on open benchmark test sets; does not guarantee performance across arbitrary farmer phone cameras or extreme weather conditions.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1234440"/>
            <a:ext cx="5212080" cy="5029200"/>
          </a:xfrm>
          <a:prstGeom prst="roundRect">
            <a:avLst/>
          </a:prstGeom>
          <a:solidFill>
            <a:srgbClr val="E0F2E8"/>
          </a:solidFill>
          <a:ln w="12700"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01384" y="1472184"/>
            <a:ext cx="4700016" cy="45902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75D44"/>
                </a:solidFill>
                <a:latin typeface="Book Antiqua"/>
              </a:defRPr>
            </a:pPr>
            <a:r>
              <a:t>FACULTY LIVE DEMONSTRATION ROADMAP (VIVA)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Step 1 — Overview &amp; KPIs (/#/):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Review 2,596 canonical specimens, 14 taxa, and star schema integration.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Step 2 — Dataset Explorer (/#/dataset):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Filter by Tomato (743 records), inspect grid/table, and open specimen detail modal.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Step 3 — Specimen Analysis (/#/image-analysis):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Upload Apple Healthy (97.6% confidence), then upload Rice to demonstrate the cross-modal out-of-domain rejection alert.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Step 4 — Star Schema &amp; OLAP (/#/olap):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Execute live parameterized Roll-up and Pivot queries in SQLite.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Step 5 — Visual Mining &amp; PCA (/#/mining):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Inspect K=2 metric-supported clusters and 2D PCA variance loadings.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C1C1C"/>
                </a:solidFill>
                <a:latin typeface="Book Antiqua"/>
              </a:rPr>
              <a:t>•  Step 6 — Association Rules (/#/rules): </a:t>
            </a:r>
            <a:r>
              <a:rPr sz="1100" b="0">
                <a:solidFill>
                  <a:srgbClr val="1C1C1C"/>
                </a:solidFill>
                <a:latin typeface="Book Antiqua"/>
              </a:rPr>
              <a:t>Toggle Mode A (880 visual rules) vs Mode B (285 labeled rules), demonstrating exact Apriori/FP-Growth parity.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8043</Words>
  <Application>Microsoft Office PowerPoint</Application>
  <PresentationFormat>Widescreen</PresentationFormat>
  <Paragraphs>705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Arial</vt:lpstr>
      <vt:lpstr>Book Antiqua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AJAY M</cp:lastModifiedBy>
  <cp:revision>2</cp:revision>
  <dcterms:created xsi:type="dcterms:W3CDTF">2013-01-27T09:14:16Z</dcterms:created>
  <dcterms:modified xsi:type="dcterms:W3CDTF">2026-10-20T04:37:29Z</dcterms:modified>
  <cp:category/>
</cp:coreProperties>
</file>